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今天先简要介绍平台覆盖的工作，再进入现场操作。
演示以建立人才标准为主线，并看结果如何继续使用。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客户希望先有完整认识，再挑一项具体需求看如何操作。
PPT 讲业务关系，按钮和细节留到平台中展示。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人才标准、评鉴、发展、人才和系统设置组成一套工作环境。
这里不逐个讲菜单，只看哪些业务有承接。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从组织岗位开始，建立标准后再做能力评价和人才盘点。
结果回到人才档案、岗位地图和学习方案，不停在评估报告里。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标准可以独立维护，按岗位或人员条件确定适用范围。
能力指标会被评估与人才查看复用，具体内容由业务人员确认。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360 评估汇集不同评价关系的反馈。
宫格盘点结合能力与绩效，业务和 HR 可以校准结果并留下过程。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人才档案放在一起看岗位要求、能力与盘点结果。
岗位地图给出发展方向，学习方案关联课程、项目及前后测；课程内容今天不展开。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可以整理岗位材料，辅助形成标准草稿。
最终标准及适用范围由业务人员审核采用。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评鉴中心会增加 AI 创建评估问卷。
还会纳入更多内置人才测评产品与考试，让人才识别有更多依据。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人才池用于沉淀和跟踪重点人才。
人才看板提供组织视角，人才档案继续汇集个人结果与发展信息。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先建立标准，重点看内容和适用范围。
再看评鉴盘点结果，以及它们如何进入人才档案和发展安排。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023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8961120" y="4023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人才发展平台介绍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389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平台思路与现场演示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875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从人才标准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走向人才发展</a:t>
            </a:r>
            <a:endParaRPr lang="zh-CN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先看完整业务链，再进入平台，沿一个具体场景走一遍。</a:t>
            </a:r>
            <a:endParaRPr lang="zh-CN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843016"/>
            <a:ext cx="1074420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0716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 / 评鉴 / 盘点 / 发展</a:t>
            </a:r>
            <a:endParaRPr lang="zh-CN" sz="950" dirty="0"/>
          </a:p>
        </p:txBody>
      </p:sp>
      <p:sp>
        <p:nvSpPr>
          <p:cNvPr id="9" name="Text 7"/>
          <p:cNvSpPr/>
          <p:nvPr/>
        </p:nvSpPr>
        <p:spPr>
          <a:xfrm>
            <a:off x="10488168" y="607161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2026.09</a:t>
            </a:r>
            <a:endParaRPr lang="zh-CN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介绍顺序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这次先回答一个整体问题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先看全局，再走一遍具体流程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267712"/>
            <a:ext cx="506577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82512" y="2267712"/>
            <a:ext cx="5074920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4000" dirty="0"/>
          </a:p>
        </p:txBody>
      </p:sp>
      <p:sp>
        <p:nvSpPr>
          <p:cNvPr id="9" name="Text 7"/>
          <p:cNvSpPr/>
          <p:nvPr/>
        </p:nvSpPr>
        <p:spPr>
          <a:xfrm>
            <a:off x="6382512" y="2514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5010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平台覆盖哪些工作</a:t>
            </a:r>
            <a:endParaRPr lang="zh-CN" sz="2400" dirty="0"/>
          </a:p>
        </p:txBody>
      </p:sp>
      <p:sp>
        <p:nvSpPr>
          <p:cNvPr id="11" name="Text 9"/>
          <p:cNvSpPr/>
          <p:nvPr/>
        </p:nvSpPr>
        <p:spPr>
          <a:xfrm>
            <a:off x="6382512" y="333756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一项工作怎样落地</a:t>
            </a:r>
            <a:endParaRPr lang="zh-CN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4901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组织与岗位、人才标准、评鉴盘点、发展安排和人才查看，如何围绕同一批岗位与人员衔接。</a:t>
            </a:r>
            <a:endParaRPr lang="zh-CN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4069080"/>
            <a:ext cx="4901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现场重点看人才标准的建立和使用，再看评鉴、盘点结果怎样回到人才与发展。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先全景 · 后操作</a:t>
            </a:r>
            <a:endParaRPr lang="zh-CN" sz="950" dirty="0"/>
          </a:p>
        </p:txBody>
      </p:sp>
      <p:sp>
        <p:nvSpPr>
          <p:cNvPr id="15" name="Text 13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11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平台全景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一个平台，五个工作域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人才发展平台覆盖哪些工作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185416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408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600" dirty="0"/>
          </a:p>
        </p:txBody>
      </p:sp>
      <p:sp>
        <p:nvSpPr>
          <p:cNvPr id="8" name="Text 6"/>
          <p:cNvSpPr/>
          <p:nvPr/>
        </p:nvSpPr>
        <p:spPr>
          <a:xfrm>
            <a:off x="1581912" y="2295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人才标准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4572000" y="23042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组织结构、关键岗位分析、人才标准、指标库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358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1581912" y="29900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评鉴中心</a:t>
            </a:r>
            <a:endParaRPr lang="zh-CN" sz="2100" dirty="0"/>
          </a:p>
        </p:txBody>
      </p:sp>
      <p:sp>
        <p:nvSpPr>
          <p:cNvPr id="13" name="Text 11"/>
          <p:cNvSpPr/>
          <p:nvPr/>
        </p:nvSpPr>
        <p:spPr>
          <a:xfrm>
            <a:off x="4572000" y="2999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360 评估与宫格盘点</a:t>
            </a:r>
            <a:endParaRPr lang="zh-CN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30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1581912" y="3685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发展中心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4572000" y="36941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岗位地图、按岗位配置学习方案</a:t>
            </a:r>
            <a:endParaRPr lang="zh-CN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270248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1581912" y="43799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人才中心</a:t>
            </a:r>
            <a:endParaRPr lang="zh-CN" sz="2100" dirty="0"/>
          </a:p>
        </p:txBody>
      </p:sp>
      <p:sp>
        <p:nvSpPr>
          <p:cNvPr id="21" name="Text 19"/>
          <p:cNvSpPr/>
          <p:nvPr/>
        </p:nvSpPr>
        <p:spPr>
          <a:xfrm>
            <a:off x="4572000" y="43891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人才列表、能力与盘点结果查看</a:t>
            </a:r>
            <a:endParaRPr lang="zh-CN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965192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120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1581912" y="5074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系统设置</a:t>
            </a:r>
            <a:endParaRPr lang="zh-CN" sz="2100" dirty="0"/>
          </a:p>
        </p:txBody>
      </p:sp>
      <p:sp>
        <p:nvSpPr>
          <p:cNvPr id="25" name="Text 23"/>
          <p:cNvSpPr/>
          <p:nvPr/>
        </p:nvSpPr>
        <p:spPr>
          <a:xfrm>
            <a:off x="4572000" y="50840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职级与功能配置，支撑前面的业务流程</a:t>
            </a:r>
            <a:endParaRPr lang="zh-CN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660136"/>
            <a:ext cx="10735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五个工作域使用同一套岗位与人才基础</a:t>
            </a:r>
            <a:endParaRPr lang="zh-CN" sz="950" dirty="0"/>
          </a:p>
        </p:txBody>
      </p:sp>
      <p:sp>
        <p:nvSpPr>
          <p:cNvPr id="28" name="Text 26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11</a:t>
            </a:r>
            <a:endParaRPr lang="zh-CN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业务主线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前一步的结果，进入下一步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从岗位要求到人才发展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32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80944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看组织与岗位</a:t>
            </a:r>
            <a:endParaRPr lang="zh-CN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4728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确定范围，识别关键岗位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4407408" y="2377440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2532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4407408" y="2980944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建立人才标准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4407408" y="344728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明确职责、经历与能力要求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2377440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2532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8083296" y="2980944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开展 360 评估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8083296" y="344728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收集多方评价，形成能力结果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05656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61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开展宫格盘点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517550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结合绩效，讨论人才分布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4407408" y="4105656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4261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4407408" y="470916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查看人才差距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4407408" y="517550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对照岗位要求与实际能力</a:t>
            </a:r>
            <a:endParaRPr lang="zh-CN" sz="1300" dirty="0"/>
          </a:p>
        </p:txBody>
      </p:sp>
      <p:sp>
        <p:nvSpPr>
          <p:cNvPr id="26" name="Shape 24"/>
          <p:cNvSpPr/>
          <p:nvPr/>
        </p:nvSpPr>
        <p:spPr>
          <a:xfrm>
            <a:off x="8083296" y="4105656"/>
            <a:ext cx="3246120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4261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06</a:t>
            </a:r>
            <a:endParaRPr lang="zh-CN" sz="1600" dirty="0"/>
          </a:p>
        </p:txBody>
      </p:sp>
      <p:sp>
        <p:nvSpPr>
          <p:cNvPr id="28" name="Text 26"/>
          <p:cNvSpPr/>
          <p:nvPr/>
        </p:nvSpPr>
        <p:spPr>
          <a:xfrm>
            <a:off x="8083296" y="470916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安排后续发展</a:t>
            </a:r>
            <a:endParaRPr lang="zh-CN" sz="2000" dirty="0"/>
          </a:p>
        </p:txBody>
      </p:sp>
      <p:sp>
        <p:nvSpPr>
          <p:cNvPr id="29" name="Text 27"/>
          <p:cNvSpPr/>
          <p:nvPr/>
        </p:nvSpPr>
        <p:spPr>
          <a:xfrm>
            <a:off x="8083296" y="517550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通过岗位地图和学习方案承接</a:t>
            </a:r>
            <a:endParaRPr lang="zh-CN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 → 人才 → 发展</a:t>
            </a:r>
            <a:endParaRPr lang="zh-CN" sz="950" dirty="0"/>
          </a:p>
        </p:txBody>
      </p:sp>
      <p:sp>
        <p:nvSpPr>
          <p:cNvPr id="31" name="Text 29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11</a:t>
            </a:r>
            <a:endParaRPr lang="zh-CN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人才标准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把岗位需要什么样的人说清楚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标准是后续工作的共同依据</a:t>
            </a:r>
            <a:endParaRPr lang="zh-CN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38658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标准可以独立维护，再按岗位或人员条件确定适用范围。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4251960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7939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能力指标复用</a:t>
            </a:r>
            <a:endParaRPr lang="zh-CN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764024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同一套指标继续用于 360 评估和人才能力查看，减少各环节口径不一致。</a:t>
            </a:r>
            <a:endParaRPr lang="zh-CN" sz="1400" dirty="0"/>
          </a:p>
        </p:txBody>
      </p:sp>
      <p:sp>
        <p:nvSpPr>
          <p:cNvPr id="10" name="Shape 8"/>
          <p:cNvSpPr/>
          <p:nvPr/>
        </p:nvSpPr>
        <p:spPr>
          <a:xfrm>
            <a:off x="5522976" y="2148840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2976" y="229514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职责任务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8238744" y="22585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岗位要完成什么</a:t>
            </a:r>
            <a:endParaRPr lang="zh-CN" sz="1270" dirty="0"/>
          </a:p>
        </p:txBody>
      </p:sp>
      <p:sp>
        <p:nvSpPr>
          <p:cNvPr id="14" name="Shape 12"/>
          <p:cNvSpPr/>
          <p:nvPr/>
        </p:nvSpPr>
        <p:spPr>
          <a:xfrm>
            <a:off x="5522976" y="2862072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300837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400" dirty="0"/>
          </a:p>
        </p:txBody>
      </p:sp>
      <p:sp>
        <p:nvSpPr>
          <p:cNvPr id="16" name="Text 14"/>
          <p:cNvSpPr/>
          <p:nvPr/>
        </p:nvSpPr>
        <p:spPr>
          <a:xfrm>
            <a:off x="6153912" y="2953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经历经验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8238744" y="297180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需要哪些相关经历</a:t>
            </a:r>
            <a:endParaRPr lang="zh-CN" sz="1270" dirty="0"/>
          </a:p>
        </p:txBody>
      </p:sp>
      <p:sp>
        <p:nvSpPr>
          <p:cNvPr id="18" name="Shape 16"/>
          <p:cNvSpPr/>
          <p:nvPr/>
        </p:nvSpPr>
        <p:spPr>
          <a:xfrm>
            <a:off x="5522976" y="3575304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372160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400" dirty="0"/>
          </a:p>
        </p:txBody>
      </p:sp>
      <p:sp>
        <p:nvSpPr>
          <p:cNvPr id="20" name="Text 18"/>
          <p:cNvSpPr/>
          <p:nvPr/>
        </p:nvSpPr>
        <p:spPr>
          <a:xfrm>
            <a:off x="6153912" y="3666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能力要求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8238744" y="368503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具备哪些能力、达到什么等级</a:t>
            </a:r>
            <a:endParaRPr lang="zh-CN" sz="1270" dirty="0"/>
          </a:p>
        </p:txBody>
      </p:sp>
      <p:sp>
        <p:nvSpPr>
          <p:cNvPr id="22" name="Shape 20"/>
          <p:cNvSpPr/>
          <p:nvPr/>
        </p:nvSpPr>
        <p:spPr>
          <a:xfrm>
            <a:off x="5522976" y="4288536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443484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6153912" y="4379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动力要求</a:t>
            </a:r>
            <a:endParaRPr lang="zh-CN" sz="1800" dirty="0"/>
          </a:p>
        </p:txBody>
      </p:sp>
      <p:sp>
        <p:nvSpPr>
          <p:cNvPr id="25" name="Text 23"/>
          <p:cNvSpPr/>
          <p:nvPr/>
        </p:nvSpPr>
        <p:spPr>
          <a:xfrm>
            <a:off x="8238744" y="439826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行为意愿与驱动因素</a:t>
            </a:r>
            <a:endParaRPr lang="zh-CN" sz="1270" dirty="0"/>
          </a:p>
        </p:txBody>
      </p:sp>
      <p:sp>
        <p:nvSpPr>
          <p:cNvPr id="26" name="Shape 24"/>
          <p:cNvSpPr/>
          <p:nvPr/>
        </p:nvSpPr>
        <p:spPr>
          <a:xfrm>
            <a:off x="5522976" y="5001768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514807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zh-CN" sz="1400" dirty="0"/>
          </a:p>
        </p:txBody>
      </p:sp>
      <p:sp>
        <p:nvSpPr>
          <p:cNvPr id="28" name="Text 26"/>
          <p:cNvSpPr/>
          <p:nvPr/>
        </p:nvSpPr>
        <p:spPr>
          <a:xfrm>
            <a:off x="6153912" y="5093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潜力要求</a:t>
            </a:r>
            <a:endParaRPr lang="zh-CN" sz="1800" dirty="0"/>
          </a:p>
        </p:txBody>
      </p:sp>
      <p:sp>
        <p:nvSpPr>
          <p:cNvPr id="29" name="Text 27"/>
          <p:cNvSpPr/>
          <p:nvPr/>
        </p:nvSpPr>
        <p:spPr>
          <a:xfrm>
            <a:off x="8238744" y="511149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未来发展所需特质</a:t>
            </a:r>
            <a:endParaRPr lang="zh-CN" sz="1270" dirty="0"/>
          </a:p>
        </p:txBody>
      </p:sp>
      <p:sp>
        <p:nvSpPr>
          <p:cNvPr id="30" name="Shape 28"/>
          <p:cNvSpPr/>
          <p:nvPr/>
        </p:nvSpPr>
        <p:spPr>
          <a:xfrm>
            <a:off x="5522976" y="5715000"/>
            <a:ext cx="59344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标准内容与适用范围由业务人员确认</a:t>
            </a:r>
            <a:endParaRPr lang="zh-CN" sz="950" dirty="0"/>
          </a:p>
        </p:txBody>
      </p:sp>
      <p:sp>
        <p:nvSpPr>
          <p:cNvPr id="32" name="Text 30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11</a:t>
            </a:r>
            <a:endParaRPr lang="zh-CN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评鉴与盘点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先看个人，再看组织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评估与盘点，回答两个不同的问题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497433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2377440"/>
            <a:ext cx="4956048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51176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2900" dirty="0"/>
          </a:p>
        </p:txBody>
      </p:sp>
      <p:sp>
        <p:nvSpPr>
          <p:cNvPr id="9" name="Text 7"/>
          <p:cNvSpPr/>
          <p:nvPr/>
        </p:nvSpPr>
        <p:spPr>
          <a:xfrm>
            <a:off x="6492240" y="2551176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3209544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360 评估</a:t>
            </a:r>
            <a:endParaRPr lang="zh-CN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3209544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宫格盘点</a:t>
            </a:r>
            <a:endParaRPr lang="zh-CN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这个人具备哪些能力？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886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这批人才处于什么位置？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4800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自评、上级、同级、下级等评价关系提供多来源反馈；项目结束后查看综合结果和能力表现。</a:t>
            </a:r>
            <a:endParaRPr lang="zh-CN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489704"/>
            <a:ext cx="4800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结合能力与绩效查看分布和人员明细；初始落位可以经业务与 HR 校准，并保留调整过程。</a:t>
            </a:r>
            <a:endParaRPr lang="zh-CN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评鉴结果进入人才查看与发展讨论</a:t>
            </a:r>
            <a:endParaRPr lang="zh-CN" sz="950" dirty="0"/>
          </a:p>
        </p:txBody>
      </p:sp>
      <p:sp>
        <p:nvSpPr>
          <p:cNvPr id="17" name="Text 15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11</a:t>
            </a:r>
            <a:endParaRPr lang="zh-CN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结果应用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评鉴完成之后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结果回到人，也回到岗位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441448"/>
            <a:ext cx="3246120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883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3282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人才档案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731520" y="4105656"/>
            <a:ext cx="3264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把岗位标准要求、实际能力和最近一次盘点结果放在一起看。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4398264" y="2441448"/>
            <a:ext cx="3246120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26883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4398264" y="3273552"/>
            <a:ext cx="3282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岗位地图</a:t>
            </a:r>
            <a:endParaRPr lang="zh-CN" sz="2300" dirty="0"/>
          </a:p>
        </p:txBody>
      </p:sp>
      <p:sp>
        <p:nvSpPr>
          <p:cNvPr id="13" name="Text 11"/>
          <p:cNvSpPr/>
          <p:nvPr/>
        </p:nvSpPr>
        <p:spPr>
          <a:xfrm>
            <a:off x="4398264" y="4105656"/>
            <a:ext cx="3264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查看岗位序列与发展方向，明确下一步可能走向哪里。</a:t>
            </a:r>
            <a:endParaRPr lang="zh-CN" sz="1500" dirty="0"/>
          </a:p>
        </p:txBody>
      </p:sp>
      <p:sp>
        <p:nvSpPr>
          <p:cNvPr id="14" name="Shape 12"/>
          <p:cNvSpPr/>
          <p:nvPr/>
        </p:nvSpPr>
        <p:spPr>
          <a:xfrm>
            <a:off x="8065008" y="2441448"/>
            <a:ext cx="3246120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6883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8065008" y="3273552"/>
            <a:ext cx="3282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学习方案</a:t>
            </a:r>
            <a:endParaRPr lang="zh-CN" sz="2300" dirty="0"/>
          </a:p>
        </p:txBody>
      </p:sp>
      <p:sp>
        <p:nvSpPr>
          <p:cNvPr id="17" name="Text 15"/>
          <p:cNvSpPr/>
          <p:nvPr/>
        </p:nvSpPr>
        <p:spPr>
          <a:xfrm>
            <a:off x="8065008" y="4105656"/>
            <a:ext cx="3264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围绕岗位能力关联课程、培训项目与前后测；具体学习执行由培训平台承接。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先识别差距，再安排发展</a:t>
            </a:r>
            <a:endParaRPr lang="zh-CN" sz="950" dirty="0"/>
          </a:p>
        </p:txBody>
      </p:sp>
      <p:sp>
        <p:nvSpPr>
          <p:cNvPr id="19" name="Text 17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11</a:t>
            </a:r>
            <a:endParaRPr lang="zh-CN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持续深化 · 人才标准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让建标更省力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人才标准支持 AI 帮建与整理</a:t>
            </a:r>
            <a:endParaRPr lang="zh-CN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把岗位资料和业务描述整理成可审阅的标准草稿，减少从空白文档开始的工作量。</a:t>
            </a:r>
            <a:endParaRPr lang="zh-CN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4279392"/>
            <a:ext cx="4681728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97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人的判断仍在最后一步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503834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8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职责、能力要求和适用范围由业务人员核对、修改后采用。</a:t>
            </a:r>
            <a:endParaRPr lang="zh-CN" sz="1380" dirty="0"/>
          </a:p>
        </p:txBody>
      </p:sp>
      <p:sp>
        <p:nvSpPr>
          <p:cNvPr id="10" name="Shape 8"/>
          <p:cNvSpPr/>
          <p:nvPr/>
        </p:nvSpPr>
        <p:spPr>
          <a:xfrm>
            <a:off x="6428232" y="2267712"/>
            <a:ext cx="5020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4323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7123176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输入资料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8915400" y="24231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8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岗位说明、业务要求等材料</a:t>
            </a:r>
            <a:endParaRPr lang="zh-CN" sz="1280" dirty="0"/>
          </a:p>
        </p:txBody>
      </p:sp>
      <p:sp>
        <p:nvSpPr>
          <p:cNvPr id="14" name="Shape 12"/>
          <p:cNvSpPr/>
          <p:nvPr/>
        </p:nvSpPr>
        <p:spPr>
          <a:xfrm>
            <a:off x="6428232" y="3429000"/>
            <a:ext cx="5020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5935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7123176" y="3557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整理内容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8915400" y="35844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8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归纳职责、经历与能力条目</a:t>
            </a:r>
            <a:endParaRPr lang="zh-CN" sz="1280" dirty="0"/>
          </a:p>
        </p:txBody>
      </p:sp>
      <p:sp>
        <p:nvSpPr>
          <p:cNvPr id="18" name="Shape 16"/>
          <p:cNvSpPr/>
          <p:nvPr/>
        </p:nvSpPr>
        <p:spPr>
          <a:xfrm>
            <a:off x="6428232" y="4590288"/>
            <a:ext cx="5020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475488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7123176" y="4718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审核采用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474573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8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形成可维护的人才标准</a:t>
            </a:r>
            <a:endParaRPr lang="zh-CN" sz="1280" dirty="0"/>
          </a:p>
        </p:txBody>
      </p:sp>
      <p:sp>
        <p:nvSpPr>
          <p:cNvPr id="22" name="Shape 20"/>
          <p:cNvSpPr/>
          <p:nvPr/>
        </p:nvSpPr>
        <p:spPr>
          <a:xfrm>
            <a:off x="6428232" y="5751576"/>
            <a:ext cx="5020056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能力落在建标工作中</a:t>
            </a:r>
            <a:endParaRPr lang="zh-CN" sz="950" dirty="0"/>
          </a:p>
        </p:txBody>
      </p:sp>
      <p:sp>
        <p:nvSpPr>
          <p:cNvPr id="24" name="Text 22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11</a:t>
            </a:r>
            <a:endParaRPr lang="zh-CN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持续深化 · 评鉴中心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不只依靠一种评鉴方式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评鉴手段继续丰富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487168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523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30098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AI 创建评估问卷</a:t>
            </a:r>
            <a:endParaRPr lang="zh-CN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261104"/>
            <a:ext cx="3227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围绕能力指标辅助生成题目，交由管理员审阅后使用。</a:t>
            </a:r>
            <a:endParaRPr lang="zh-CN" sz="1400" dirty="0"/>
          </a:p>
        </p:txBody>
      </p:sp>
      <p:sp>
        <p:nvSpPr>
          <p:cNvPr id="10" name="Shape 8"/>
          <p:cNvSpPr/>
          <p:nvPr/>
        </p:nvSpPr>
        <p:spPr>
          <a:xfrm>
            <a:off x="4398264" y="2487168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27523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4398264" y="330098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内置人才测评产品</a:t>
            </a:r>
            <a:endParaRPr lang="zh-CN" sz="2200" dirty="0"/>
          </a:p>
        </p:txBody>
      </p:sp>
      <p:sp>
        <p:nvSpPr>
          <p:cNvPr id="13" name="Text 11"/>
          <p:cNvSpPr/>
          <p:nvPr/>
        </p:nvSpPr>
        <p:spPr>
          <a:xfrm>
            <a:off x="4398264" y="4261104"/>
            <a:ext cx="3227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补充动力、潜力等维度的测评工具，让人才识别有更多依据。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487168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7523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8065008" y="330098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考试</a:t>
            </a:r>
            <a:endParaRPr lang="zh-CN" sz="2200" dirty="0"/>
          </a:p>
        </p:txBody>
      </p:sp>
      <p:sp>
        <p:nvSpPr>
          <p:cNvPr id="17" name="Text 15"/>
          <p:cNvSpPr/>
          <p:nvPr/>
        </p:nvSpPr>
        <p:spPr>
          <a:xfrm>
            <a:off x="8065008" y="4261104"/>
            <a:ext cx="3227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增加知识与技能检验，并让有效结果进入人才评鉴与发展过程。</a:t>
            </a:r>
            <a:endParaRPr lang="zh-CN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评鉴方式增加，人才判断更有依据</a:t>
            </a:r>
            <a:endParaRPr lang="zh-CN" sz="950" dirty="0"/>
          </a:p>
        </p:txBody>
      </p:sp>
      <p:sp>
        <p:nvSpPr>
          <p:cNvPr id="19" name="Text 17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11</a:t>
            </a:r>
            <a:endParaRPr lang="zh-CN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持续深化 · 人才中心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从个人查看走向组织人才经营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人才结果还要方便持续使用</a:t>
            </a:r>
            <a:endParaRPr lang="zh-CN" sz="3300" dirty="0"/>
          </a:p>
        </p:txBody>
      </p:sp>
      <p:sp>
        <p:nvSpPr>
          <p:cNvPr id="6" name="Shape 4"/>
          <p:cNvSpPr/>
          <p:nvPr/>
        </p:nvSpPr>
        <p:spPr>
          <a:xfrm>
            <a:off x="731520" y="2304288"/>
            <a:ext cx="10725912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420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600" dirty="0"/>
          </a:p>
        </p:txBody>
      </p:sp>
      <p:sp>
        <p:nvSpPr>
          <p:cNvPr id="8" name="Text 6"/>
          <p:cNvSpPr/>
          <p:nvPr/>
        </p:nvSpPr>
        <p:spPr>
          <a:xfrm>
            <a:off x="1673352" y="245059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人才池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4901184" y="2487168"/>
            <a:ext cx="647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跨项目沉淀重点人才，支持持续跟踪与培养</a:t>
            </a:r>
            <a:endParaRPr lang="zh-CN" sz="147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10725912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7472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1673352" y="338328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人才看板</a:t>
            </a:r>
            <a:endParaRPr lang="zh-CN" sz="2300" dirty="0"/>
          </a:p>
        </p:txBody>
      </p:sp>
      <p:sp>
        <p:nvSpPr>
          <p:cNvPr id="13" name="Text 11"/>
          <p:cNvSpPr/>
          <p:nvPr/>
        </p:nvSpPr>
        <p:spPr>
          <a:xfrm>
            <a:off x="4901184" y="3419856"/>
            <a:ext cx="647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从组织视角查看人才分布、结构和变化</a:t>
            </a:r>
            <a:endParaRPr lang="zh-CN" sz="1470" dirty="0"/>
          </a:p>
        </p:txBody>
      </p:sp>
      <p:sp>
        <p:nvSpPr>
          <p:cNvPr id="14" name="Shape 12"/>
          <p:cNvSpPr/>
          <p:nvPr/>
        </p:nvSpPr>
        <p:spPr>
          <a:xfrm>
            <a:off x="731520" y="4169664"/>
            <a:ext cx="10725912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0740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517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1673352" y="431596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人才档案</a:t>
            </a:r>
            <a:endParaRPr lang="zh-CN" sz="2300" dirty="0"/>
          </a:p>
        </p:txBody>
      </p:sp>
      <p:sp>
        <p:nvSpPr>
          <p:cNvPr id="17" name="Text 15"/>
          <p:cNvSpPr/>
          <p:nvPr/>
        </p:nvSpPr>
        <p:spPr>
          <a:xfrm>
            <a:off x="4901184" y="4352544"/>
            <a:ext cx="647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7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继续汇集标准、评鉴、盘点与发展信息，形成连续记录</a:t>
            </a:r>
            <a:endParaRPr lang="zh-CN" sz="1470" dirty="0"/>
          </a:p>
        </p:txBody>
      </p:sp>
      <p:sp>
        <p:nvSpPr>
          <p:cNvPr id="18" name="Shape 16"/>
          <p:cNvSpPr/>
          <p:nvPr/>
        </p:nvSpPr>
        <p:spPr>
          <a:xfrm>
            <a:off x="731520" y="5102352"/>
            <a:ext cx="10725912" cy="0"/>
          </a:xfrm>
          <a:prstGeom prst="line">
            <a:avLst/>
          </a:prstGeom>
          <a:noFill/>
          <a:ln w="8255">
            <a:solidFill>
              <a:srgbClr val="B8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720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一次评估或盘点结束后，结果仍能被找到、被比较、被用于下一次发展讨论。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人才标准 → 评鉴 → 人才结果</a:t>
            </a:r>
            <a:endParaRPr lang="zh-CN" sz="950" dirty="0"/>
          </a:p>
        </p:txBody>
      </p:sp>
      <p:sp>
        <p:nvSpPr>
          <p:cNvPr id="21" name="Text 19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3551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/ 11</a:t>
            </a:r>
            <a:endParaRPr lang="zh-CN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进入平台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8356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/ 11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接下来用 10–15 分钟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6070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5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现场建立一套标准，</a:t>
            </a:r>
            <a:endParaRPr lang="zh-CN" sz="4500" dirty="0"/>
          </a:p>
          <a:p>
            <a:pPr algn="l" indent="0" marL="0">
              <a:buNone/>
            </a:pPr>
            <a:r>
              <a:rPr lang="zh-CN" altLang="en-US" sz="45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再看结果怎样使用</a:t>
            </a:r>
            <a:endParaRPr lang="zh-CN" sz="4500" dirty="0"/>
          </a:p>
        </p:txBody>
      </p:sp>
      <p:sp>
        <p:nvSpPr>
          <p:cNvPr id="6" name="Shape 4"/>
          <p:cNvSpPr/>
          <p:nvPr/>
        </p:nvSpPr>
        <p:spPr>
          <a:xfrm>
            <a:off x="731520" y="4599432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45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zh-CN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0657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建立人才标准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556869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内容与适用范围</a:t>
            </a:r>
            <a:endParaRPr lang="zh-CN" sz="1180" dirty="0"/>
          </a:p>
        </p:txBody>
      </p:sp>
      <p:sp>
        <p:nvSpPr>
          <p:cNvPr id="10" name="Shape 8"/>
          <p:cNvSpPr/>
          <p:nvPr/>
        </p:nvSpPr>
        <p:spPr>
          <a:xfrm>
            <a:off x="4398264" y="4599432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4745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4398264" y="50657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查看评鉴盘点</a:t>
            </a:r>
            <a:endParaRPr lang="zh-CN" sz="1900" dirty="0"/>
          </a:p>
        </p:txBody>
      </p:sp>
      <p:sp>
        <p:nvSpPr>
          <p:cNvPr id="13" name="Text 11"/>
          <p:cNvSpPr/>
          <p:nvPr/>
        </p:nvSpPr>
        <p:spPr>
          <a:xfrm>
            <a:off x="4398264" y="556869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能力结果与人员落位</a:t>
            </a:r>
            <a:endParaRPr lang="zh-CN" sz="1180" dirty="0"/>
          </a:p>
        </p:txBody>
      </p:sp>
      <p:sp>
        <p:nvSpPr>
          <p:cNvPr id="14" name="Shape 12"/>
          <p:cNvSpPr/>
          <p:nvPr/>
        </p:nvSpPr>
        <p:spPr>
          <a:xfrm>
            <a:off x="8065008" y="4599432"/>
            <a:ext cx="3264408" cy="0"/>
          </a:xfrm>
          <a:prstGeom prst="line">
            <a:avLst/>
          </a:prstGeom>
          <a:noFill/>
          <a:ln w="8255">
            <a:solidFill>
              <a:srgbClr val="85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4745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DCEA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8065008" y="50657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回到人才发展</a:t>
            </a:r>
            <a:endParaRPr lang="zh-CN" sz="1900" dirty="0"/>
          </a:p>
        </p:txBody>
      </p:sp>
      <p:sp>
        <p:nvSpPr>
          <p:cNvPr id="17" name="Text 15"/>
          <p:cNvSpPr/>
          <p:nvPr/>
        </p:nvSpPr>
        <p:spPr>
          <a:xfrm>
            <a:off x="8065008" y="556869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F0F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人才档案、岗位地图与学习方案</a:t>
            </a:r>
            <a:endParaRPr lang="zh-CN" sz="1180" dirty="0"/>
          </a:p>
        </p:txBody>
      </p:sp>
      <p:sp>
        <p:nvSpPr>
          <p:cNvPr id="18" name="Text 16"/>
          <p:cNvSpPr/>
          <p:nvPr/>
        </p:nvSpPr>
        <p:spPr>
          <a:xfrm>
            <a:off x="731520" y="63550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950" dirty="0"/>
          </a:p>
        </p:txBody>
      </p:sp>
      <p:sp>
        <p:nvSpPr>
          <p:cNvPr id="19" name="Text 17"/>
          <p:cNvSpPr/>
          <p:nvPr/>
        </p:nvSpPr>
        <p:spPr>
          <a:xfrm>
            <a:off x="10835640" y="6355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50" b="1" spc="70" kern="0" dirty="0">
                <a:solidFill>
                  <a:srgbClr val="DCEA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/ 11</a:t>
            </a:r>
            <a:endParaRPr lang="zh-CN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景旺电子人才发展平台介绍</dc:title>
  <dc:subject>景旺电子人才发展平台介绍</dc:subject>
  <dc:creator>时代光华</dc:creator>
  <cp:lastModifiedBy>时代光华</cp:lastModifiedBy>
  <cp:revision>1</cp:revision>
  <dcterms:created xsi:type="dcterms:W3CDTF">2026-09-28T03:58:57Z</dcterms:created>
  <dcterms:modified xsi:type="dcterms:W3CDTF">2026-09-28T03:58:57Z</dcterms:modified>
</cp:coreProperties>
</file>