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今天先用几分钟介绍设计思路，再进入平台演示。
从岗位标准出发，把组织、评鉴、盘点和发展串起来。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组织和岗位数据是基础；人才标准给后续环节同一把尺子。
评鉴盘点形成结果，发展中心安排方向，培训平台承接学习执行。
这是一条完整的业务链，不是单独一块培训功能。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景旺公开资料显示公司有多个生产基地，产品类型丰富。
我们不预设其内部问题，而是用三个问题组织今天的介绍。
看系统能否支持岗位优先级、人才差距和发展安排的判断。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组织和关键岗位分析帮助确定范围。
标准、360 评估和宫格盘点形成判断依据。
人才中心和发展中心把结果用于岗位发展与学习安排。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标准说明职责和任务，也说明经历、能力、动力和潜力要求。
标准独立维护，可关联岗位或按人员条件确定适用范围。
同一能力指标可被评估和人才查看复用，业务人员确认后再使用。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360 评估汇集多来源评价，帮助看见个人能力优势和待发展项。
宫格盘点把能力与绩效放在一个坐标里，用于讨论人才分布。
初始落位可人工校准并保留记录。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人才档案把岗位要求、实际能力和最近盘点结果放在一起。
岗位地图展示发展方向；学习方案围绕岗位能力配置资源。
具体课程和项目由培训平台执行。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嵌入组织与关键岗位分析、人才标准帮建和学习资源匹配等任务。
它提供建议或草稿；最终认定和采用由业务人员确认。
今天重点看业务链如何运作，后续场景继续迭代。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接下来按三段看：建标准、看评鉴盘点结果、看发展衔接。
请直接在平台里验证刚才讲的连接。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2794">
            <a:solidFill>
              <a:srgbClr val="5B7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4112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9056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1472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38944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6416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33888" y="109728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49056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96528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91472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38944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6416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33888" y="149961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54112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1584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49056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96528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0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1472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38944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86416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33888" y="190195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54112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01584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49056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96528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0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91472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38944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86416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33888" y="2304288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06640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01584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9056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96528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0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91472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38944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86416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33888" y="2706624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54112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01584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49056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96528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0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1472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38944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86416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33888" y="3108960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06640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49056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96528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44000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91472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38944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86416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33888" y="3511296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06640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54112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01584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449056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96528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00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91472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38944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86416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33888" y="3913632"/>
            <a:ext cx="22860" cy="22860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3504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850" dirty="0"/>
          </a:p>
        </p:txBody>
      </p:sp>
      <p:sp>
        <p:nvSpPr>
          <p:cNvPr id="95" name="Text 93"/>
          <p:cNvSpPr/>
          <p:nvPr/>
        </p:nvSpPr>
        <p:spPr>
          <a:xfrm>
            <a:off x="8595360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TALENT DEVELOPMENT · 01 / 09</a:t>
            </a:r>
            <a:endParaRPr lang="zh-CN" sz="850" dirty="0"/>
          </a:p>
        </p:txBody>
      </p:sp>
      <p:sp>
        <p:nvSpPr>
          <p:cNvPr id="96" name="Text 94"/>
          <p:cNvSpPr/>
          <p:nvPr/>
        </p:nvSpPr>
        <p:spPr>
          <a:xfrm>
            <a:off x="603504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人才发展系统 · 设计思路与平台演示</a:t>
            </a:r>
            <a:endParaRPr lang="zh-CN" sz="850" dirty="0"/>
          </a:p>
        </p:txBody>
      </p:sp>
      <p:sp>
        <p:nvSpPr>
          <p:cNvPr id="97" name="Text 95"/>
          <p:cNvSpPr/>
          <p:nvPr/>
        </p:nvSpPr>
        <p:spPr>
          <a:xfrm>
            <a:off x="603504" y="169164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从岗位标准出发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把人才发展接起来</a:t>
            </a:r>
            <a:endParaRPr lang="zh-CN" sz="4800" dirty="0"/>
          </a:p>
        </p:txBody>
      </p:sp>
      <p:sp>
        <p:nvSpPr>
          <p:cNvPr id="98" name="Shape 96"/>
          <p:cNvSpPr/>
          <p:nvPr/>
        </p:nvSpPr>
        <p:spPr>
          <a:xfrm>
            <a:off x="603504" y="5102352"/>
            <a:ext cx="109728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3504" y="53492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先看全景，再沿着一轮业务工作看系统如何落地。</a:t>
            </a:r>
            <a:endParaRPr lang="zh-CN" sz="1900" dirty="0"/>
          </a:p>
        </p:txBody>
      </p:sp>
      <p:sp>
        <p:nvSpPr>
          <p:cNvPr id="100" name="Text 98"/>
          <p:cNvSpPr/>
          <p:nvPr/>
        </p:nvSpPr>
        <p:spPr>
          <a:xfrm>
            <a:off x="603504" y="6080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组织与岗位 / 人才标准 / 评鉴盘点 / 培养发展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· 平台全景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从组织人事数据到培养执行，围绕同一批岗位与人才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一张业务全景，连接人才与学习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3504" y="2240280"/>
            <a:ext cx="1722120" cy="1600200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240280"/>
            <a:ext cx="1722120" cy="320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数据基础</a:t>
            </a:r>
            <a:endParaRPr lang="zh-CN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组织与岗位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2453640" y="2240280"/>
            <a:ext cx="1722120" cy="1600200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3640" y="2240280"/>
            <a:ext cx="1722120" cy="32004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9944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定尺子</a:t>
            </a:r>
            <a:endParaRPr lang="zh-CN" sz="850" dirty="0"/>
          </a:p>
        </p:txBody>
      </p:sp>
      <p:sp>
        <p:nvSpPr>
          <p:cNvPr id="13" name="Text 11"/>
          <p:cNvSpPr/>
          <p:nvPr/>
        </p:nvSpPr>
        <p:spPr>
          <a:xfrm>
            <a:off x="2599944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人才标准</a:t>
            </a:r>
            <a:endParaRPr lang="zh-CN" sz="1700" dirty="0"/>
          </a:p>
        </p:txBody>
      </p:sp>
      <p:sp>
        <p:nvSpPr>
          <p:cNvPr id="14" name="Shape 12"/>
          <p:cNvSpPr/>
          <p:nvPr/>
        </p:nvSpPr>
        <p:spPr>
          <a:xfrm>
            <a:off x="4303776" y="2240280"/>
            <a:ext cx="1722120" cy="1600200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3776" y="2240280"/>
            <a:ext cx="1722120" cy="320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0080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看现状</a:t>
            </a:r>
            <a:endParaRPr lang="zh-CN" sz="850" dirty="0"/>
          </a:p>
        </p:txBody>
      </p:sp>
      <p:sp>
        <p:nvSpPr>
          <p:cNvPr id="17" name="Text 15"/>
          <p:cNvSpPr/>
          <p:nvPr/>
        </p:nvSpPr>
        <p:spPr>
          <a:xfrm>
            <a:off x="4450080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评鉴盘点</a:t>
            </a:r>
            <a:endParaRPr lang="zh-CN" sz="1700" dirty="0"/>
          </a:p>
        </p:txBody>
      </p:sp>
      <p:sp>
        <p:nvSpPr>
          <p:cNvPr id="18" name="Shape 16"/>
          <p:cNvSpPr/>
          <p:nvPr/>
        </p:nvSpPr>
        <p:spPr>
          <a:xfrm>
            <a:off x="6153912" y="2240280"/>
            <a:ext cx="1722120" cy="1600200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3912" y="2240280"/>
            <a:ext cx="1722120" cy="320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定方向</a:t>
            </a:r>
            <a:endParaRPr lang="zh-CN" sz="850" dirty="0"/>
          </a:p>
        </p:txBody>
      </p:sp>
      <p:sp>
        <p:nvSpPr>
          <p:cNvPr id="21" name="Text 19"/>
          <p:cNvSpPr/>
          <p:nvPr/>
        </p:nvSpPr>
        <p:spPr>
          <a:xfrm>
            <a:off x="6300216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发展安排</a:t>
            </a:r>
            <a:endParaRPr lang="zh-CN" sz="1700" dirty="0"/>
          </a:p>
        </p:txBody>
      </p:sp>
      <p:sp>
        <p:nvSpPr>
          <p:cNvPr id="22" name="Shape 20"/>
          <p:cNvSpPr/>
          <p:nvPr/>
        </p:nvSpPr>
        <p:spPr>
          <a:xfrm>
            <a:off x="8004048" y="2240280"/>
            <a:ext cx="1722120" cy="1600200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4048" y="2240280"/>
            <a:ext cx="1722120" cy="320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0352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去执行</a:t>
            </a:r>
            <a:endParaRPr lang="zh-CN" sz="850" dirty="0"/>
          </a:p>
        </p:txBody>
      </p:sp>
      <p:sp>
        <p:nvSpPr>
          <p:cNvPr id="25" name="Text 23"/>
          <p:cNvSpPr/>
          <p:nvPr/>
        </p:nvSpPr>
        <p:spPr>
          <a:xfrm>
            <a:off x="8150352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培训学习</a:t>
            </a:r>
            <a:endParaRPr lang="zh-CN" sz="1700" dirty="0"/>
          </a:p>
        </p:txBody>
      </p:sp>
      <p:sp>
        <p:nvSpPr>
          <p:cNvPr id="26" name="Shape 24"/>
          <p:cNvSpPr/>
          <p:nvPr/>
        </p:nvSpPr>
        <p:spPr>
          <a:xfrm>
            <a:off x="9854184" y="2240280"/>
            <a:ext cx="1722120" cy="160020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0488" y="2423160"/>
            <a:ext cx="142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再使用</a:t>
            </a:r>
            <a:endParaRPr lang="zh-CN" sz="850" dirty="0"/>
          </a:p>
        </p:txBody>
      </p:sp>
      <p:sp>
        <p:nvSpPr>
          <p:cNvPr id="28" name="Text 26"/>
          <p:cNvSpPr/>
          <p:nvPr/>
        </p:nvSpPr>
        <p:spPr>
          <a:xfrm>
            <a:off x="10000488" y="3063240"/>
            <a:ext cx="142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结果反馈</a:t>
            </a:r>
            <a:endParaRPr lang="zh-CN" sz="1700" dirty="0"/>
          </a:p>
        </p:txBody>
      </p:sp>
      <p:sp>
        <p:nvSpPr>
          <p:cNvPr id="29" name="Shape 27"/>
          <p:cNvSpPr/>
          <p:nvPr/>
        </p:nvSpPr>
        <p:spPr>
          <a:xfrm>
            <a:off x="603504" y="4224528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4553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同一岗位基础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603504" y="50840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标准与发展通道相连</a:t>
            </a:r>
            <a:endParaRPr lang="zh-CN" sz="1300" dirty="0"/>
          </a:p>
        </p:txBody>
      </p:sp>
      <p:sp>
        <p:nvSpPr>
          <p:cNvPr id="32" name="Text 30"/>
          <p:cNvSpPr/>
          <p:nvPr/>
        </p:nvSpPr>
        <p:spPr>
          <a:xfrm>
            <a:off x="4325112" y="4553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同一人才结果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4325112" y="50840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评鉴、盘点与档案相连</a:t>
            </a:r>
            <a:endParaRPr lang="zh-CN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553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同一发展方向</a:t>
            </a:r>
            <a:endParaRPr lang="zh-CN" sz="1800" dirty="0"/>
          </a:p>
        </p:txBody>
      </p:sp>
      <p:sp>
        <p:nvSpPr>
          <p:cNvPr id="35" name="Text 33"/>
          <p:cNvSpPr/>
          <p:nvPr/>
        </p:nvSpPr>
        <p:spPr>
          <a:xfrm>
            <a:off x="8046720" y="50840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学习资源围绕差距配置</a:t>
            </a:r>
            <a:endParaRPr lang="zh-CN" sz="1300" dirty="0"/>
          </a:p>
        </p:txBody>
      </p:sp>
      <p:sp>
        <p:nvSpPr>
          <p:cNvPr id="36" name="Text 34"/>
          <p:cNvSpPr/>
          <p:nvPr/>
        </p:nvSpPr>
        <p:spPr>
          <a:xfrm>
            <a:off x="603504" y="617220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业务链路在一个平台内连续使用</a:t>
            </a:r>
            <a:endParaRPr lang="zh-CN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· 景旺场景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多基地制造企业的人才发展，从三个业务问题开始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先把要解决的问题说清楚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3504" y="2176272"/>
            <a:ext cx="3840480" cy="370332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87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从组织出发</a:t>
            </a:r>
            <a:endParaRPr lang="zh-CN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278892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400" dirty="0"/>
          </a:p>
        </p:txBody>
      </p:sp>
      <p:sp>
        <p:nvSpPr>
          <p:cNvPr id="9" name="Text 7"/>
          <p:cNvSpPr/>
          <p:nvPr/>
        </p:nvSpPr>
        <p:spPr>
          <a:xfrm>
            <a:off x="914400" y="5001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个问题，串起一轮人才工作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4645152" y="2176272"/>
            <a:ext cx="6940296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23865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5486400" y="234086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哪些岗位值得优先投入？</a:t>
            </a:r>
            <a:endParaRPr lang="zh-CN" sz="1900" dirty="0"/>
          </a:p>
        </p:txBody>
      </p:sp>
      <p:sp>
        <p:nvSpPr>
          <p:cNvPr id="13" name="Text 11"/>
          <p:cNvSpPr/>
          <p:nvPr/>
        </p:nvSpPr>
        <p:spPr>
          <a:xfrm>
            <a:off x="5486400" y="2871216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先看组织结构与关键岗位。</a:t>
            </a:r>
            <a:endParaRPr lang="zh-CN" sz="1150" dirty="0"/>
          </a:p>
        </p:txBody>
      </p:sp>
      <p:sp>
        <p:nvSpPr>
          <p:cNvPr id="14" name="Shape 12"/>
          <p:cNvSpPr/>
          <p:nvPr/>
        </p:nvSpPr>
        <p:spPr>
          <a:xfrm>
            <a:off x="4645152" y="3429000"/>
            <a:ext cx="6940296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3639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5486400" y="3593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现有人才与岗位要求差在哪里？</a:t>
            </a:r>
            <a:endParaRPr lang="zh-CN" sz="1900" dirty="0"/>
          </a:p>
        </p:txBody>
      </p:sp>
      <p:sp>
        <p:nvSpPr>
          <p:cNvPr id="17" name="Text 15"/>
          <p:cNvSpPr/>
          <p:nvPr/>
        </p:nvSpPr>
        <p:spPr>
          <a:xfrm>
            <a:off x="5486400" y="4123944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用统一标准连接评鉴与盘点。</a:t>
            </a:r>
            <a:endParaRPr lang="zh-CN" sz="1150" dirty="0"/>
          </a:p>
        </p:txBody>
      </p:sp>
      <p:sp>
        <p:nvSpPr>
          <p:cNvPr id="18" name="Shape 16"/>
          <p:cNvSpPr/>
          <p:nvPr/>
        </p:nvSpPr>
        <p:spPr>
          <a:xfrm>
            <a:off x="4645152" y="4681728"/>
            <a:ext cx="6940296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4892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5486400" y="484632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下一步怎样培养和发展？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5486400" y="537667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把岗位通道和学习方案接到结果上。</a:t>
            </a:r>
            <a:endParaRPr lang="zh-CN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· 一轮人才发展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从组织和岗位开始，最终落到人的发展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六步走完一条业务链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832104" y="3749040"/>
            <a:ext cx="10515600" cy="0"/>
          </a:xfrm>
          <a:prstGeom prst="line">
            <a:avLst/>
          </a:prstGeom>
          <a:noFill/>
          <a:ln w="16510">
            <a:solidFill>
              <a:srgbClr val="0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5336" y="3675888"/>
            <a:ext cx="146304" cy="1463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2743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定组织范围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1618488" y="3246120"/>
            <a:ext cx="0" cy="420624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3675888"/>
            <a:ext cx="146304" cy="1463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/>
          <p:nvPr/>
        </p:nvSpPr>
        <p:spPr>
          <a:xfrm>
            <a:off x="2432304" y="4599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建人才标准</a:t>
            </a:r>
            <a:endParaRPr lang="zh-CN" sz="1700" dirty="0"/>
          </a:p>
        </p:txBody>
      </p:sp>
      <p:sp>
        <p:nvSpPr>
          <p:cNvPr id="14" name="Shape 12"/>
          <p:cNvSpPr/>
          <p:nvPr/>
        </p:nvSpPr>
        <p:spPr>
          <a:xfrm>
            <a:off x="3447288" y="3822192"/>
            <a:ext cx="0" cy="356616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3675888"/>
            <a:ext cx="146304" cy="1463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7" name="Text 15"/>
          <p:cNvSpPr/>
          <p:nvPr/>
        </p:nvSpPr>
        <p:spPr>
          <a:xfrm>
            <a:off x="4261104" y="2743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做 360 评估</a:t>
            </a:r>
            <a:endParaRPr lang="zh-CN" sz="1700" dirty="0"/>
          </a:p>
        </p:txBody>
      </p:sp>
      <p:sp>
        <p:nvSpPr>
          <p:cNvPr id="18" name="Shape 16"/>
          <p:cNvSpPr/>
          <p:nvPr/>
        </p:nvSpPr>
        <p:spPr>
          <a:xfrm>
            <a:off x="5276088" y="3246120"/>
            <a:ext cx="0" cy="420624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31736" y="3675888"/>
            <a:ext cx="146304" cy="146304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1" name="Text 19"/>
          <p:cNvSpPr/>
          <p:nvPr/>
        </p:nvSpPr>
        <p:spPr>
          <a:xfrm>
            <a:off x="6089904" y="4599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做宫格盘点</a:t>
            </a:r>
            <a:endParaRPr lang="zh-CN" sz="1700" dirty="0"/>
          </a:p>
        </p:txBody>
      </p:sp>
      <p:sp>
        <p:nvSpPr>
          <p:cNvPr id="22" name="Shape 20"/>
          <p:cNvSpPr/>
          <p:nvPr/>
        </p:nvSpPr>
        <p:spPr>
          <a:xfrm>
            <a:off x="7104888" y="3822192"/>
            <a:ext cx="0" cy="356616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0536" y="3675888"/>
            <a:ext cx="146304" cy="1463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zh-CN" sz="850" dirty="0"/>
          </a:p>
        </p:txBody>
      </p:sp>
      <p:sp>
        <p:nvSpPr>
          <p:cNvPr id="25" name="Text 23"/>
          <p:cNvSpPr/>
          <p:nvPr/>
        </p:nvSpPr>
        <p:spPr>
          <a:xfrm>
            <a:off x="7918704" y="2743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看人员差距</a:t>
            </a:r>
            <a:endParaRPr lang="zh-CN" sz="1700" dirty="0"/>
          </a:p>
        </p:txBody>
      </p:sp>
      <p:sp>
        <p:nvSpPr>
          <p:cNvPr id="26" name="Shape 24"/>
          <p:cNvSpPr/>
          <p:nvPr/>
        </p:nvSpPr>
        <p:spPr>
          <a:xfrm>
            <a:off x="8933688" y="3246120"/>
            <a:ext cx="0" cy="420624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9336" y="3675888"/>
            <a:ext cx="146304" cy="146304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zh-CN" sz="850" dirty="0"/>
          </a:p>
        </p:txBody>
      </p:sp>
      <p:sp>
        <p:nvSpPr>
          <p:cNvPr id="29" name="Text 27"/>
          <p:cNvSpPr/>
          <p:nvPr/>
        </p:nvSpPr>
        <p:spPr>
          <a:xfrm>
            <a:off x="9747504" y="4599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安排岗位发展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10762488" y="3822192"/>
            <a:ext cx="0" cy="356616"/>
          </a:xfrm>
          <a:prstGeom prst="line">
            <a:avLst/>
          </a:prstGeom>
          <a:noFill/>
          <a:ln w="10160">
            <a:solidFill>
              <a:srgbClr val="D4D4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" y="5650992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587044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前一步的结果，成为下一步的依据。</a:t>
            </a:r>
            <a:endParaRPr lang="zh-CN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· 人才标准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先说清岗位要做什么、需要具备什么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标准，是评鉴与发展的共同语言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3504" y="2176272"/>
            <a:ext cx="3547872" cy="333756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176272"/>
            <a:ext cx="3547872" cy="411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· 任职</a:t>
            </a:r>
            <a:endParaRPr lang="zh-CN" sz="850" dirty="0"/>
          </a:p>
        </p:txBody>
      </p:sp>
      <p:sp>
        <p:nvSpPr>
          <p:cNvPr id="9" name="Text 7"/>
          <p:cNvSpPr/>
          <p:nvPr/>
        </p:nvSpPr>
        <p:spPr>
          <a:xfrm>
            <a:off x="841248" y="30815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职责与任务</a:t>
            </a:r>
            <a:endParaRPr lang="zh-CN" sz="2800" dirty="0"/>
          </a:p>
        </p:txBody>
      </p:sp>
      <p:sp>
        <p:nvSpPr>
          <p:cNvPr id="10" name="Text 8"/>
          <p:cNvSpPr/>
          <p:nvPr/>
        </p:nvSpPr>
        <p:spPr>
          <a:xfrm>
            <a:off x="841248" y="46817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这个岗位要完成什么。</a:t>
            </a:r>
            <a:endParaRPr lang="zh-CN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2176272"/>
            <a:ext cx="3547872" cy="333756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· 资格</a:t>
            </a:r>
            <a:endParaRPr lang="zh-CN" sz="850" dirty="0"/>
          </a:p>
        </p:txBody>
      </p:sp>
      <p:sp>
        <p:nvSpPr>
          <p:cNvPr id="13" name="Text 11"/>
          <p:cNvSpPr/>
          <p:nvPr/>
        </p:nvSpPr>
        <p:spPr>
          <a:xfrm>
            <a:off x="4562856" y="30815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经历与能力</a:t>
            </a:r>
            <a:endParaRPr lang="zh-CN" sz="2800" dirty="0"/>
          </a:p>
        </p:txBody>
      </p:sp>
      <p:sp>
        <p:nvSpPr>
          <p:cNvPr id="14" name="Text 12"/>
          <p:cNvSpPr/>
          <p:nvPr/>
        </p:nvSpPr>
        <p:spPr>
          <a:xfrm>
            <a:off x="4562856" y="46817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怎样判断能否胜任。</a:t>
            </a:r>
            <a:endParaRPr lang="zh-CN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176272"/>
            <a:ext cx="3547872" cy="333756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176272"/>
            <a:ext cx="3547872" cy="411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· 特质</a:t>
            </a:r>
            <a:endParaRPr lang="zh-CN" sz="850" dirty="0"/>
          </a:p>
        </p:txBody>
      </p:sp>
      <p:sp>
        <p:nvSpPr>
          <p:cNvPr id="18" name="Text 16"/>
          <p:cNvSpPr/>
          <p:nvPr/>
        </p:nvSpPr>
        <p:spPr>
          <a:xfrm>
            <a:off x="8284464" y="30815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动力与潜力</a:t>
            </a:r>
            <a:endParaRPr lang="zh-CN" sz="2800" dirty="0"/>
          </a:p>
        </p:txBody>
      </p:sp>
      <p:sp>
        <p:nvSpPr>
          <p:cNvPr id="19" name="Text 17"/>
          <p:cNvSpPr/>
          <p:nvPr/>
        </p:nvSpPr>
        <p:spPr>
          <a:xfrm>
            <a:off x="8284464" y="46817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为后续识别提供参考。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603504" y="5696712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58795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标准独立维护；能力指标可在评估和人才查看中复用。</a:t>
            </a:r>
            <a:endParaRPr lang="zh-CN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· 评鉴中心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从个人能力表现，走到组织人才分布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评鉴看表现，盘点看位置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99048" y="2194560"/>
            <a:ext cx="0" cy="322783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404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360 评估</a:t>
            </a:r>
            <a:endParaRPr lang="zh-CN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281635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一个人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具备哪些能力</a:t>
            </a:r>
            <a:endParaRPr lang="zh-CN" sz="2900" dirty="0"/>
          </a:p>
        </p:txBody>
      </p:sp>
      <p:sp>
        <p:nvSpPr>
          <p:cNvPr id="9" name="Text 7"/>
          <p:cNvSpPr/>
          <p:nvPr/>
        </p:nvSpPr>
        <p:spPr>
          <a:xfrm>
            <a:off x="603504" y="46817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多来源评价形成能力结果，帮助管理者看见优势与待发展项。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6510528" y="2404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宫格盘点</a:t>
            </a:r>
            <a:endParaRPr lang="zh-CN" sz="850" dirty="0"/>
          </a:p>
        </p:txBody>
      </p:sp>
      <p:sp>
        <p:nvSpPr>
          <p:cNvPr id="11" name="Text 9"/>
          <p:cNvSpPr/>
          <p:nvPr/>
        </p:nvSpPr>
        <p:spPr>
          <a:xfrm>
            <a:off x="6510528" y="281635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一群人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处于什么位置</a:t>
            </a:r>
            <a:endParaRPr lang="zh-CN" sz="2900" dirty="0"/>
          </a:p>
        </p:txBody>
      </p:sp>
      <p:sp>
        <p:nvSpPr>
          <p:cNvPr id="12" name="Text 10"/>
          <p:cNvSpPr/>
          <p:nvPr/>
        </p:nvSpPr>
        <p:spPr>
          <a:xfrm>
            <a:off x="6510528" y="46817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把能力与绩效放在一起讨论，保留人工校准过程。</a:t>
            </a:r>
            <a:endParaRPr lang="zh-CN" sz="1400" dirty="0"/>
          </a:p>
        </p:txBody>
      </p:sp>
      <p:sp>
        <p:nvSpPr>
          <p:cNvPr id="13" name="Shape 11"/>
          <p:cNvSpPr/>
          <p:nvPr/>
        </p:nvSpPr>
        <p:spPr>
          <a:xfrm>
            <a:off x="603504" y="5742432"/>
            <a:ext cx="10972800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925312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结果进入人才档案，继续支持用人与培养判断。</a:t>
            </a:r>
            <a:endParaRPr lang="zh-CN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· 发展中心 × 人才中心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把岗位要求与人的实际情况放到同一个画面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识别差距之后，才能安排发展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3504" y="2971800"/>
            <a:ext cx="473659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2951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/>
          <p:nvPr/>
        </p:nvSpPr>
        <p:spPr>
          <a:xfrm>
            <a:off x="1179576" y="2258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人才档案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2596896" y="22860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看岗位要求与实际能力。</a:t>
            </a:r>
            <a:endParaRPr lang="zh-CN" sz="1140" dirty="0"/>
          </a:p>
        </p:txBody>
      </p:sp>
      <p:sp>
        <p:nvSpPr>
          <p:cNvPr id="10" name="Shape 8"/>
          <p:cNvSpPr/>
          <p:nvPr/>
        </p:nvSpPr>
        <p:spPr>
          <a:xfrm>
            <a:off x="603504" y="3849624"/>
            <a:ext cx="473659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3172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179576" y="3136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岗位地图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2596896" y="31638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看岗位之间的发展方向。</a:t>
            </a:r>
            <a:endParaRPr lang="zh-CN" sz="1140" dirty="0"/>
          </a:p>
        </p:txBody>
      </p:sp>
      <p:sp>
        <p:nvSpPr>
          <p:cNvPr id="14" name="Shape 12"/>
          <p:cNvSpPr/>
          <p:nvPr/>
        </p:nvSpPr>
        <p:spPr>
          <a:xfrm>
            <a:off x="603504" y="4727448"/>
            <a:ext cx="473659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40507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179576" y="40142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学习方案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2596896" y="40416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按岗位能力关联课程、项目、前后测。</a:t>
            </a:r>
            <a:endParaRPr lang="zh-CN" sz="1140" dirty="0"/>
          </a:p>
        </p:txBody>
      </p:sp>
      <p:sp>
        <p:nvSpPr>
          <p:cNvPr id="18" name="Shape 16"/>
          <p:cNvSpPr/>
          <p:nvPr/>
        </p:nvSpPr>
        <p:spPr>
          <a:xfrm>
            <a:off x="603504" y="5605272"/>
            <a:ext cx="473659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92861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179576" y="4892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培训执行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2596896" y="4919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学习过程由培训平台承接。</a:t>
            </a:r>
            <a:endParaRPr lang="zh-CN" sz="1140" dirty="0"/>
          </a:p>
        </p:txBody>
      </p:sp>
      <p:sp>
        <p:nvSpPr>
          <p:cNvPr id="22" name="Shape 20"/>
          <p:cNvSpPr/>
          <p:nvPr/>
        </p:nvSpPr>
        <p:spPr>
          <a:xfrm>
            <a:off x="5742432" y="2176272"/>
            <a:ext cx="5843016" cy="3776472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468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发展连接</a:t>
            </a:r>
            <a:endParaRPr lang="zh-CN" sz="850" dirty="0"/>
          </a:p>
        </p:txBody>
      </p:sp>
      <p:sp>
        <p:nvSpPr>
          <p:cNvPr id="24" name="Shape 22"/>
          <p:cNvSpPr/>
          <p:nvPr/>
        </p:nvSpPr>
        <p:spPr>
          <a:xfrm>
            <a:off x="6291072" y="2999232"/>
            <a:ext cx="1847088" cy="1847088"/>
          </a:xfrm>
          <a:prstGeom prst="ellipse">
            <a:avLst/>
          </a:prstGeom>
          <a:solidFill>
            <a:srgbClr val="F0F0EE">
              <a:alpha val="0"/>
            </a:srgbClr>
          </a:solidFill>
          <a:ln w="19050">
            <a:solidFill>
              <a:srgbClr val="002F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372160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岗位要求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138160" y="3922776"/>
            <a:ext cx="1143000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999232"/>
            <a:ext cx="1847088" cy="1847088"/>
          </a:xfrm>
          <a:prstGeom prst="ellipse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37192" y="372160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学习行动</a:t>
            </a:r>
            <a:endParaRPr lang="zh-CN" sz="1800" dirty="0"/>
          </a:p>
        </p:txBody>
      </p:sp>
      <p:sp>
        <p:nvSpPr>
          <p:cNvPr id="29" name="Text 27"/>
          <p:cNvSpPr/>
          <p:nvPr/>
        </p:nvSpPr>
        <p:spPr>
          <a:xfrm>
            <a:off x="6053328" y="5266944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学习资源围绕岗位要求和人员差距组织。</a:t>
            </a:r>
            <a:endParaRPr lang="zh-CN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· AI 融入业务</a:t>
            </a:r>
            <a:endParaRPr lang="zh-CN" sz="850" dirty="0"/>
          </a:p>
        </p:txBody>
      </p:sp>
      <p:sp>
        <p:nvSpPr>
          <p:cNvPr id="3" name="Text 1"/>
          <p:cNvSpPr/>
          <p:nvPr/>
        </p:nvSpPr>
        <p:spPr>
          <a:xfrm>
            <a:off x="10728655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09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603504" y="8595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出现在需要判断、整理和匹配的节点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要服务场景，结果仍由人确认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603504" y="2176272"/>
            <a:ext cx="2624328" cy="361188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176272"/>
            <a:ext cx="2624328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分析</a:t>
            </a:r>
            <a:endParaRPr lang="zh-CN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331012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</a:t>
            </a:r>
            <a:endParaRPr lang="zh-CN" sz="2400" dirty="0"/>
          </a:p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关键岗位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804672" y="4983480"/>
            <a:ext cx="2240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给出结构和优先岗位建议。</a:t>
            </a:r>
            <a:endParaRPr lang="zh-CN" sz="1250" dirty="0"/>
          </a:p>
        </p:txBody>
      </p:sp>
      <p:sp>
        <p:nvSpPr>
          <p:cNvPr id="11" name="Shape 9"/>
          <p:cNvSpPr/>
          <p:nvPr/>
        </p:nvSpPr>
        <p:spPr>
          <a:xfrm>
            <a:off x="3392424" y="2176272"/>
            <a:ext cx="2624328" cy="361188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92424" y="2176272"/>
            <a:ext cx="2624328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帮建</a:t>
            </a:r>
            <a:endParaRPr lang="zh-CN" sz="850" dirty="0"/>
          </a:p>
        </p:txBody>
      </p:sp>
      <p:sp>
        <p:nvSpPr>
          <p:cNvPr id="14" name="Text 12"/>
          <p:cNvSpPr/>
          <p:nvPr/>
        </p:nvSpPr>
        <p:spPr>
          <a:xfrm>
            <a:off x="3593592" y="331012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人才标准</a:t>
            </a:r>
            <a:endParaRPr lang="zh-CN" sz="2400" dirty="0"/>
          </a:p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草稿</a:t>
            </a:r>
            <a:endParaRPr lang="zh-CN" sz="2400" dirty="0"/>
          </a:p>
        </p:txBody>
      </p:sp>
      <p:sp>
        <p:nvSpPr>
          <p:cNvPr id="15" name="Text 13"/>
          <p:cNvSpPr/>
          <p:nvPr/>
        </p:nvSpPr>
        <p:spPr>
          <a:xfrm>
            <a:off x="3593592" y="4983480"/>
            <a:ext cx="2240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整理材料和场景要求。</a:t>
            </a:r>
            <a:endParaRPr lang="zh-CN" sz="1250" dirty="0"/>
          </a:p>
        </p:txBody>
      </p:sp>
      <p:sp>
        <p:nvSpPr>
          <p:cNvPr id="16" name="Shape 14"/>
          <p:cNvSpPr/>
          <p:nvPr/>
        </p:nvSpPr>
        <p:spPr>
          <a:xfrm>
            <a:off x="6181344" y="2176272"/>
            <a:ext cx="2624328" cy="361188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2176272"/>
            <a:ext cx="2624328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匹配</a:t>
            </a:r>
            <a:endParaRPr lang="zh-CN" sz="850" dirty="0"/>
          </a:p>
        </p:txBody>
      </p:sp>
      <p:sp>
        <p:nvSpPr>
          <p:cNvPr id="19" name="Text 17"/>
          <p:cNvSpPr/>
          <p:nvPr/>
        </p:nvSpPr>
        <p:spPr>
          <a:xfrm>
            <a:off x="6382512" y="331012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学习资源</a:t>
            </a:r>
            <a:endParaRPr lang="zh-CN" sz="2400" dirty="0"/>
          </a:p>
          <a:p>
            <a:pPr algn="l" indent="0" marL="0">
              <a:buNone/>
            </a:pPr>
            <a:r>
              <a:rPr lang="zh-CN" altLang="en-US" sz="2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推荐</a:t>
            </a:r>
            <a:endParaRPr lang="zh-CN" sz="2400" dirty="0"/>
          </a:p>
        </p:txBody>
      </p:sp>
      <p:sp>
        <p:nvSpPr>
          <p:cNvPr id="20" name="Text 18"/>
          <p:cNvSpPr/>
          <p:nvPr/>
        </p:nvSpPr>
        <p:spPr>
          <a:xfrm>
            <a:off x="6382512" y="4983480"/>
            <a:ext cx="2240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围绕岗位能力推荐资源。</a:t>
            </a:r>
            <a:endParaRPr lang="zh-CN" sz="1250" dirty="0"/>
          </a:p>
        </p:txBody>
      </p:sp>
      <p:sp>
        <p:nvSpPr>
          <p:cNvPr id="21" name="Shape 19"/>
          <p:cNvSpPr/>
          <p:nvPr/>
        </p:nvSpPr>
        <p:spPr>
          <a:xfrm>
            <a:off x="8970264" y="2176272"/>
            <a:ext cx="2624328" cy="361188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确认</a:t>
            </a:r>
            <a:endParaRPr lang="zh-CN" sz="850" dirty="0"/>
          </a:p>
        </p:txBody>
      </p:sp>
      <p:sp>
        <p:nvSpPr>
          <p:cNvPr id="23" name="Text 21"/>
          <p:cNvSpPr/>
          <p:nvPr/>
        </p:nvSpPr>
        <p:spPr>
          <a:xfrm>
            <a:off x="9171432" y="331012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业务人员</a:t>
            </a:r>
            <a:endParaRPr lang="zh-CN" sz="2400" dirty="0"/>
          </a:p>
          <a:p>
            <a:pPr algn="l" indent="0" marL="0">
              <a:buNone/>
            </a:pPr>
            <a:r>
              <a:rPr lang="zh-CN" altLang="en-US" sz="2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判断生效</a:t>
            </a:r>
            <a:endParaRPr lang="zh-CN" sz="2400" dirty="0"/>
          </a:p>
        </p:txBody>
      </p:sp>
      <p:sp>
        <p:nvSpPr>
          <p:cNvPr id="24" name="Text 22"/>
          <p:cNvSpPr/>
          <p:nvPr/>
        </p:nvSpPr>
        <p:spPr>
          <a:xfrm>
            <a:off x="9171432" y="4983480"/>
            <a:ext cx="2240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可查看、可调整、可确认。</a:t>
            </a:r>
            <a:endParaRPr lang="zh-CN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62472" cy="685800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4612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2540">
            <a:solidFill>
              <a:srgbClr val="5B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· 进入平台</a:t>
            </a:r>
            <a:endParaRPr lang="zh-CN" sz="850" dirty="0"/>
          </a:p>
        </p:txBody>
      </p:sp>
      <p:sp>
        <p:nvSpPr>
          <p:cNvPr id="14" name="Text 12"/>
          <p:cNvSpPr/>
          <p:nvPr/>
        </p:nvSpPr>
        <p:spPr>
          <a:xfrm>
            <a:off x="10680192" y="347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09</a:t>
            </a:r>
            <a:endParaRPr lang="zh-CN" sz="850" dirty="0"/>
          </a:p>
        </p:txBody>
      </p:sp>
      <p:sp>
        <p:nvSpPr>
          <p:cNvPr id="15" name="Text 13"/>
          <p:cNvSpPr/>
          <p:nvPr/>
        </p:nvSpPr>
        <p:spPr>
          <a:xfrm>
            <a:off x="603504" y="1828800"/>
            <a:ext cx="49377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现在，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看系统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怎么做</a:t>
            </a:r>
            <a:endParaRPr lang="zh-CN" sz="4800" dirty="0"/>
          </a:p>
        </p:txBody>
      </p:sp>
      <p:sp>
        <p:nvSpPr>
          <p:cNvPr id="16" name="Text 14"/>
          <p:cNvSpPr/>
          <p:nvPr/>
        </p:nvSpPr>
        <p:spPr>
          <a:xfrm>
            <a:off x="603504" y="61081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850" dirty="0"/>
          </a:p>
        </p:txBody>
      </p:sp>
      <p:sp>
        <p:nvSpPr>
          <p:cNvPr id="17" name="Text 15"/>
          <p:cNvSpPr/>
          <p:nvPr/>
        </p:nvSpPr>
        <p:spPr>
          <a:xfrm>
            <a:off x="6492240" y="694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现场演示路线</a:t>
            </a:r>
            <a:endParaRPr lang="zh-CN" sz="850" dirty="0"/>
          </a:p>
        </p:txBody>
      </p:sp>
      <p:sp>
        <p:nvSpPr>
          <p:cNvPr id="18" name="Text 16"/>
          <p:cNvSpPr/>
          <p:nvPr/>
        </p:nvSpPr>
        <p:spPr>
          <a:xfrm>
            <a:off x="10561320" y="694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10–15 MIN</a:t>
            </a:r>
            <a:endParaRPr lang="zh-CN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7132320" y="18653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建标准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8577072" y="1874520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选岗位场景，形成统一要求。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724912"/>
            <a:ext cx="507492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145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24" name="Text 22"/>
          <p:cNvSpPr/>
          <p:nvPr/>
        </p:nvSpPr>
        <p:spPr>
          <a:xfrm>
            <a:off x="7132320" y="3108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看结果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8577072" y="3118104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 360 到宫格盘点。</a:t>
            </a:r>
            <a:endParaRPr lang="zh-CN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3968496"/>
            <a:ext cx="507492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389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43525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接发展</a:t>
            </a:r>
            <a:endParaRPr lang="zh-CN" sz="1900" dirty="0"/>
          </a:p>
        </p:txBody>
      </p:sp>
      <p:sp>
        <p:nvSpPr>
          <p:cNvPr id="29" name="Text 27"/>
          <p:cNvSpPr/>
          <p:nvPr/>
        </p:nvSpPr>
        <p:spPr>
          <a:xfrm>
            <a:off x="8577072" y="4361688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看人才档案、岗位地图与学习方案。</a:t>
            </a:r>
            <a:endParaRPr lang="zh-CN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5212080"/>
            <a:ext cx="5074920" cy="0"/>
          </a:xfrm>
          <a:prstGeom prst="line">
            <a:avLst/>
          </a:pr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612648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 打开人才发展平台</a:t>
            </a:r>
            <a:endParaRPr lang="zh-CN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景旺电子人才发展 · 介绍与演示</dc:title>
  <dc:subject>景旺电子人才发展系统设计思路与平台演示</dc:subject>
  <dc:creator>时代光华</dc:creator>
  <cp:lastModifiedBy>时代光华</cp:lastModifiedBy>
  <cp:revision>1</cp:revision>
  <dcterms:created xsi:type="dcterms:W3CDTF">2026-09-28T02:48:47Z</dcterms:created>
  <dcterms:modified xsi:type="dcterms:W3CDTF">2026-09-28T02:48:47Z</dcterms:modified>
</cp:coreProperties>
</file>