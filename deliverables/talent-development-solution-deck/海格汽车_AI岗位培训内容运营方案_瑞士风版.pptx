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这版方案只聚焦一件事：怎样用 AI 把岗位培训内容运营做得更快、更准、更容易持续更新。
我们沿着岗位画像、资料盘点和内容生成三步展开，再用班组长与销售两个岗位场景验证。
接下来：先看当前培训运营最耗人的地方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当前最消耗培训运营的不是发布课程，而是前面的理解、整理和加工。
AI 的作用不是替代业务专家，而是先把重复劳动做完，让专家把时间放在岗位重点、案例真实性和发布判断上。
接下来：用一张图看清三步 AI 流程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三步流程先形成岗位训练蓝图，再把分散资料变成岗位知识底座，最后生成岗位学习方案。
所有内容在发布前都经过业务专家确认。发布后的反馈与新增资料继续回流，支持持续更新。
接下来：第一步，AI 如何生成可训练的岗位画像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岗位画像的关键不是写一段漂亮的岗位介绍，而是形成可以直接驱动训练的结构。
AI 从岗位说明书、业务访谈、流程制度与绩效案例中提取关键任务和典型场景，业务专家校准后形成训练优先级。
接下来：第二步，盘点现有资料是否能支撑这些训练任务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资料盘点先解决复用问题。AI 自动解析不同类型的文档，按岗位任务归类，并识别版本、重复、质量和权限。
最终不是得到一个文件清单，而是得到一张内容缺口地图：哪些任务已有材料，哪些需要改写，哪些必须补充生成。
接下来：第三步，把缺口和可用资料转成学习内容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内容生成不是把文档总结成一篇文章，而是围绕岗位任务和训练目标重新组织。
同一套知识底座可以生成微课、案例、练习、话术、测验和后续更新包，并保留来源和版本。
接下来：先看班组长培训如何落地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班组长培训以现场任务为主线。AI 先生成岗位画像，再把作业标准、安全制度、质量案例和班前会记录做资料盘点。
最后生成 30 天训练路径，以及微课、情境题、班前会卡和现场观察表。运营人员重点确认现场是否真实、工具是否可执行。
接下来：再看销售人员如何形成战训一体内容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销售培训围绕销售阶段组织内容，而不是按资料类型堆课程。
AI 把产品资料、行业案例、客户异议与优秀话术重组为 21 天战训路径，并支持新增产品、竞品变化和成功案例触发更新建议。
接下来：两类场景背后需要同一套人机协同机制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人机协同按照职责拆分。AI 负责读取、整理、生成和提醒更新；业务专家负责关键任务、事实、案例难度和发布判断；培训运营负责试点、评审、配置和优化。
所有发布内容必须有来源、版本、权限边界和负责人。
接下来：最后看如何用一个小范围试点验证价值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建议用班组长和销售两个岗位并行试点，八周完成从画像到投放的首轮闭环。
验收重点看画像可用性、资料复用率、人工工时变化和内容更新时效。首轮不追求一次覆盖全部岗位和全部历史资料。
接下来：用一句话收束这套方案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这套方案最终形成三个稳定能力：每个岗位有训练画像，每类资料有清晰盘点，每个训练需求都能快速形成内容。
AI 先做重活，专家负责判断，培训运营从反复做内容转向持续运营岗位能力。
接下来：进入试点岗位与资料范围确认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002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7064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91272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11896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5314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7376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94392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15016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5626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7688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0920" y="9601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54112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0496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33688" y="9601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20072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13264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06456" y="9601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99648" y="9601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4112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47304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0496" y="13716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33688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20072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13264" y="13716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06456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99648" y="13716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54112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47304" y="17830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0496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33688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0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20072" y="17830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13264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06456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99648" y="17830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60920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54112" y="21945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47304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0496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33688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26880" y="21945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20072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13264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06456" y="21945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99648" y="21945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60920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54112" y="26060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47304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40496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33688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26880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20072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13264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506456" y="26060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899648" y="26060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60920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54112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47304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40496" y="30175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33688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26880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20072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13264" y="301752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06456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899648" y="301752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60920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54112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147304" y="34290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0496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33688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26880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20072" y="34290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113264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06456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99648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60920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54112" y="38404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147304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540496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33688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326880" y="38404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20072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13264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506456" y="384048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899648" y="384048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42519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754112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47304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40496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33688" y="42519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326880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720072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113264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06456" y="425196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899648" y="425196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94360" y="3840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海格汽车 · AI 岗位培训内容运营方案</a:t>
            </a:r>
            <a:endParaRPr lang="zh-CN" sz="850" dirty="0"/>
          </a:p>
        </p:txBody>
      </p:sp>
      <p:sp>
        <p:nvSpPr>
          <p:cNvPr id="106" name="Text 104"/>
          <p:cNvSpPr txBox="1"/>
          <p:nvPr/>
        </p:nvSpPr>
        <p:spPr>
          <a:xfrm>
            <a:off x="9281160" y="3840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 · 26.09.02 · 01 / 11</a:t>
            </a:r>
            <a:endParaRPr lang="zh-CN" sz="850" dirty="0"/>
          </a:p>
        </p:txBody>
      </p:sp>
      <p:sp>
        <p:nvSpPr>
          <p:cNvPr id="107" name="Text 105"/>
          <p:cNvSpPr txBox="1"/>
          <p:nvPr/>
        </p:nvSpPr>
        <p:spPr>
          <a:xfrm>
            <a:off x="594360" y="102412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AI FOR LEARNING OPERATIONS</a:t>
            </a:r>
            <a:endParaRPr lang="zh-CN" sz="850" dirty="0"/>
          </a:p>
        </p:txBody>
      </p:sp>
      <p:sp>
        <p:nvSpPr>
          <p:cNvPr id="108" name="Text 106"/>
          <p:cNvSpPr txBox="1"/>
          <p:nvPr/>
        </p:nvSpPr>
        <p:spPr>
          <a:xfrm>
            <a:off x="594360" y="1572768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5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驱动岗位培训</a:t>
            </a:r>
            <a:endParaRPr lang="zh-CN" sz="5100" dirty="0"/>
          </a:p>
          <a:p>
            <a:pPr algn="l" indent="0" marL="0">
              <a:buNone/>
            </a:pPr>
            <a:r>
              <a:rPr lang="zh-CN" altLang="en-US" sz="5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内容运营</a:t>
            </a:r>
            <a:endParaRPr lang="zh-CN" sz="5100" dirty="0"/>
          </a:p>
        </p:txBody>
      </p:sp>
      <p:sp>
        <p:nvSpPr>
          <p:cNvPr id="109" name="Text 107"/>
          <p:cNvSpPr txBox="1"/>
          <p:nvPr/>
        </p:nvSpPr>
        <p:spPr>
          <a:xfrm>
            <a:off x="594360" y="37947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 → 资料盘点 → 学习内容生成</a:t>
            </a:r>
            <a:endParaRPr lang="zh-CN" sz="1900" dirty="0"/>
          </a:p>
        </p:txBody>
      </p:sp>
      <p:sp>
        <p:nvSpPr>
          <p:cNvPr id="110" name="Shape 108"/>
          <p:cNvSpPr/>
          <p:nvPr/>
        </p:nvSpPr>
        <p:spPr>
          <a:xfrm>
            <a:off x="594360" y="4846320"/>
            <a:ext cx="11000232" cy="0"/>
          </a:xfrm>
          <a:prstGeom prst="line">
            <a:avLst/>
          </a:prstGeom>
          <a:noFill/>
          <a:ln w="6985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594360" y="51023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AI 承担整理与生成，让业务专家聚焦判断与确认。</a:t>
            </a:r>
            <a:endParaRPr lang="zh-CN" sz="1650" dirty="0"/>
          </a:p>
        </p:txBody>
      </p:sp>
      <p:sp>
        <p:nvSpPr>
          <p:cNvPr id="112" name="Text 110"/>
          <p:cNvSpPr txBox="1"/>
          <p:nvPr/>
        </p:nvSpPr>
        <p:spPr>
          <a:xfrm>
            <a:off x="594360" y="61264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重点场景 · 班组长培训 / 销售人员培训</a:t>
            </a:r>
            <a:endParaRPr lang="zh-CN" sz="850" dirty="0"/>
          </a:p>
        </p:txBody>
      </p:sp>
      <p:sp>
        <p:nvSpPr>
          <p:cNvPr id="113" name="Text 111"/>
          <p:cNvSpPr txBox="1"/>
          <p:nvPr/>
        </p:nvSpPr>
        <p:spPr>
          <a:xfrm>
            <a:off x="8275320" y="61264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TALENT DEVELOPMENT</a:t>
            </a:r>
            <a:endParaRPr lang="zh-CN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业务问题 / 人工运营负担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专属培训不是缺内容，而是缺少把内容组织起来的方法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43000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三类高频人工工作，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拖慢岗位培训</a:t>
            </a:r>
            <a:endParaRPr lang="zh-CN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4956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9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每启动一个岗位，培训团队都要重新理解岗位、翻找资料、拼装内容。</a:t>
            </a:r>
            <a:endParaRPr lang="zh-CN" sz="1290" dirty="0"/>
          </a:p>
        </p:txBody>
      </p:sp>
      <p:sp>
        <p:nvSpPr>
          <p:cNvPr id="7" name="Shape 5"/>
          <p:cNvSpPr/>
          <p:nvPr/>
        </p:nvSpPr>
        <p:spPr>
          <a:xfrm>
            <a:off x="5623560" y="1325880"/>
            <a:ext cx="1792224" cy="42519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24728" y="1600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824728" y="2011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岗位靠访谈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5824728" y="2779776"/>
            <a:ext cx="1389888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4728" y="3054096"/>
            <a:ext cx="1389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职责与关键任务分散，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要靠说明书、经验和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口头表达重新梳理。</a:t>
            </a:r>
            <a:endParaRPr lang="zh-CN" sz="1080" dirty="0"/>
          </a:p>
        </p:txBody>
      </p:sp>
      <p:sp>
        <p:nvSpPr>
          <p:cNvPr id="12" name="Shape 10"/>
          <p:cNvSpPr/>
          <p:nvPr/>
        </p:nvSpPr>
        <p:spPr>
          <a:xfrm>
            <a:off x="5824728" y="481888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16168" y="4882896"/>
            <a:ext cx="1207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标准不一致</a:t>
            </a:r>
            <a:endParaRPr lang="zh-CN" sz="950" dirty="0"/>
          </a:p>
        </p:txBody>
      </p:sp>
      <p:sp>
        <p:nvSpPr>
          <p:cNvPr id="14" name="Shape 12"/>
          <p:cNvSpPr/>
          <p:nvPr/>
        </p:nvSpPr>
        <p:spPr>
          <a:xfrm>
            <a:off x="7607808" y="1325880"/>
            <a:ext cx="1792224" cy="4251960"/>
          </a:xfrm>
          <a:prstGeom prst="rect">
            <a:avLst/>
          </a:prstGeom>
          <a:solidFill>
            <a:srgbClr val="171717"/>
          </a:solidFill>
          <a:ln w="889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08976" y="1600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808976" y="2011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资料靠人找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7808976" y="2779776"/>
            <a:ext cx="1389888" cy="0"/>
          </a:xfrm>
          <a:prstGeom prst="line">
            <a:avLst/>
          </a:prstGeom>
          <a:noFill/>
          <a:ln w="6350">
            <a:solidFill>
              <a:srgbClr val="5656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08976" y="3054096"/>
            <a:ext cx="1389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D2D2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制度、案例、课程和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D2D2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现场文档分散，版本、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D2D2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质量难判断。</a:t>
            </a:r>
            <a:endParaRPr lang="zh-CN" sz="1080" dirty="0"/>
          </a:p>
        </p:txBody>
      </p:sp>
      <p:sp>
        <p:nvSpPr>
          <p:cNvPr id="19" name="Shape 17"/>
          <p:cNvSpPr/>
          <p:nvPr/>
        </p:nvSpPr>
        <p:spPr>
          <a:xfrm>
            <a:off x="7808976" y="481888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0416" y="4882896"/>
            <a:ext cx="1207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重复整理</a:t>
            </a:r>
            <a:endParaRPr lang="zh-CN" sz="950" dirty="0"/>
          </a:p>
        </p:txBody>
      </p:sp>
      <p:sp>
        <p:nvSpPr>
          <p:cNvPr id="21" name="Shape 19"/>
          <p:cNvSpPr/>
          <p:nvPr/>
        </p:nvSpPr>
        <p:spPr>
          <a:xfrm>
            <a:off x="9592056" y="1325880"/>
            <a:ext cx="1792224" cy="42519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4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93224" y="1600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793224" y="2011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内容靠人拼</a:t>
            </a:r>
            <a:endParaRPr lang="zh-CN" sz="2000" dirty="0"/>
          </a:p>
        </p:txBody>
      </p:sp>
      <p:sp>
        <p:nvSpPr>
          <p:cNvPr id="24" name="Shape 22"/>
          <p:cNvSpPr/>
          <p:nvPr/>
        </p:nvSpPr>
        <p:spPr>
          <a:xfrm>
            <a:off x="9793224" y="2779776"/>
            <a:ext cx="1389888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93224" y="3054096"/>
            <a:ext cx="1389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同一份资料反复加工，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再分别制作课件、练习、</a:t>
            </a:r>
            <a:endParaRPr lang="zh-CN" sz="1080" dirty="0"/>
          </a:p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话术和测验。</a:t>
            </a:r>
            <a:endParaRPr lang="zh-CN" sz="1080" dirty="0"/>
          </a:p>
        </p:txBody>
      </p:sp>
      <p:sp>
        <p:nvSpPr>
          <p:cNvPr id="26" name="Shape 24"/>
          <p:cNvSpPr/>
          <p:nvPr/>
        </p:nvSpPr>
        <p:spPr>
          <a:xfrm>
            <a:off x="9793224" y="481888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84664" y="4882896"/>
            <a:ext cx="1207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更新速度慢</a:t>
            </a:r>
            <a:endParaRPr lang="zh-CN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5074920"/>
            <a:ext cx="4343400" cy="512064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212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目标：AI 完成“读、理、写”，人工只做关键判断。</a:t>
            </a:r>
            <a:endParaRPr lang="zh-CN" sz="122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61630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减负不等于无人审核</a:t>
            </a:r>
            <a:endParaRPr lang="zh-CN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总体方案 / 三步 AI 流程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一套输入，形成可持续更新的岗位学习内容链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24712"/>
            <a:ext cx="484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三步 AI 流程，</a:t>
            </a:r>
            <a:endParaRPr lang="zh-CN" sz="3600" dirty="0"/>
          </a:p>
          <a:p>
            <a:pPr algn="l" indent="0" marL="0">
              <a:buNone/>
            </a:pPr>
            <a:r>
              <a:rPr lang="zh-CN" altLang="en-US" sz="3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一个人工发布闸口</a:t>
            </a:r>
            <a:endParaRPr lang="zh-CN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2633472" cy="2066544"/>
          </a:xfrm>
          <a:prstGeom prst="rect">
            <a:avLst/>
          </a:prstGeom>
          <a:solidFill>
            <a:srgbClr val="232323"/>
          </a:solidFill>
          <a:ln w="8890">
            <a:solidFill>
              <a:srgbClr val="565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3127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65760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</a:t>
            </a:r>
            <a:endParaRPr lang="zh-CN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4069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CDCDC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明确关键任务、场景、能力与标准</a:t>
            </a:r>
            <a:endParaRPr lang="zh-CN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4636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岗位训练蓝图</a:t>
            </a:r>
            <a:endParaRPr lang="zh-CN" sz="850" dirty="0"/>
          </a:p>
        </p:txBody>
      </p:sp>
      <p:sp>
        <p:nvSpPr>
          <p:cNvPr id="12" name="Shape 10"/>
          <p:cNvSpPr/>
          <p:nvPr/>
        </p:nvSpPr>
        <p:spPr>
          <a:xfrm>
            <a:off x="3227832" y="3922776"/>
            <a:ext cx="338328" cy="0"/>
          </a:xfrm>
          <a:prstGeom prst="line">
            <a:avLst/>
          </a:prstGeom>
          <a:noFill/>
          <a:ln w="1397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2880360"/>
            <a:ext cx="2633472" cy="2066544"/>
          </a:xfrm>
          <a:prstGeom prst="rect">
            <a:avLst/>
          </a:prstGeom>
          <a:solidFill>
            <a:srgbClr val="002FA7"/>
          </a:solidFill>
          <a:ln w="889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3127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67328" y="31363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67328" y="365760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资料盘点</a:t>
            </a:r>
            <a:endParaRPr lang="zh-CN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767328" y="4069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CDCDC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识别可用资料、版本、质量与缺口</a:t>
            </a:r>
            <a:endParaRPr lang="zh-CN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3767328" y="4636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岗位知识底座</a:t>
            </a:r>
            <a:endParaRPr lang="zh-CN" sz="850" dirty="0"/>
          </a:p>
        </p:txBody>
      </p:sp>
      <p:sp>
        <p:nvSpPr>
          <p:cNvPr id="19" name="Shape 17"/>
          <p:cNvSpPr/>
          <p:nvPr/>
        </p:nvSpPr>
        <p:spPr>
          <a:xfrm>
            <a:off x="6199632" y="3922776"/>
            <a:ext cx="338328" cy="0"/>
          </a:xfrm>
          <a:prstGeom prst="line">
            <a:avLst/>
          </a:prstGeom>
          <a:noFill/>
          <a:ln w="1397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2880360"/>
            <a:ext cx="2633472" cy="2066544"/>
          </a:xfrm>
          <a:prstGeom prst="rect">
            <a:avLst/>
          </a:prstGeom>
          <a:solidFill>
            <a:srgbClr val="232323"/>
          </a:solidFill>
          <a:ln w="8890">
            <a:solidFill>
              <a:srgbClr val="5656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9128" y="3127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39128" y="313639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739128" y="365760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内容生成</a:t>
            </a:r>
            <a:endParaRPr lang="zh-CN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4069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CDCDC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按训练目标生成多形态学习内容</a:t>
            </a:r>
            <a:endParaRPr lang="zh-CN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6739128" y="4636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岗位学习方案</a:t>
            </a:r>
            <a:endParaRPr lang="zh-CN" sz="850" dirty="0"/>
          </a:p>
        </p:txBody>
      </p:sp>
      <p:sp>
        <p:nvSpPr>
          <p:cNvPr id="26" name="Shape 24"/>
          <p:cNvSpPr/>
          <p:nvPr/>
        </p:nvSpPr>
        <p:spPr>
          <a:xfrm>
            <a:off x="9528048" y="2880360"/>
            <a:ext cx="2066544" cy="2066544"/>
          </a:xfrm>
          <a:prstGeom prst="rect">
            <a:avLst/>
          </a:prstGeom>
          <a:solidFill>
            <a:srgbClr val="FAFAF8"/>
          </a:solidFill>
          <a:ln w="635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65792" y="318211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HUMAN GATE</a:t>
            </a:r>
            <a:endParaRPr lang="zh-CN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765792" y="3621024"/>
            <a:ext cx="1609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业务专家</a:t>
            </a:r>
            <a:endParaRPr lang="zh-CN" sz="2100" dirty="0"/>
          </a:p>
          <a:p>
            <a:pPr algn="l" indent="0" marL="0">
              <a:buNone/>
            </a:pPr>
            <a:r>
              <a:rPr lang="zh-CN" altLang="en-US" sz="21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确认发布</a:t>
            </a:r>
            <a:endParaRPr lang="zh-CN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9765792" y="4480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确认重点、事实、权限与适用范围</a:t>
            </a:r>
            <a:endParaRPr lang="zh-CN" sz="980" dirty="0"/>
          </a:p>
        </p:txBody>
      </p:sp>
      <p:sp>
        <p:nvSpPr>
          <p:cNvPr id="30" name="Shape 28"/>
          <p:cNvSpPr/>
          <p:nvPr/>
        </p:nvSpPr>
        <p:spPr>
          <a:xfrm>
            <a:off x="9098280" y="3922776"/>
            <a:ext cx="429768" cy="0"/>
          </a:xfrm>
          <a:prstGeom prst="line">
            <a:avLst/>
          </a:prstGeom>
          <a:noFill/>
          <a:ln w="1397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4360" y="5358384"/>
            <a:ext cx="11000232" cy="512064"/>
          </a:xfrm>
          <a:prstGeom prst="rect">
            <a:avLst/>
          </a:prstGeom>
          <a:solidFill>
            <a:srgbClr val="242424"/>
          </a:solidFill>
          <a:ln w="6350">
            <a:solidFill>
              <a:srgbClr val="242424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55046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发布后的学习反馈、业务变化与新资料，继续回流到画像和内容更新。</a:t>
            </a:r>
            <a:endParaRPr lang="zh-CN" sz="121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55321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不是一次生成，而是一条持续运营链</a:t>
            </a:r>
            <a:endParaRPr lang="zh-CN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岗位画像 / 从岗位描述到训练蓝图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画像不是岗位介绍，而是后续资料与内容的共同索引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2471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把岗位要求翻译成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“要训练什么”</a:t>
            </a:r>
            <a:endParaRPr lang="zh-CN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3347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54203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岗位说明书</a:t>
            </a:r>
            <a:endParaRPr lang="zh-CN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2441448" y="255117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职责与任职要求</a:t>
            </a:r>
            <a:endParaRPr lang="zh-CN" sz="1080" dirty="0"/>
          </a:p>
        </p:txBody>
      </p:sp>
      <p:sp>
        <p:nvSpPr>
          <p:cNvPr id="9" name="Shape 7"/>
          <p:cNvSpPr/>
          <p:nvPr/>
        </p:nvSpPr>
        <p:spPr>
          <a:xfrm>
            <a:off x="1033272" y="2980944"/>
            <a:ext cx="370332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25526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3163824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业务访谈</a:t>
            </a:r>
            <a:endParaRPr lang="zh-CN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2441448" y="3172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高频场景与难题</a:t>
            </a:r>
            <a:endParaRPr lang="zh-CN" sz="1080" dirty="0"/>
          </a:p>
        </p:txBody>
      </p:sp>
      <p:sp>
        <p:nvSpPr>
          <p:cNvPr id="13" name="Shape 11"/>
          <p:cNvSpPr/>
          <p:nvPr/>
        </p:nvSpPr>
        <p:spPr>
          <a:xfrm>
            <a:off x="1033272" y="3602736"/>
            <a:ext cx="370332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8770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3785616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流程制度</a:t>
            </a:r>
            <a:endParaRPr lang="zh-CN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2441448" y="379476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关键步骤与红线</a:t>
            </a:r>
            <a:endParaRPr lang="zh-CN" sz="1080" dirty="0"/>
          </a:p>
        </p:txBody>
      </p:sp>
      <p:sp>
        <p:nvSpPr>
          <p:cNvPr id="17" name="Shape 15"/>
          <p:cNvSpPr/>
          <p:nvPr/>
        </p:nvSpPr>
        <p:spPr>
          <a:xfrm>
            <a:off x="1033272" y="4224528"/>
            <a:ext cx="370332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4988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407408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绩效案例</a:t>
            </a:r>
            <a:endParaRPr lang="zh-CN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2441448" y="44165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优秀与常见偏差</a:t>
            </a:r>
            <a:endParaRPr lang="zh-CN" sz="1080" dirty="0"/>
          </a:p>
        </p:txBody>
      </p:sp>
      <p:sp>
        <p:nvSpPr>
          <p:cNvPr id="21" name="Shape 19"/>
          <p:cNvSpPr/>
          <p:nvPr/>
        </p:nvSpPr>
        <p:spPr>
          <a:xfrm>
            <a:off x="1033272" y="4846320"/>
            <a:ext cx="370332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389888"/>
            <a:ext cx="1965960" cy="440740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13248" y="17099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PROFILE ENGINE</a:t>
            </a:r>
            <a:endParaRPr lang="zh-CN" sz="850" dirty="0"/>
          </a:p>
        </p:txBody>
      </p:sp>
      <p:sp>
        <p:nvSpPr>
          <p:cNvPr id="24" name="Shape 22"/>
          <p:cNvSpPr/>
          <p:nvPr/>
        </p:nvSpPr>
        <p:spPr>
          <a:xfrm>
            <a:off x="5504688" y="2459736"/>
            <a:ext cx="64008" cy="64008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2368296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</a:t>
            </a:r>
            <a:endParaRPr lang="zh-CN" sz="1580" dirty="0"/>
          </a:p>
        </p:txBody>
      </p:sp>
      <p:sp>
        <p:nvSpPr>
          <p:cNvPr id="26" name="Shape 24"/>
          <p:cNvSpPr/>
          <p:nvPr/>
        </p:nvSpPr>
        <p:spPr>
          <a:xfrm>
            <a:off x="5504688" y="2944368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2852928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聚类</a:t>
            </a:r>
            <a:endParaRPr lang="zh-CN" sz="1580" dirty="0"/>
          </a:p>
        </p:txBody>
      </p:sp>
      <p:sp>
        <p:nvSpPr>
          <p:cNvPr id="28" name="Shape 26"/>
          <p:cNvSpPr/>
          <p:nvPr/>
        </p:nvSpPr>
        <p:spPr>
          <a:xfrm>
            <a:off x="5504688" y="3429000"/>
            <a:ext cx="64008" cy="64008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3337560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校验</a:t>
            </a:r>
            <a:endParaRPr lang="zh-CN" sz="1580" dirty="0"/>
          </a:p>
        </p:txBody>
      </p:sp>
      <p:sp>
        <p:nvSpPr>
          <p:cNvPr id="30" name="Shape 28"/>
          <p:cNvSpPr/>
          <p:nvPr/>
        </p:nvSpPr>
        <p:spPr>
          <a:xfrm>
            <a:off x="5504688" y="3913632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0" y="3822192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映射</a:t>
            </a:r>
            <a:endParaRPr lang="zh-CN" sz="1580" dirty="0"/>
          </a:p>
        </p:txBody>
      </p:sp>
      <p:sp>
        <p:nvSpPr>
          <p:cNvPr id="32" name="Shape 30"/>
          <p:cNvSpPr/>
          <p:nvPr/>
        </p:nvSpPr>
        <p:spPr>
          <a:xfrm>
            <a:off x="5532120" y="50109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23560" y="5074920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人工校准</a:t>
            </a:r>
            <a:endParaRPr lang="zh-CN" sz="950" dirty="0"/>
          </a:p>
        </p:txBody>
      </p:sp>
      <p:sp>
        <p:nvSpPr>
          <p:cNvPr id="34" name="Shape 32"/>
          <p:cNvSpPr/>
          <p:nvPr/>
        </p:nvSpPr>
        <p:spPr>
          <a:xfrm>
            <a:off x="7571232" y="1618488"/>
            <a:ext cx="1773936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35824" y="18379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735824" y="22128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关键任务</a:t>
            </a:r>
            <a:endParaRPr lang="zh-CN" sz="1420" dirty="0"/>
          </a:p>
        </p:txBody>
      </p:sp>
      <p:sp>
        <p:nvSpPr>
          <p:cNvPr id="37" name="Text 35"/>
          <p:cNvSpPr txBox="1"/>
          <p:nvPr/>
        </p:nvSpPr>
        <p:spPr>
          <a:xfrm>
            <a:off x="7735824" y="261518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这个岗位必须完成什么</a:t>
            </a:r>
            <a:endParaRPr lang="zh-CN" sz="1000" dirty="0"/>
          </a:p>
        </p:txBody>
      </p:sp>
      <p:sp>
        <p:nvSpPr>
          <p:cNvPr id="38" name="Shape 36"/>
          <p:cNvSpPr/>
          <p:nvPr/>
        </p:nvSpPr>
        <p:spPr>
          <a:xfrm>
            <a:off x="9555480" y="1618488"/>
            <a:ext cx="1773936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20072" y="18379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9720072" y="22128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典型场景</a:t>
            </a:r>
            <a:endParaRPr lang="zh-CN" sz="1420" dirty="0"/>
          </a:p>
        </p:txBody>
      </p:sp>
      <p:sp>
        <p:nvSpPr>
          <p:cNvPr id="41" name="Text 39"/>
          <p:cNvSpPr txBox="1"/>
          <p:nvPr/>
        </p:nvSpPr>
        <p:spPr>
          <a:xfrm>
            <a:off x="9720072" y="261518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在什么情境下完成</a:t>
            </a:r>
            <a:endParaRPr lang="zh-CN" sz="1000" dirty="0"/>
          </a:p>
        </p:txBody>
      </p:sp>
      <p:sp>
        <p:nvSpPr>
          <p:cNvPr id="42" name="Shape 40"/>
          <p:cNvSpPr/>
          <p:nvPr/>
        </p:nvSpPr>
        <p:spPr>
          <a:xfrm>
            <a:off x="7571232" y="3584448"/>
            <a:ext cx="1773936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35824" y="380390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7735824" y="41788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能力标准</a:t>
            </a:r>
            <a:endParaRPr lang="zh-CN" sz="1420" dirty="0"/>
          </a:p>
        </p:txBody>
      </p:sp>
      <p:sp>
        <p:nvSpPr>
          <p:cNvPr id="45" name="Text 43"/>
          <p:cNvSpPr txBox="1"/>
          <p:nvPr/>
        </p:nvSpPr>
        <p:spPr>
          <a:xfrm>
            <a:off x="7735824" y="4581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做到什么程度算胜任</a:t>
            </a:r>
            <a:endParaRPr lang="zh-CN" sz="1000" dirty="0"/>
          </a:p>
        </p:txBody>
      </p:sp>
      <p:sp>
        <p:nvSpPr>
          <p:cNvPr id="46" name="Shape 44"/>
          <p:cNvSpPr/>
          <p:nvPr/>
        </p:nvSpPr>
        <p:spPr>
          <a:xfrm>
            <a:off x="9555480" y="3584448"/>
            <a:ext cx="1773936" cy="1645920"/>
          </a:xfrm>
          <a:prstGeom prst="rect">
            <a:avLst/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20072" y="380390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9720072" y="41788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训练优先级</a:t>
            </a:r>
            <a:endParaRPr lang="zh-CN" sz="1420" dirty="0"/>
          </a:p>
        </p:txBody>
      </p:sp>
      <p:sp>
        <p:nvSpPr>
          <p:cNvPr id="49" name="Text 47"/>
          <p:cNvSpPr txBox="1"/>
          <p:nvPr/>
        </p:nvSpPr>
        <p:spPr>
          <a:xfrm>
            <a:off x="9720072" y="458114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先训练哪些高风险或高频任务</a:t>
            </a:r>
            <a:endParaRPr lang="zh-CN" sz="1000" dirty="0"/>
          </a:p>
        </p:txBody>
      </p:sp>
      <p:sp>
        <p:nvSpPr>
          <p:cNvPr id="50" name="Shape 48"/>
          <p:cNvSpPr/>
          <p:nvPr/>
        </p:nvSpPr>
        <p:spPr>
          <a:xfrm>
            <a:off x="7571232" y="5559552"/>
            <a:ext cx="3758184" cy="420624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54112" y="5660136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输出同时作为资料标签体系与内容生成提示词骨架</a:t>
            </a:r>
            <a:endParaRPr lang="zh-CN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资料盘点 / 建立岗位知识底座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先把已有资产看清楚，再决定需要生成什么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AI 完成资料的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识别、归类与体检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2587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制度流程</a:t>
            </a:r>
            <a:endParaRPr lang="zh-CN" sz="1160" dirty="0"/>
          </a:p>
        </p:txBody>
      </p:sp>
      <p:sp>
        <p:nvSpPr>
          <p:cNvPr id="8" name="Shape 6"/>
          <p:cNvSpPr/>
          <p:nvPr/>
        </p:nvSpPr>
        <p:spPr>
          <a:xfrm>
            <a:off x="2606040" y="246888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52344" y="2587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产品资料</a:t>
            </a:r>
            <a:endParaRPr lang="zh-CN" sz="116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" y="3227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课程课件</a:t>
            </a:r>
            <a:endParaRPr lang="zh-CN" sz="1160" dirty="0"/>
          </a:p>
        </p:txBody>
      </p:sp>
      <p:sp>
        <p:nvSpPr>
          <p:cNvPr id="12" name="Shape 10"/>
          <p:cNvSpPr/>
          <p:nvPr/>
        </p:nvSpPr>
        <p:spPr>
          <a:xfrm>
            <a:off x="2606040" y="310896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52344" y="3227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案例复盘</a:t>
            </a:r>
            <a:endParaRPr lang="zh-CN" sz="116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" y="3867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话术工具</a:t>
            </a:r>
            <a:endParaRPr lang="zh-CN" sz="1160" dirty="0"/>
          </a:p>
        </p:txBody>
      </p:sp>
      <p:sp>
        <p:nvSpPr>
          <p:cNvPr id="16" name="Shape 14"/>
          <p:cNvSpPr/>
          <p:nvPr/>
        </p:nvSpPr>
        <p:spPr>
          <a:xfrm>
            <a:off x="2606040" y="3749040"/>
            <a:ext cx="1755648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52344" y="3867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考试题库</a:t>
            </a:r>
            <a:endParaRPr lang="zh-CN" sz="1160" dirty="0"/>
          </a:p>
        </p:txBody>
      </p:sp>
      <p:sp>
        <p:nvSpPr>
          <p:cNvPr id="18" name="Shape 16"/>
          <p:cNvSpPr/>
          <p:nvPr/>
        </p:nvSpPr>
        <p:spPr>
          <a:xfrm>
            <a:off x="4572000" y="3383280"/>
            <a:ext cx="594360" cy="0"/>
          </a:xfrm>
          <a:prstGeom prst="line">
            <a:avLst/>
          </a:prstGeom>
          <a:noFill/>
          <a:ln w="1397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2103120"/>
            <a:ext cx="1572768" cy="2578608"/>
          </a:xfrm>
          <a:prstGeom prst="rect">
            <a:avLst/>
          </a:prstGeom>
          <a:solidFill>
            <a:srgbClr val="171717"/>
          </a:solidFill>
          <a:ln w="635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76672" y="24231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INVENTORY</a:t>
            </a:r>
            <a:endParaRPr lang="zh-CN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504688" y="2871216"/>
            <a:ext cx="89611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</a:t>
            </a:r>
            <a:endParaRPr lang="zh-CN" sz="1800" dirty="0"/>
          </a:p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去重</a:t>
            </a:r>
            <a:endParaRPr lang="zh-CN" sz="1800" dirty="0"/>
          </a:p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打标</a:t>
            </a:r>
            <a:endParaRPr lang="zh-CN" sz="1800" dirty="0"/>
          </a:p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评质</a:t>
            </a:r>
            <a:endParaRPr lang="zh-CN" sz="1800" dirty="0"/>
          </a:p>
        </p:txBody>
      </p:sp>
      <p:sp>
        <p:nvSpPr>
          <p:cNvPr id="22" name="Shape 20"/>
          <p:cNvSpPr/>
          <p:nvPr/>
        </p:nvSpPr>
        <p:spPr>
          <a:xfrm>
            <a:off x="6739128" y="3383280"/>
            <a:ext cx="594360" cy="0"/>
          </a:xfrm>
          <a:prstGeom prst="line">
            <a:avLst/>
          </a:prstGeom>
          <a:noFill/>
          <a:ln w="1397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42632" y="18562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岗位任务覆盖</a:t>
            </a:r>
            <a:endParaRPr lang="zh-CN" sz="122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186537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已覆盖 / 部分覆盖 / 缺失</a:t>
            </a:r>
            <a:endParaRPr lang="zh-CN" sz="1030" dirty="0"/>
          </a:p>
        </p:txBody>
      </p:sp>
      <p:sp>
        <p:nvSpPr>
          <p:cNvPr id="25" name="Shape 23"/>
          <p:cNvSpPr/>
          <p:nvPr/>
        </p:nvSpPr>
        <p:spPr>
          <a:xfrm>
            <a:off x="7342632" y="2212848"/>
            <a:ext cx="3822192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42632" y="2212848"/>
            <a:ext cx="3210641" cy="10972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42632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内容有效性</a:t>
            </a:r>
            <a:endParaRPr lang="zh-CN" sz="1220" dirty="0"/>
          </a:p>
        </p:txBody>
      </p:sp>
      <p:sp>
        <p:nvSpPr>
          <p:cNvPr id="28" name="Text 26"/>
          <p:cNvSpPr txBox="1"/>
          <p:nvPr/>
        </p:nvSpPr>
        <p:spPr>
          <a:xfrm>
            <a:off x="8796528" y="267919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现行 / 待复核 / 过期</a:t>
            </a:r>
            <a:endParaRPr lang="zh-CN" sz="1030" dirty="0"/>
          </a:p>
        </p:txBody>
      </p:sp>
      <p:sp>
        <p:nvSpPr>
          <p:cNvPr id="29" name="Shape 27"/>
          <p:cNvSpPr/>
          <p:nvPr/>
        </p:nvSpPr>
        <p:spPr>
          <a:xfrm>
            <a:off x="7342632" y="3026664"/>
            <a:ext cx="3822192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2632" y="3026664"/>
            <a:ext cx="2637312" cy="10972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42632" y="3483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内容质量</a:t>
            </a:r>
            <a:endParaRPr lang="zh-CN" sz="122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349300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可直接用 / 需改写 / 仅参考</a:t>
            </a:r>
            <a:endParaRPr lang="zh-CN" sz="1030" dirty="0"/>
          </a:p>
        </p:txBody>
      </p:sp>
      <p:sp>
        <p:nvSpPr>
          <p:cNvPr id="33" name="Shape 31"/>
          <p:cNvSpPr/>
          <p:nvPr/>
        </p:nvSpPr>
        <p:spPr>
          <a:xfrm>
            <a:off x="7342632" y="3840480"/>
            <a:ext cx="3822192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42632" y="3840480"/>
            <a:ext cx="2140428" cy="109728"/>
          </a:xfrm>
          <a:prstGeom prst="rect">
            <a:avLst/>
          </a:prstGeom>
          <a:solidFill>
            <a:srgbClr val="F15A24"/>
          </a:solidFill>
          <a:ln w="635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42632" y="42976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使用权限</a:t>
            </a:r>
            <a:endParaRPr lang="zh-CN" sz="1220" dirty="0"/>
          </a:p>
        </p:txBody>
      </p:sp>
      <p:sp>
        <p:nvSpPr>
          <p:cNvPr id="36" name="Text 34"/>
          <p:cNvSpPr txBox="1"/>
          <p:nvPr/>
        </p:nvSpPr>
        <p:spPr>
          <a:xfrm>
            <a:off x="8796528" y="430682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/ 内部 / 限定岗位</a:t>
            </a:r>
            <a:endParaRPr lang="zh-CN" sz="1030" dirty="0"/>
          </a:p>
        </p:txBody>
      </p:sp>
      <p:sp>
        <p:nvSpPr>
          <p:cNvPr id="37" name="Shape 35"/>
          <p:cNvSpPr/>
          <p:nvPr/>
        </p:nvSpPr>
        <p:spPr>
          <a:xfrm>
            <a:off x="7342632" y="4654296"/>
            <a:ext cx="3822192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42632" y="4654296"/>
            <a:ext cx="2904866" cy="10972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42632" y="5193792"/>
            <a:ext cx="3822192" cy="685800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34656" y="5321808"/>
            <a:ext cx="3447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输出：资料目录 + 标签 + 版本 +</a:t>
            </a:r>
            <a:endParaRPr lang="zh-CN" sz="1080" dirty="0"/>
          </a:p>
          <a:p>
            <a:pPr algn="ctr" indent="0" marL="0">
              <a:buNone/>
            </a:pPr>
            <a:r>
              <a:rPr lang="zh-CN" altLang="en-US" sz="108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质量等级 + 内容缺口地图</a:t>
            </a:r>
            <a:endParaRPr lang="zh-CN" sz="1080" dirty="0"/>
          </a:p>
        </p:txBody>
      </p:sp>
      <p:sp>
        <p:nvSpPr>
          <p:cNvPr id="41" name="Shape 39"/>
          <p:cNvSpPr/>
          <p:nvPr/>
        </p:nvSpPr>
        <p:spPr>
          <a:xfrm>
            <a:off x="594360" y="4864608"/>
            <a:ext cx="6144768" cy="1014984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50749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关键原则</a:t>
            </a:r>
            <a:endParaRPr lang="zh-CN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828800" y="50109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有资料先复用；资料不足再生成；事实冲突必须交给专家确认。</a:t>
            </a:r>
            <a:endParaRPr lang="zh-CN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内容生成 / 一源多形态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围绕岗位任务生成，而不是围绕文档做摘要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4709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一套岗位知识底座，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生成多种学习内容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780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24597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4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训练目标</a:t>
            </a:r>
            <a:endParaRPr lang="zh-CN" sz="124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478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来自岗位画像</a:t>
            </a:r>
            <a:endParaRPr lang="zh-CN" sz="106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998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0815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4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事实素材</a:t>
            </a:r>
            <a:endParaRPr lang="zh-CN" sz="124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0998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来自已确认资料</a:t>
            </a:r>
            <a:endParaRPr lang="zh-CN" sz="1060" dirty="0"/>
          </a:p>
        </p:txBody>
      </p:sp>
      <p:sp>
        <p:nvSpPr>
          <p:cNvPr id="14" name="Shape 12"/>
          <p:cNvSpPr/>
          <p:nvPr/>
        </p:nvSpPr>
        <p:spPr>
          <a:xfrm>
            <a:off x="594360" y="37124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7216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3703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4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适用人群</a:t>
            </a:r>
            <a:endParaRPr lang="zh-CN" sz="124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岗位、级别与场景</a:t>
            </a:r>
            <a:endParaRPr lang="zh-CN" sz="1060" dirty="0"/>
          </a:p>
        </p:txBody>
      </p:sp>
      <p:sp>
        <p:nvSpPr>
          <p:cNvPr id="18" name="Shape 16"/>
          <p:cNvSpPr/>
          <p:nvPr/>
        </p:nvSpPr>
        <p:spPr>
          <a:xfrm>
            <a:off x="594360" y="433425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3434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" y="43251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4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内容约束</a:t>
            </a:r>
            <a:endParaRPr lang="zh-CN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口径、权限与时长</a:t>
            </a:r>
            <a:endParaRPr lang="zh-CN" sz="1060" dirty="0"/>
          </a:p>
        </p:txBody>
      </p:sp>
      <p:sp>
        <p:nvSpPr>
          <p:cNvPr id="22" name="Shape 20"/>
          <p:cNvSpPr/>
          <p:nvPr/>
        </p:nvSpPr>
        <p:spPr>
          <a:xfrm>
            <a:off x="4892040" y="3474720"/>
            <a:ext cx="530352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22392" y="2139696"/>
            <a:ext cx="1691640" cy="2770632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24871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 FACTORY</a:t>
            </a:r>
            <a:endParaRPr lang="zh-CN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650992" y="2907792"/>
            <a:ext cx="1234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拆解任务</a:t>
            </a:r>
            <a:endParaRPr lang="zh-CN" sz="1670" dirty="0"/>
          </a:p>
          <a:p>
            <a:pPr algn="ctr" indent="0" marL="0">
              <a:buNone/>
            </a:pPr>
            <a:r>
              <a:rPr lang="zh-CN" altLang="en-US" sz="1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组合素材</a:t>
            </a:r>
            <a:endParaRPr lang="zh-CN" sz="1670" dirty="0"/>
          </a:p>
          <a:p>
            <a:pPr algn="ctr" indent="0" marL="0">
              <a:buNone/>
            </a:pPr>
            <a:r>
              <a:rPr lang="zh-CN" altLang="en-US" sz="1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适配难度</a:t>
            </a:r>
            <a:endParaRPr lang="zh-CN" sz="1670" dirty="0"/>
          </a:p>
          <a:p>
            <a:pPr algn="ctr" indent="0" marL="0">
              <a:buNone/>
            </a:pPr>
            <a:r>
              <a:rPr lang="zh-CN" altLang="en-US" sz="1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生成初稿</a:t>
            </a:r>
            <a:endParaRPr lang="zh-CN" sz="1670" dirty="0"/>
          </a:p>
        </p:txBody>
      </p:sp>
      <p:sp>
        <p:nvSpPr>
          <p:cNvPr id="26" name="Shape 24"/>
          <p:cNvSpPr/>
          <p:nvPr/>
        </p:nvSpPr>
        <p:spPr>
          <a:xfrm>
            <a:off x="5650992" y="440740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42432" y="4471416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引用可追溯</a:t>
            </a:r>
            <a:endParaRPr lang="zh-CN" sz="950" dirty="0"/>
          </a:p>
        </p:txBody>
      </p:sp>
      <p:sp>
        <p:nvSpPr>
          <p:cNvPr id="28" name="Shape 26"/>
          <p:cNvSpPr/>
          <p:nvPr/>
        </p:nvSpPr>
        <p:spPr>
          <a:xfrm>
            <a:off x="7114032" y="3474720"/>
            <a:ext cx="530352" cy="0"/>
          </a:xfrm>
          <a:prstGeom prst="line">
            <a:avLst/>
          </a:prstGeom>
          <a:noFill/>
          <a:ln w="1524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44384" y="1417320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9832" y="1636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微课脚本</a:t>
            </a:r>
            <a:endParaRPr lang="zh-CN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7799832" y="20574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讲清概念与步骤</a:t>
            </a:r>
            <a:endParaRPr lang="zh-CN" sz="970" dirty="0"/>
          </a:p>
        </p:txBody>
      </p:sp>
      <p:sp>
        <p:nvSpPr>
          <p:cNvPr id="32" name="Shape 30"/>
          <p:cNvSpPr/>
          <p:nvPr/>
        </p:nvSpPr>
        <p:spPr>
          <a:xfrm>
            <a:off x="9546336" y="1417320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01784" y="1636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情境案例</a:t>
            </a:r>
            <a:endParaRPr lang="zh-CN" sz="1320" dirty="0"/>
          </a:p>
        </p:txBody>
      </p:sp>
      <p:sp>
        <p:nvSpPr>
          <p:cNvPr id="34" name="Text 32"/>
          <p:cNvSpPr txBox="1"/>
          <p:nvPr/>
        </p:nvSpPr>
        <p:spPr>
          <a:xfrm>
            <a:off x="9701784" y="20574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还原岗位判断</a:t>
            </a:r>
            <a:endParaRPr lang="zh-CN" sz="970" dirty="0"/>
          </a:p>
        </p:txBody>
      </p:sp>
      <p:sp>
        <p:nvSpPr>
          <p:cNvPr id="35" name="Shape 33"/>
          <p:cNvSpPr/>
          <p:nvPr/>
        </p:nvSpPr>
        <p:spPr>
          <a:xfrm>
            <a:off x="7644384" y="2807208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99832" y="3026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练习任务</a:t>
            </a:r>
            <a:endParaRPr lang="zh-CN" sz="1320" dirty="0"/>
          </a:p>
        </p:txBody>
      </p:sp>
      <p:sp>
        <p:nvSpPr>
          <p:cNvPr id="37" name="Text 35"/>
          <p:cNvSpPr txBox="1"/>
          <p:nvPr/>
        </p:nvSpPr>
        <p:spPr>
          <a:xfrm>
            <a:off x="7799832" y="344728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在工作中做一次</a:t>
            </a:r>
            <a:endParaRPr lang="zh-CN" sz="970" dirty="0"/>
          </a:p>
        </p:txBody>
      </p:sp>
      <p:sp>
        <p:nvSpPr>
          <p:cNvPr id="38" name="Shape 36"/>
          <p:cNvSpPr/>
          <p:nvPr/>
        </p:nvSpPr>
        <p:spPr>
          <a:xfrm>
            <a:off x="9546336" y="2807208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01784" y="3026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话术 / SOP</a:t>
            </a:r>
            <a:endParaRPr lang="zh-CN" sz="1320" dirty="0"/>
          </a:p>
        </p:txBody>
      </p:sp>
      <p:sp>
        <p:nvSpPr>
          <p:cNvPr id="40" name="Text 38"/>
          <p:cNvSpPr txBox="1"/>
          <p:nvPr/>
        </p:nvSpPr>
        <p:spPr>
          <a:xfrm>
            <a:off x="9701784" y="344728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随用随查</a:t>
            </a:r>
            <a:endParaRPr lang="zh-CN" sz="970" dirty="0"/>
          </a:p>
        </p:txBody>
      </p:sp>
      <p:sp>
        <p:nvSpPr>
          <p:cNvPr id="41" name="Shape 39"/>
          <p:cNvSpPr/>
          <p:nvPr/>
        </p:nvSpPr>
        <p:spPr>
          <a:xfrm>
            <a:off x="7644384" y="4197096"/>
            <a:ext cx="1700784" cy="1207008"/>
          </a:xfrm>
          <a:prstGeom prst="rect">
            <a:avLst/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99832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测验题</a:t>
            </a:r>
            <a:endParaRPr lang="zh-CN" sz="1320" dirty="0"/>
          </a:p>
        </p:txBody>
      </p:sp>
      <p:sp>
        <p:nvSpPr>
          <p:cNvPr id="43" name="Text 41"/>
          <p:cNvSpPr txBox="1"/>
          <p:nvPr/>
        </p:nvSpPr>
        <p:spPr>
          <a:xfrm>
            <a:off x="7799832" y="48371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验证是否掌握</a:t>
            </a:r>
            <a:endParaRPr lang="zh-CN" sz="970" dirty="0"/>
          </a:p>
        </p:txBody>
      </p:sp>
      <p:sp>
        <p:nvSpPr>
          <p:cNvPr id="44" name="Shape 42"/>
          <p:cNvSpPr/>
          <p:nvPr/>
        </p:nvSpPr>
        <p:spPr>
          <a:xfrm>
            <a:off x="9546336" y="4197096"/>
            <a:ext cx="1700784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1784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更新包</a:t>
            </a:r>
            <a:endParaRPr lang="zh-CN" sz="1320" dirty="0"/>
          </a:p>
        </p:txBody>
      </p:sp>
      <p:sp>
        <p:nvSpPr>
          <p:cNvPr id="46" name="Text 44"/>
          <p:cNvSpPr txBox="1"/>
          <p:nvPr/>
        </p:nvSpPr>
        <p:spPr>
          <a:xfrm>
            <a:off x="9701784" y="48371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新资料触发修订建议</a:t>
            </a:r>
            <a:endParaRPr lang="zh-CN" sz="970" dirty="0"/>
          </a:p>
        </p:txBody>
      </p:sp>
      <p:sp>
        <p:nvSpPr>
          <p:cNvPr id="47" name="Shape 45"/>
          <p:cNvSpPr/>
          <p:nvPr/>
        </p:nvSpPr>
        <p:spPr>
          <a:xfrm>
            <a:off x="594360" y="5577840"/>
            <a:ext cx="11000232" cy="43891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5696712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每份生成内容都绑定：岗位任务、来源资料、适用场景、审核人和版本。</a:t>
            </a:r>
            <a:endParaRPr lang="zh-CN" sz="1180" dirty="0"/>
          </a:p>
        </p:txBody>
      </p:sp>
      <p:sp>
        <p:nvSpPr>
          <p:cNvPr id="49" name="Text 47"/>
          <p:cNvSpPr txBox="1"/>
          <p:nvPr/>
        </p:nvSpPr>
        <p:spPr>
          <a:xfrm>
            <a:off x="8549640" y="572414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生成得快，也要知道依据是什么</a:t>
            </a:r>
            <a:endParaRPr lang="zh-CN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专属场景 / 班组长培训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围绕现场管理任务，形成 30 天上岗训练路径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074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班组长：从“会干活”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到“带好一个班组”</a:t>
            </a:r>
            <a:endParaRPr lang="zh-CN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4942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把分散的制度、现场案例和优秀班组经验，</a:t>
            </a:r>
            <a:endParaRPr lang="zh-CN" sz="1260" dirty="0"/>
          </a:p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组织成每天可执行的训练任务。</a:t>
            </a:r>
            <a:endParaRPr lang="zh-CN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9923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907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关键任务</a:t>
            </a:r>
            <a:endParaRPr lang="zh-CN" sz="123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916936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排班交接 / 安全质量 / 异常处置 / 班组辅导</a:t>
            </a:r>
            <a:endParaRPr lang="zh-CN" sz="1060" dirty="0"/>
          </a:p>
        </p:txBody>
      </p:sp>
      <p:sp>
        <p:nvSpPr>
          <p:cNvPr id="10" name="Shape 8"/>
          <p:cNvSpPr/>
          <p:nvPr/>
        </p:nvSpPr>
        <p:spPr>
          <a:xfrm>
            <a:off x="1033272" y="3419856"/>
            <a:ext cx="43434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7216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3630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重点资料</a:t>
            </a:r>
            <a:endParaRPr lang="zh-CN" sz="123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639312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作业标准 / 安全制度 / 质量案例 / 班前会记录</a:t>
            </a:r>
            <a:endParaRPr lang="zh-CN" sz="1060" dirty="0"/>
          </a:p>
        </p:txBody>
      </p:sp>
      <p:sp>
        <p:nvSpPr>
          <p:cNvPr id="14" name="Shape 12"/>
          <p:cNvSpPr/>
          <p:nvPr/>
        </p:nvSpPr>
        <p:spPr>
          <a:xfrm>
            <a:off x="1033272" y="4142232"/>
            <a:ext cx="43434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443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" y="43525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内容形态</a:t>
            </a:r>
            <a:endParaRPr lang="zh-CN" sz="123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36168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微课 / 情境题 / 班前会卡 / 现场观察表</a:t>
            </a:r>
            <a:endParaRPr lang="zh-CN" sz="1060" dirty="0"/>
          </a:p>
        </p:txBody>
      </p:sp>
      <p:sp>
        <p:nvSpPr>
          <p:cNvPr id="18" name="Shape 16"/>
          <p:cNvSpPr/>
          <p:nvPr/>
        </p:nvSpPr>
        <p:spPr>
          <a:xfrm>
            <a:off x="1033272" y="4864608"/>
            <a:ext cx="43434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5340096"/>
            <a:ext cx="4910328" cy="484632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477256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运营人员只需确认：岗位重点、案例真实性、现场工具可执行。</a:t>
            </a:r>
            <a:endParaRPr lang="zh-CN" sz="1120" dirty="0"/>
          </a:p>
        </p:txBody>
      </p:sp>
      <p:sp>
        <p:nvSpPr>
          <p:cNvPr id="21" name="Shape 19"/>
          <p:cNvSpPr/>
          <p:nvPr/>
        </p:nvSpPr>
        <p:spPr>
          <a:xfrm>
            <a:off x="5897880" y="1371600"/>
            <a:ext cx="2542032" cy="182880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9048" y="1627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D01–03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99048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角色切换</a:t>
            </a:r>
            <a:endParaRPr lang="zh-CN" sz="1620" dirty="0"/>
          </a:p>
        </p:txBody>
      </p:sp>
      <p:sp>
        <p:nvSpPr>
          <p:cNvPr id="24" name="Text 22"/>
          <p:cNvSpPr txBox="1"/>
          <p:nvPr/>
        </p:nvSpPr>
        <p:spPr>
          <a:xfrm>
            <a:off x="6099048" y="247802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班组长职责、交接班与现场红线</a:t>
            </a:r>
            <a:endParaRPr lang="zh-CN" sz="1020" dirty="0"/>
          </a:p>
        </p:txBody>
      </p:sp>
      <p:sp>
        <p:nvSpPr>
          <p:cNvPr id="25" name="Shape 23"/>
          <p:cNvSpPr/>
          <p:nvPr/>
        </p:nvSpPr>
        <p:spPr>
          <a:xfrm>
            <a:off x="8686800" y="1371600"/>
            <a:ext cx="2542032" cy="182880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87968" y="1627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D04–10</a:t>
            </a:r>
            <a:endParaRPr lang="zh-CN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887968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稳住现场</a:t>
            </a:r>
            <a:endParaRPr lang="zh-CN" sz="1620" dirty="0"/>
          </a:p>
        </p:txBody>
      </p:sp>
      <p:sp>
        <p:nvSpPr>
          <p:cNvPr id="28" name="Text 26"/>
          <p:cNvSpPr txBox="1"/>
          <p:nvPr/>
        </p:nvSpPr>
        <p:spPr>
          <a:xfrm>
            <a:off x="8887968" y="247802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安全、质量、产能与异常快速处置</a:t>
            </a:r>
            <a:endParaRPr lang="zh-CN" sz="1020" dirty="0"/>
          </a:p>
        </p:txBody>
      </p:sp>
      <p:sp>
        <p:nvSpPr>
          <p:cNvPr id="29" name="Shape 27"/>
          <p:cNvSpPr/>
          <p:nvPr/>
        </p:nvSpPr>
        <p:spPr>
          <a:xfrm>
            <a:off x="5897880" y="3520440"/>
            <a:ext cx="2542032" cy="182880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99048" y="3776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D11–20</a:t>
            </a:r>
            <a:endParaRPr lang="zh-CN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41788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带好团队</a:t>
            </a:r>
            <a:endParaRPr lang="zh-CN" sz="1620" dirty="0"/>
          </a:p>
        </p:txBody>
      </p:sp>
      <p:sp>
        <p:nvSpPr>
          <p:cNvPr id="32" name="Text 30"/>
          <p:cNvSpPr txBox="1"/>
          <p:nvPr/>
        </p:nvSpPr>
        <p:spPr>
          <a:xfrm>
            <a:off x="6099048" y="462686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班前会、反馈、辅导与冲突处理</a:t>
            </a:r>
            <a:endParaRPr lang="zh-CN" sz="1020" dirty="0"/>
          </a:p>
        </p:txBody>
      </p:sp>
      <p:sp>
        <p:nvSpPr>
          <p:cNvPr id="33" name="Shape 31"/>
          <p:cNvSpPr/>
          <p:nvPr/>
        </p:nvSpPr>
        <p:spPr>
          <a:xfrm>
            <a:off x="8686800" y="3520440"/>
            <a:ext cx="2542032" cy="1828800"/>
          </a:xfrm>
          <a:prstGeom prst="rect">
            <a:avLst/>
          </a:prstGeom>
          <a:solidFill>
            <a:srgbClr val="002FA7"/>
          </a:solidFill>
          <a:ln w="8255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87968" y="3776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D21–30</a:t>
            </a:r>
            <a:endParaRPr lang="zh-CN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887968" y="41788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改善闭环</a:t>
            </a:r>
            <a:endParaRPr lang="zh-CN" sz="1620" dirty="0"/>
          </a:p>
        </p:txBody>
      </p:sp>
      <p:sp>
        <p:nvSpPr>
          <p:cNvPr id="36" name="Text 34"/>
          <p:cNvSpPr txBox="1"/>
          <p:nvPr/>
        </p:nvSpPr>
        <p:spPr>
          <a:xfrm>
            <a:off x="8887968" y="462686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问题分析、改善提案与成果复盘</a:t>
            </a:r>
            <a:endParaRPr lang="zh-CN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专属场景 / 销售人员培训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围绕销售关键动作，形成 21 天战训路径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销售人员：从“知道产品”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到“赢下真实机会”</a:t>
            </a:r>
            <a:endParaRPr lang="zh-CN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677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将产品、案例、客户异议与优秀话术按销售阶段重组，并持续吸收一线反馈。</a:t>
            </a:r>
            <a:endParaRPr lang="zh-CN" sz="1270" dirty="0"/>
          </a:p>
        </p:txBody>
      </p:sp>
      <p:sp>
        <p:nvSpPr>
          <p:cNvPr id="7" name="Shape 5"/>
          <p:cNvSpPr/>
          <p:nvPr/>
        </p:nvSpPr>
        <p:spPr>
          <a:xfrm>
            <a:off x="594360" y="3035808"/>
            <a:ext cx="1965960" cy="135331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识别机会</a:t>
            </a:r>
            <a:endParaRPr lang="zh-CN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行业线索 / 客户画像</a:t>
            </a:r>
            <a:endParaRPr lang="zh-CN" sz="970" dirty="0"/>
          </a:p>
        </p:txBody>
      </p:sp>
      <p:sp>
        <p:nvSpPr>
          <p:cNvPr id="11" name="Shape 9"/>
          <p:cNvSpPr/>
          <p:nvPr/>
        </p:nvSpPr>
        <p:spPr>
          <a:xfrm>
            <a:off x="2560320" y="3712464"/>
            <a:ext cx="24688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07208" y="3035808"/>
            <a:ext cx="1965960" cy="135331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2656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发现需求</a:t>
            </a:r>
            <a:endParaRPr lang="zh-CN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2962656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访谈问题 / 痛点判断</a:t>
            </a:r>
            <a:endParaRPr lang="zh-CN" sz="970" dirty="0"/>
          </a:p>
        </p:txBody>
      </p:sp>
      <p:sp>
        <p:nvSpPr>
          <p:cNvPr id="16" name="Shape 14"/>
          <p:cNvSpPr/>
          <p:nvPr/>
        </p:nvSpPr>
        <p:spPr>
          <a:xfrm>
            <a:off x="4773168" y="3712464"/>
            <a:ext cx="24688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0056" y="3035808"/>
            <a:ext cx="1965960" cy="135331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75504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形成方案</a:t>
            </a:r>
            <a:endParaRPr lang="zh-CN" sz="1430" dirty="0"/>
          </a:p>
        </p:txBody>
      </p:sp>
      <p:sp>
        <p:nvSpPr>
          <p:cNvPr id="20" name="Text 18"/>
          <p:cNvSpPr txBox="1"/>
          <p:nvPr/>
        </p:nvSpPr>
        <p:spPr>
          <a:xfrm>
            <a:off x="5175504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产品价值 / 方案组合</a:t>
            </a:r>
            <a:endParaRPr lang="zh-CN" sz="970" dirty="0"/>
          </a:p>
        </p:txBody>
      </p:sp>
      <p:sp>
        <p:nvSpPr>
          <p:cNvPr id="21" name="Shape 19"/>
          <p:cNvSpPr/>
          <p:nvPr/>
        </p:nvSpPr>
        <p:spPr>
          <a:xfrm>
            <a:off x="6986016" y="3712464"/>
            <a:ext cx="24688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32904" y="3035808"/>
            <a:ext cx="1965960" cy="1353312"/>
          </a:xfrm>
          <a:prstGeom prst="rect">
            <a:avLst/>
          </a:prstGeom>
          <a:solidFill>
            <a:srgbClr val="002FA7"/>
          </a:solidFill>
          <a:ln w="8255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88352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处理异议</a:t>
            </a:r>
            <a:endParaRPr lang="zh-CN" sz="143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竞品对比 / 常见异议</a:t>
            </a:r>
            <a:endParaRPr lang="zh-CN" sz="970" dirty="0"/>
          </a:p>
        </p:txBody>
      </p:sp>
      <p:sp>
        <p:nvSpPr>
          <p:cNvPr id="26" name="Shape 24"/>
          <p:cNvSpPr/>
          <p:nvPr/>
        </p:nvSpPr>
        <p:spPr>
          <a:xfrm>
            <a:off x="9198864" y="3712464"/>
            <a:ext cx="24688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45752" y="3035808"/>
            <a:ext cx="1965960" cy="135331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0" y="3255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zh-CN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5935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推进成交</a:t>
            </a:r>
            <a:endParaRPr lang="zh-CN" sz="143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396849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关键人 / 下一步承诺</a:t>
            </a:r>
            <a:endParaRPr lang="zh-CN" sz="970" dirty="0"/>
          </a:p>
        </p:txBody>
      </p:sp>
      <p:sp>
        <p:nvSpPr>
          <p:cNvPr id="31" name="Shape 29"/>
          <p:cNvSpPr/>
          <p:nvPr/>
        </p:nvSpPr>
        <p:spPr>
          <a:xfrm>
            <a:off x="594360" y="4846320"/>
            <a:ext cx="3383280" cy="960120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" y="5056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D01–05</a:t>
            </a:r>
            <a:endParaRPr lang="zh-CN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527048" y="4983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知识校准</a:t>
            </a:r>
            <a:endParaRPr lang="zh-CN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1527048" y="531266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产品与行业微课 + 快速测验</a:t>
            </a:r>
            <a:endParaRPr lang="zh-CN" sz="970" dirty="0"/>
          </a:p>
        </p:txBody>
      </p:sp>
      <p:sp>
        <p:nvSpPr>
          <p:cNvPr id="35" name="Shape 33"/>
          <p:cNvSpPr/>
          <p:nvPr/>
        </p:nvSpPr>
        <p:spPr>
          <a:xfrm>
            <a:off x="4251960" y="4846320"/>
            <a:ext cx="3383280" cy="960120"/>
          </a:xfrm>
          <a:prstGeom prst="rect">
            <a:avLst/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16552" y="5056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D06–12</a:t>
            </a:r>
            <a:endParaRPr lang="zh-CN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5184648" y="4983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场景演练</a:t>
            </a:r>
            <a:endParaRPr lang="zh-CN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5184648" y="531266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客户访谈、方案表达与异议陪练</a:t>
            </a:r>
            <a:endParaRPr lang="zh-CN" sz="970" dirty="0"/>
          </a:p>
        </p:txBody>
      </p:sp>
      <p:sp>
        <p:nvSpPr>
          <p:cNvPr id="39" name="Shape 37"/>
          <p:cNvSpPr/>
          <p:nvPr/>
        </p:nvSpPr>
        <p:spPr>
          <a:xfrm>
            <a:off x="7909560" y="4846320"/>
            <a:ext cx="3383280" cy="960120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74152" y="5056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D13–21</a:t>
            </a:r>
            <a:endParaRPr lang="zh-CN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842248" y="4983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实战转化</a:t>
            </a:r>
            <a:endParaRPr lang="zh-CN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8842248" y="531266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真实商机任务 + 经理点评 + 案例沉淀</a:t>
            </a:r>
            <a:endParaRPr lang="zh-CN" sz="97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61996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新增产品、竞品变化和成功案例可触发内容更新建议</a:t>
            </a:r>
            <a:endParaRPr lang="zh-CN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运营机制 / 人机协同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做重活，业务专家把关关键判断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不是让 AI 替人负责，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而是让人只负责重要的事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578608"/>
            <a:ext cx="1417320" cy="758952"/>
          </a:xfrm>
          <a:prstGeom prst="rect">
            <a:avLst/>
          </a:prstGeom>
          <a:solidFill>
            <a:srgbClr val="002FA7"/>
          </a:solidFill>
          <a:ln w="762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79806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</a:t>
            </a:r>
            <a:endParaRPr lang="zh-CN" sz="1350" dirty="0"/>
          </a:p>
        </p:txBody>
      </p:sp>
      <p:sp>
        <p:nvSpPr>
          <p:cNvPr id="8" name="Shape 6"/>
          <p:cNvSpPr/>
          <p:nvPr/>
        </p:nvSpPr>
        <p:spPr>
          <a:xfrm>
            <a:off x="2331720" y="2578608"/>
            <a:ext cx="1993392" cy="758952"/>
          </a:xfrm>
          <a:prstGeom prst="rect">
            <a:avLst/>
          </a:prstGeom>
          <a:solidFill>
            <a:srgbClr val="23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78024" y="28072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读岗位与资料</a:t>
            </a:r>
            <a:endParaRPr lang="zh-CN" sz="1110" dirty="0"/>
          </a:p>
        </p:txBody>
      </p:sp>
      <p:sp>
        <p:nvSpPr>
          <p:cNvPr id="10" name="Shape 8"/>
          <p:cNvSpPr/>
          <p:nvPr/>
        </p:nvSpPr>
        <p:spPr>
          <a:xfrm>
            <a:off x="4325112" y="2962656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2578608"/>
            <a:ext cx="1993392" cy="758952"/>
          </a:xfrm>
          <a:prstGeom prst="rect">
            <a:avLst/>
          </a:prstGeom>
          <a:solidFill>
            <a:srgbClr val="23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64024" y="28072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抽取和打标</a:t>
            </a:r>
            <a:endParaRPr lang="zh-CN" sz="1110" dirty="0"/>
          </a:p>
        </p:txBody>
      </p:sp>
      <p:sp>
        <p:nvSpPr>
          <p:cNvPr id="13" name="Shape 11"/>
          <p:cNvSpPr/>
          <p:nvPr/>
        </p:nvSpPr>
        <p:spPr>
          <a:xfrm>
            <a:off x="6611112" y="2962656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2578608"/>
            <a:ext cx="1993392" cy="758952"/>
          </a:xfrm>
          <a:prstGeom prst="rect">
            <a:avLst/>
          </a:prstGeom>
          <a:solidFill>
            <a:srgbClr val="23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50024" y="28072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生成内容初稿</a:t>
            </a:r>
            <a:endParaRPr lang="zh-CN" sz="1110" dirty="0"/>
          </a:p>
        </p:txBody>
      </p:sp>
      <p:sp>
        <p:nvSpPr>
          <p:cNvPr id="16" name="Shape 14"/>
          <p:cNvSpPr/>
          <p:nvPr/>
        </p:nvSpPr>
        <p:spPr>
          <a:xfrm>
            <a:off x="8897112" y="2962656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89720" y="2578608"/>
            <a:ext cx="1993392" cy="758952"/>
          </a:xfrm>
          <a:prstGeom prst="rect">
            <a:avLst/>
          </a:prstGeom>
          <a:solidFill>
            <a:srgbClr val="23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36024" y="280720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发现变化并建议更新</a:t>
            </a:r>
            <a:endParaRPr lang="zh-CN" sz="1110" dirty="0"/>
          </a:p>
        </p:txBody>
      </p:sp>
      <p:sp>
        <p:nvSpPr>
          <p:cNvPr id="19" name="Shape 17"/>
          <p:cNvSpPr/>
          <p:nvPr/>
        </p:nvSpPr>
        <p:spPr>
          <a:xfrm>
            <a:off x="594360" y="3611880"/>
            <a:ext cx="1417320" cy="758952"/>
          </a:xfrm>
          <a:prstGeom prst="rect">
            <a:avLst/>
          </a:prstGeom>
          <a:solidFill>
            <a:srgbClr val="00A896"/>
          </a:solidFill>
          <a:ln w="762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8313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业务专家</a:t>
            </a:r>
            <a:endParaRPr lang="zh-CN" sz="1350" dirty="0"/>
          </a:p>
        </p:txBody>
      </p:sp>
      <p:sp>
        <p:nvSpPr>
          <p:cNvPr id="21" name="Shape 19"/>
          <p:cNvSpPr/>
          <p:nvPr/>
        </p:nvSpPr>
        <p:spPr>
          <a:xfrm>
            <a:off x="2331720" y="3611880"/>
            <a:ext cx="1993392" cy="758952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78024" y="384048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确认关键任务</a:t>
            </a:r>
            <a:endParaRPr lang="zh-CN" sz="1110" dirty="0"/>
          </a:p>
        </p:txBody>
      </p:sp>
      <p:sp>
        <p:nvSpPr>
          <p:cNvPr id="23" name="Shape 21"/>
          <p:cNvSpPr/>
          <p:nvPr/>
        </p:nvSpPr>
        <p:spPr>
          <a:xfrm>
            <a:off x="4325112" y="3995928"/>
            <a:ext cx="292608" cy="0"/>
          </a:xfrm>
          <a:prstGeom prst="line">
            <a:avLst/>
          </a:prstGeom>
          <a:noFill/>
          <a:ln w="1079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17720" y="3611880"/>
            <a:ext cx="1993392" cy="758952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4024" y="384048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核验业务事实</a:t>
            </a:r>
            <a:endParaRPr lang="zh-CN" sz="1110" dirty="0"/>
          </a:p>
        </p:txBody>
      </p:sp>
      <p:sp>
        <p:nvSpPr>
          <p:cNvPr id="26" name="Shape 24"/>
          <p:cNvSpPr/>
          <p:nvPr/>
        </p:nvSpPr>
        <p:spPr>
          <a:xfrm>
            <a:off x="6611112" y="3995928"/>
            <a:ext cx="292608" cy="0"/>
          </a:xfrm>
          <a:prstGeom prst="line">
            <a:avLst/>
          </a:prstGeom>
          <a:noFill/>
          <a:ln w="1079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03720" y="3611880"/>
            <a:ext cx="1993392" cy="758952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50024" y="384048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判断案例与难度</a:t>
            </a:r>
            <a:endParaRPr lang="zh-CN" sz="1110" dirty="0"/>
          </a:p>
        </p:txBody>
      </p:sp>
      <p:sp>
        <p:nvSpPr>
          <p:cNvPr id="29" name="Shape 27"/>
          <p:cNvSpPr/>
          <p:nvPr/>
        </p:nvSpPr>
        <p:spPr>
          <a:xfrm>
            <a:off x="8897112" y="3995928"/>
            <a:ext cx="292608" cy="0"/>
          </a:xfrm>
          <a:prstGeom prst="line">
            <a:avLst/>
          </a:prstGeom>
          <a:noFill/>
          <a:ln w="1079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89720" y="3611880"/>
            <a:ext cx="1993392" cy="758952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36024" y="384048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批准发布与更新</a:t>
            </a:r>
            <a:endParaRPr lang="zh-CN" sz="1110" dirty="0"/>
          </a:p>
        </p:txBody>
      </p:sp>
      <p:sp>
        <p:nvSpPr>
          <p:cNvPr id="32" name="Shape 30"/>
          <p:cNvSpPr/>
          <p:nvPr/>
        </p:nvSpPr>
        <p:spPr>
          <a:xfrm>
            <a:off x="594360" y="4645152"/>
            <a:ext cx="1417320" cy="758952"/>
          </a:xfrm>
          <a:prstGeom prst="rect">
            <a:avLst/>
          </a:prstGeom>
          <a:solidFill>
            <a:srgbClr val="2A2A2A"/>
          </a:solidFill>
          <a:ln w="7620">
            <a:solidFill>
              <a:srgbClr val="6868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" y="48646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培训运营</a:t>
            </a:r>
            <a:endParaRPr lang="zh-CN" sz="1350" dirty="0"/>
          </a:p>
        </p:txBody>
      </p:sp>
      <p:sp>
        <p:nvSpPr>
          <p:cNvPr id="34" name="Shape 32"/>
          <p:cNvSpPr/>
          <p:nvPr/>
        </p:nvSpPr>
        <p:spPr>
          <a:xfrm>
            <a:off x="2331720" y="4645152"/>
            <a:ext cx="1993392" cy="758952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78024" y="4873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选择试点岗位</a:t>
            </a:r>
            <a:endParaRPr lang="zh-CN" sz="1110" dirty="0"/>
          </a:p>
        </p:txBody>
      </p:sp>
      <p:sp>
        <p:nvSpPr>
          <p:cNvPr id="36" name="Shape 34"/>
          <p:cNvSpPr/>
          <p:nvPr/>
        </p:nvSpPr>
        <p:spPr>
          <a:xfrm>
            <a:off x="4325112" y="5029200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617720" y="4645152"/>
            <a:ext cx="1993392" cy="758952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64024" y="4873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组织评审</a:t>
            </a:r>
            <a:endParaRPr lang="zh-CN" sz="1110" dirty="0"/>
          </a:p>
        </p:txBody>
      </p:sp>
      <p:sp>
        <p:nvSpPr>
          <p:cNvPr id="39" name="Shape 37"/>
          <p:cNvSpPr/>
          <p:nvPr/>
        </p:nvSpPr>
        <p:spPr>
          <a:xfrm>
            <a:off x="6611112" y="5029200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903720" y="4645152"/>
            <a:ext cx="1993392" cy="758952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50024" y="4873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配置学习路径</a:t>
            </a:r>
            <a:endParaRPr lang="zh-CN" sz="1110" dirty="0"/>
          </a:p>
        </p:txBody>
      </p:sp>
      <p:sp>
        <p:nvSpPr>
          <p:cNvPr id="42" name="Shape 40"/>
          <p:cNvSpPr/>
          <p:nvPr/>
        </p:nvSpPr>
        <p:spPr>
          <a:xfrm>
            <a:off x="8897112" y="5029200"/>
            <a:ext cx="292608" cy="0"/>
          </a:xfrm>
          <a:prstGeom prst="line">
            <a:avLst/>
          </a:prstGeom>
          <a:noFill/>
          <a:ln w="10795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89720" y="4645152"/>
            <a:ext cx="1993392" cy="758952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36024" y="4873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看数据并持续优化</a:t>
            </a:r>
            <a:endParaRPr lang="zh-CN" sz="1110" dirty="0"/>
          </a:p>
        </p:txBody>
      </p:sp>
      <p:sp>
        <p:nvSpPr>
          <p:cNvPr id="45" name="Shape 43"/>
          <p:cNvSpPr/>
          <p:nvPr/>
        </p:nvSpPr>
        <p:spPr>
          <a:xfrm>
            <a:off x="594360" y="5760720"/>
            <a:ext cx="11000232" cy="457200"/>
          </a:xfrm>
          <a:prstGeom prst="rect">
            <a:avLst/>
          </a:prstGeom>
          <a:solidFill>
            <a:srgbClr val="242424"/>
          </a:solidFill>
          <a:ln w="6350">
            <a:solidFill>
              <a:srgbClr val="242424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" y="58887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四条发布红线</a:t>
            </a:r>
            <a:endParaRPr lang="zh-CN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2039112" y="58338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事实有来源 · 内容有版本 · 权限有边界 · 发布有负责人</a:t>
            </a:r>
            <a:endParaRPr lang="zh-CN" sz="1210" dirty="0"/>
          </a:p>
        </p:txBody>
      </p:sp>
      <p:sp>
        <p:nvSpPr>
          <p:cNvPr id="48" name="Text 46"/>
          <p:cNvSpPr txBox="1"/>
          <p:nvPr/>
        </p:nvSpPr>
        <p:spPr>
          <a:xfrm>
            <a:off x="9189720" y="58978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过程可追溯</a:t>
            </a:r>
            <a:endParaRPr lang="zh-CN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· 试点落地 / 两类岗位并行验证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先跑通闭环，再复制到更多岗位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周完成首轮试点，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用过程指标验收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423160"/>
            <a:ext cx="1947672" cy="12984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准备</a:t>
            </a:r>
            <a:endParaRPr lang="zh-CN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选岗位、定专家、收资料</a:t>
            </a:r>
            <a:endParaRPr lang="zh-CN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3072384"/>
            <a:ext cx="265176" cy="0"/>
          </a:xfrm>
          <a:prstGeom prst="line">
            <a:avLst/>
          </a:prstGeom>
          <a:noFill/>
          <a:ln w="1206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07208" y="2423160"/>
            <a:ext cx="1947672" cy="12984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62656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W02–03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画像</a:t>
            </a:r>
            <a:endParaRPr lang="zh-CN" sz="136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生成并确认训练蓝图</a:t>
            </a:r>
            <a:endParaRPr lang="zh-CN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072384"/>
            <a:ext cx="265176" cy="0"/>
          </a:xfrm>
          <a:prstGeom prst="line">
            <a:avLst/>
          </a:prstGeom>
          <a:noFill/>
          <a:ln w="1206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0056" y="2423160"/>
            <a:ext cx="1947672" cy="12984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75504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W04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盘点</a:t>
            </a:r>
            <a:endParaRPr lang="zh-CN" sz="136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建资料库与缺口地图</a:t>
            </a:r>
            <a:endParaRPr lang="zh-CN" sz="950" dirty="0"/>
          </a:p>
        </p:txBody>
      </p:sp>
      <p:sp>
        <p:nvSpPr>
          <p:cNvPr id="20" name="Shape 18"/>
          <p:cNvSpPr/>
          <p:nvPr/>
        </p:nvSpPr>
        <p:spPr>
          <a:xfrm>
            <a:off x="6967728" y="3072384"/>
            <a:ext cx="265176" cy="0"/>
          </a:xfrm>
          <a:prstGeom prst="line">
            <a:avLst/>
          </a:prstGeom>
          <a:noFill/>
          <a:ln w="1206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32904" y="2423160"/>
            <a:ext cx="1947672" cy="1298448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88352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W05–06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388352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</a:t>
            </a:r>
            <a:endParaRPr lang="zh-CN" sz="1360" dirty="0"/>
          </a:p>
        </p:txBody>
      </p:sp>
      <p:sp>
        <p:nvSpPr>
          <p:cNvPr id="24" name="Text 22"/>
          <p:cNvSpPr txBox="1"/>
          <p:nvPr/>
        </p:nvSpPr>
        <p:spPr>
          <a:xfrm>
            <a:off x="7388352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生成内容并完成评审</a:t>
            </a:r>
            <a:endParaRPr lang="zh-CN" sz="950" dirty="0"/>
          </a:p>
        </p:txBody>
      </p:sp>
      <p:sp>
        <p:nvSpPr>
          <p:cNvPr id="25" name="Shape 23"/>
          <p:cNvSpPr/>
          <p:nvPr/>
        </p:nvSpPr>
        <p:spPr>
          <a:xfrm>
            <a:off x="9180576" y="3072384"/>
            <a:ext cx="265176" cy="0"/>
          </a:xfrm>
          <a:prstGeom prst="line">
            <a:avLst/>
          </a:prstGeom>
          <a:noFill/>
          <a:ln w="1206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445752" y="2423160"/>
            <a:ext cx="1947672" cy="12984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0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W07–08</a:t>
            </a:r>
            <a:endParaRPr lang="zh-CN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29535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投放</a:t>
            </a:r>
            <a:endParaRPr lang="zh-CN" sz="136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319272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班组长与销售试学复盘</a:t>
            </a:r>
            <a:endParaRPr lang="zh-CN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251960"/>
            <a:ext cx="2487168" cy="130759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44897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4818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画像可用性</a:t>
            </a:r>
            <a:endParaRPr lang="zh-CN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58952" y="5166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专家一次评审通过率</a:t>
            </a:r>
            <a:endParaRPr lang="zh-CN" sz="970" dirty="0"/>
          </a:p>
        </p:txBody>
      </p:sp>
      <p:sp>
        <p:nvSpPr>
          <p:cNvPr id="34" name="Shape 32"/>
          <p:cNvSpPr/>
          <p:nvPr/>
        </p:nvSpPr>
        <p:spPr>
          <a:xfrm>
            <a:off x="3337560" y="4251960"/>
            <a:ext cx="2487168" cy="130759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02152" y="44897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3502152" y="4818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资料复用率</a:t>
            </a:r>
            <a:endParaRPr lang="zh-CN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3502152" y="5166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生成内容引用既有资料比例</a:t>
            </a:r>
            <a:endParaRPr lang="zh-CN" sz="970" dirty="0"/>
          </a:p>
        </p:txBody>
      </p:sp>
      <p:sp>
        <p:nvSpPr>
          <p:cNvPr id="38" name="Shape 36"/>
          <p:cNvSpPr/>
          <p:nvPr/>
        </p:nvSpPr>
        <p:spPr>
          <a:xfrm>
            <a:off x="6080760" y="4251960"/>
            <a:ext cx="2487168" cy="130759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45352" y="44897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245352" y="4818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运营减负</a:t>
            </a:r>
            <a:endParaRPr lang="zh-CN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6245352" y="5166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人工整理与初稿工时变化</a:t>
            </a:r>
            <a:endParaRPr lang="zh-CN" sz="970" dirty="0"/>
          </a:p>
        </p:txBody>
      </p:sp>
      <p:sp>
        <p:nvSpPr>
          <p:cNvPr id="42" name="Shape 40"/>
          <p:cNvSpPr/>
          <p:nvPr/>
        </p:nvSpPr>
        <p:spPr>
          <a:xfrm>
            <a:off x="8823960" y="4251960"/>
            <a:ext cx="2487168" cy="130759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88552" y="44897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988552" y="4818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内容时效</a:t>
            </a:r>
            <a:endParaRPr lang="zh-CN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988552" y="5166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7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资料变化到更新建议的周期</a:t>
            </a:r>
            <a:endParaRPr lang="zh-CN" sz="970" dirty="0"/>
          </a:p>
        </p:txBody>
      </p:sp>
      <p:sp>
        <p:nvSpPr>
          <p:cNvPr id="46" name="Shape 44"/>
          <p:cNvSpPr/>
          <p:nvPr/>
        </p:nvSpPr>
        <p:spPr>
          <a:xfrm>
            <a:off x="594360" y="5870448"/>
            <a:ext cx="11000232" cy="347472"/>
          </a:xfrm>
          <a:prstGeom prst="rect">
            <a:avLst/>
          </a:prstGeom>
          <a:solidFill>
            <a:srgbClr val="E4F5F1"/>
          </a:solidFill>
          <a:ln w="6350">
            <a:solidFill>
              <a:srgbClr val="E4F5F1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8952" y="5943600"/>
            <a:ext cx="1067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首轮只验证闭环与减负，不追求一次覆盖全部岗位和全部历史资料</a:t>
            </a:r>
            <a:endParaRPr lang="zh-CN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海格汽车 · AI 岗位培训内容运营方案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52760" y="38404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11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6070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从一次性做课，转向持续运营岗位知识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5806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一岗一画像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一库一盘点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一需一内容</a:t>
            </a:r>
            <a:endParaRPr lang="zh-CN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79208" y="16276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572768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岗位画像</a:t>
            </a:r>
            <a:endParaRPr lang="zh-CN" sz="1480" dirty="0"/>
          </a:p>
        </p:txBody>
      </p:sp>
      <p:sp>
        <p:nvSpPr>
          <p:cNvPr id="8" name="Text 6"/>
          <p:cNvSpPr txBox="1"/>
          <p:nvPr/>
        </p:nvSpPr>
        <p:spPr>
          <a:xfrm>
            <a:off x="9308592" y="15819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明确岗位到底要训练什么</a:t>
            </a:r>
            <a:endParaRPr lang="zh-CN" sz="1020" dirty="0"/>
          </a:p>
        </p:txBody>
      </p:sp>
      <p:sp>
        <p:nvSpPr>
          <p:cNvPr id="9" name="Shape 7"/>
          <p:cNvSpPr/>
          <p:nvPr/>
        </p:nvSpPr>
        <p:spPr>
          <a:xfrm>
            <a:off x="7379208" y="2185416"/>
            <a:ext cx="3977640" cy="0"/>
          </a:xfrm>
          <a:prstGeom prst="line">
            <a:avLst/>
          </a:prstGeom>
          <a:noFill/>
          <a:ln w="5715">
            <a:solidFill>
              <a:srgbClr val="779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79208" y="283464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779776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资料盘点</a:t>
            </a:r>
            <a:endParaRPr lang="zh-CN" sz="1480" dirty="0"/>
          </a:p>
        </p:txBody>
      </p:sp>
      <p:sp>
        <p:nvSpPr>
          <p:cNvPr id="12" name="Text 10"/>
          <p:cNvSpPr txBox="1"/>
          <p:nvPr/>
        </p:nvSpPr>
        <p:spPr>
          <a:xfrm>
            <a:off x="9308592" y="27889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知道什么可复用、什么需补齐</a:t>
            </a:r>
            <a:endParaRPr lang="zh-CN" sz="1020" dirty="0"/>
          </a:p>
        </p:txBody>
      </p:sp>
      <p:sp>
        <p:nvSpPr>
          <p:cNvPr id="13" name="Shape 11"/>
          <p:cNvSpPr/>
          <p:nvPr/>
        </p:nvSpPr>
        <p:spPr>
          <a:xfrm>
            <a:off x="7379208" y="3392424"/>
            <a:ext cx="3977640" cy="0"/>
          </a:xfrm>
          <a:prstGeom prst="line">
            <a:avLst/>
          </a:prstGeom>
          <a:noFill/>
          <a:ln w="5715">
            <a:solidFill>
              <a:srgbClr val="779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79208" y="404164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0" kern="0" dirty="0">
                <a:solidFill>
                  <a:srgbClr val="00A8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986784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内容生成</a:t>
            </a:r>
            <a:endParaRPr lang="zh-CN" sz="1480" dirty="0"/>
          </a:p>
        </p:txBody>
      </p:sp>
      <p:sp>
        <p:nvSpPr>
          <p:cNvPr id="16" name="Text 14"/>
          <p:cNvSpPr txBox="1"/>
          <p:nvPr/>
        </p:nvSpPr>
        <p:spPr>
          <a:xfrm>
            <a:off x="9308592" y="3995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按场景快速形成可用学习内容</a:t>
            </a:r>
            <a:endParaRPr lang="zh-CN" sz="1020" dirty="0"/>
          </a:p>
        </p:txBody>
      </p:sp>
      <p:sp>
        <p:nvSpPr>
          <p:cNvPr id="17" name="Shape 15"/>
          <p:cNvSpPr/>
          <p:nvPr/>
        </p:nvSpPr>
        <p:spPr>
          <a:xfrm>
            <a:off x="7379208" y="4599432"/>
            <a:ext cx="3977640" cy="0"/>
          </a:xfrm>
          <a:prstGeom prst="line">
            <a:avLst/>
          </a:prstGeom>
          <a:noFill/>
          <a:ln w="5715">
            <a:solidFill>
              <a:srgbClr val="7790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5230368"/>
            <a:ext cx="11000232" cy="0"/>
          </a:xfrm>
          <a:prstGeom prst="line">
            <a:avLst/>
          </a:prstGeom>
          <a:noFill/>
          <a:ln w="698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4864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2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先做重活，专家负责判断，培训运营从“做内容”转向“运营能力”。</a:t>
            </a:r>
            <a:endParaRPr lang="zh-CN" sz="162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61630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TALENT DEVELOPMENT</a:t>
            </a:r>
            <a:endParaRPr lang="zh-CN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海格汽车 AI 岗位培训内容运营方案</dc:title>
  <dc:subject>AI 驱动岗位画像、资料盘点与学习内容生成</dc:subject>
  <dc:creator>时代光华</dc:creator>
  <cp:lastModifiedBy>时代光华</cp:lastModifiedBy>
  <cp:revision>1</cp:revision>
  <dcterms:created xsi:type="dcterms:W3CDTF">2026-09-02T02:17:16Z</dcterms:created>
  <dcterms:modified xsi:type="dcterms:W3CDTF">2026-09-02T02:17:16Z</dcterms:modified>
</cp:coreProperties>
</file>