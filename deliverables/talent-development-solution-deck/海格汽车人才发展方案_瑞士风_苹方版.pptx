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2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7" r:id="rId18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今天我想换个讲法，直接拿海格的一轮关键岗位人才发展来讲。
我们从岗位标准怎么建开始，接着看人才盘点、人岗匹配，再到个人 IDP 和培训项目。沿着业务实际怎么做，一步一步看系统怎么接。
接下来：先看海格这一轮到底要解决什么问题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业务先圈出一批关键岗位，也明确接下来需要什么样的人。
HR 接着要回答：现有的人到了什么水平，谁更适合这些岗位，还差哪些能力。
盘点结果出来以后，每个人怎么发展、共性问题怎么安排培训，也要一起定下来。
接下来：把整轮工作拆开看，一共六步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这轮工作一共六步。前两步在岗位中心完成，先定岗位，再把岗位要求建出来。
接着进入评鉴中心，把 360、测评、考试和绩效数据收进来。
盘点结果出来后，人才中心负责看人岗差距，发展中心把差距转成个人 IDP 或培训项目。前一步做出来的数据，下一步直接用。
接下来：先进入岗位中心，把岗位标准建起来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第一步先把岗位说清楚。岗位标准不清楚，后面的测评和盘点就没有统一的判断依据。
HR 在岗位中心选中关键岗位，系统会读取岗位说明书、组织信息和现有指标，先给出一版建议。职责、任务、经历、能力、动力和潜力都会带出来，也能查看建议依据。
业务负责人来定稿。哪些能力要保留、要求到什么等级，都可以调整。确认以后，这套内容就成为这个岗位的正式标准。
接下来：岗位标准定下来以后，就可以开始收人才数据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岗位标准定下来以后，接下来把人放进来。HR 可以直接按组织和岗位选人，不需要再导一遍花名册。
能力数据可以选择已经结束的 360、考试或人才测评，绩效按照固定模板上传低、中、高三级结果。
系统按本次规则生成宫格结果，也可以在人才图谱里看人员分布和关系。业务负责人和 HR 确认后，盘点结论会回到每个人的人才档案。
接下来：有了岗位标准和个人结果，接着看人岗匹配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盘点完成以后，业务最常问的就是：这个人到底适不适合目标岗位？
先选目标岗位，系统读取岗位标准；个人这边读取最新有效的 360、考试和测评结果。岗位要求和个人现状会放在同一张雷达图和能力明细里。
如果要在几名候选人里做选择，也可以把 2 至 5 人放在一起比较。这里说明一下，完整的人岗匹配工作台目前属于海格的目标方案。
接下来：看到差距以后，马上安排个人下一步怎么发展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看到差距以后，系统接着生成个人发展安排。员工、经理和 HR 先从岗位差距和盘点结论里，选出这段时间最需要解决的问题。
接下来安排具体动作，可以是课程、培养项目、岗位实践，也可以是经理辅导。每项动作都要定负责人、完成时间和检查方式。
后续进度统一在 IDP 工作台里跟。新的评估结果出来以后，再更新到个人档案。目前原型里还没有独立的 IDP 入口，这部分属于海格的目标方案。
接下来：如果很多人出现同一个差距，就集中开培训项目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如果很多人反复出现同一个能力差距，就可以集中做培训项目。HR 可以按岗位、人才分类或 IDP 目标选择项目人群。
系统把这批人的差距汇总出来，看看哪些能力问题出现得最多。培养目标直接使用能力项和岗位要求等级。
系统可以推荐课程和项目，HR 也可以自己调整。前测、后测关联已有考试，用来比较培养前后的变化。新的能力结果会回到人才档案。
接下来：再用原型图看一下几个中心之间怎么接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这三张图不用看具体按钮，主要看数据怎么往下走。
岗位中心先把关键岗位和岗位标准定下来。这套标准会交给评鉴中心和人才中心，用来做评估、盘点和人岗判断。
盘点完成后，群体结果和个人差距继续交给发展中心。个人差距进入 IDP，多人共有的差距进入培训项目。
接下来：最后看一轮工作结束以后，每类人拿到什么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这轮工作结束后，结果会交到真正使用它的人手里。
业务负责人拿到岗位标准和人才判断；HR 可以沿着同一套数据继续做人岗匹配、个人 IDP 和培训项目。
直接经理知道员工目前差在哪里、这段时间该安排什么。员工自己也能看到岗位要求、个人差距和发展计划。
接下来：最后把这套方案留下的结果说清楚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最后，我希望这套方案能留下几个很具体的结果。每个关键岗位都有一套经过业务确认的标准，以后做评估、盘点和培养都按这套标准来。
每个人的人才档案里保留一份可以持续更新的差距。新的测评和培养结果出来以后，直接更新。
看到差距以后，要有下一步安排。个人差距进入 IDP，共性差距进入培训项目。
接下来：我的介绍先到这里，接下来可以一起讨论首期岗位和人员范围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2FA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40880" y="0"/>
            <a:ext cx="0" cy="6858000"/>
          </a:xfrm>
          <a:prstGeom prst="line">
            <a:avLst/>
          </a:prstGeom>
          <a:noFill/>
          <a:ln w="4445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0" y="0"/>
            <a:ext cx="0" cy="6858000"/>
          </a:xfrm>
          <a:prstGeom prst="line">
            <a:avLst/>
          </a:prstGeom>
          <a:noFill/>
          <a:ln w="4445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955280" y="0"/>
            <a:ext cx="0" cy="6858000"/>
          </a:xfrm>
          <a:prstGeom prst="line">
            <a:avLst/>
          </a:prstGeom>
          <a:noFill/>
          <a:ln w="4445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0" y="0"/>
            <a:ext cx="0" cy="6858000"/>
          </a:xfrm>
          <a:prstGeom prst="line">
            <a:avLst/>
          </a:prstGeom>
          <a:noFill/>
          <a:ln w="4445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69680" y="0"/>
            <a:ext cx="0" cy="6858000"/>
          </a:xfrm>
          <a:prstGeom prst="line">
            <a:avLst/>
          </a:prstGeom>
          <a:noFill/>
          <a:ln w="4445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326880" y="0"/>
            <a:ext cx="0" cy="6858000"/>
          </a:xfrm>
          <a:prstGeom prst="line">
            <a:avLst/>
          </a:prstGeom>
          <a:noFill/>
          <a:ln w="444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784080" y="0"/>
            <a:ext cx="0" cy="6858000"/>
          </a:xfrm>
          <a:prstGeom prst="line">
            <a:avLst/>
          </a:prstGeom>
          <a:noFill/>
          <a:ln w="444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241280" y="0"/>
            <a:ext cx="0" cy="6858000"/>
          </a:xfrm>
          <a:prstGeom prst="line">
            <a:avLst/>
          </a:prstGeom>
          <a:noFill/>
          <a:ln w="4445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698480" y="0"/>
            <a:ext cx="0" cy="6858000"/>
          </a:xfrm>
          <a:prstGeom prst="line">
            <a:avLst/>
          </a:prstGeom>
          <a:noFill/>
          <a:ln w="4445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155680" y="0"/>
            <a:ext cx="0" cy="6858000"/>
          </a:xfrm>
          <a:prstGeom prst="line">
            <a:avLst/>
          </a:prstGeom>
          <a:noFill/>
          <a:ln w="4445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818120" y="1005840"/>
            <a:ext cx="50292" cy="50292"/>
          </a:xfrm>
          <a:prstGeom prst="rect">
            <a:avLst/>
          </a:prstGeom>
          <a:solidFill>
            <a:srgbClr val="FFFFFF">
              <a:alpha val="62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57032" y="1005840"/>
            <a:ext cx="50292" cy="50292"/>
          </a:xfrm>
          <a:prstGeom prst="rect">
            <a:avLst/>
          </a:prstGeom>
          <a:solidFill>
            <a:srgbClr val="FFFFFF">
              <a:alpha val="55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695944" y="1005840"/>
            <a:ext cx="50292" cy="50292"/>
          </a:xfrm>
          <a:prstGeom prst="rect">
            <a:avLst/>
          </a:prstGeom>
          <a:solidFill>
            <a:srgbClr val="FFFFFF">
              <a:alpha val="48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34856" y="1005840"/>
            <a:ext cx="50292" cy="50292"/>
          </a:xfrm>
          <a:prstGeom prst="rect">
            <a:avLst/>
          </a:prstGeom>
          <a:solidFill>
            <a:srgbClr val="FFFFFF">
              <a:alpha val="41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573768" y="1005840"/>
            <a:ext cx="50292" cy="50292"/>
          </a:xfrm>
          <a:prstGeom prst="rect">
            <a:avLst/>
          </a:prstGeom>
          <a:solidFill>
            <a:srgbClr val="FFFFFF">
              <a:alpha val="34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012680" y="1005840"/>
            <a:ext cx="50292" cy="50292"/>
          </a:xfrm>
          <a:prstGeom prst="rect">
            <a:avLst/>
          </a:prstGeom>
          <a:solidFill>
            <a:srgbClr val="FFFFFF">
              <a:alpha val="27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451592" y="1005840"/>
            <a:ext cx="50292" cy="50292"/>
          </a:xfrm>
          <a:prstGeom prst="rect">
            <a:avLst/>
          </a:prstGeom>
          <a:solidFill>
            <a:srgbClr val="FFFFFF">
              <a:alpha val="20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890504" y="1005840"/>
            <a:ext cx="50292" cy="50292"/>
          </a:xfrm>
          <a:prstGeom prst="rect">
            <a:avLst/>
          </a:prstGeom>
          <a:solidFill>
            <a:srgbClr val="FFFFFF">
              <a:alpha val="58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818120" y="1444752"/>
            <a:ext cx="50292" cy="50292"/>
          </a:xfrm>
          <a:prstGeom prst="rect">
            <a:avLst/>
          </a:prstGeom>
          <a:solidFill>
            <a:srgbClr val="FFFFFF">
              <a:alpha val="51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57032" y="1444752"/>
            <a:ext cx="50292" cy="50292"/>
          </a:xfrm>
          <a:prstGeom prst="rect">
            <a:avLst/>
          </a:prstGeom>
          <a:solidFill>
            <a:srgbClr val="FFFFFF">
              <a:alpha val="44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695944" y="1444752"/>
            <a:ext cx="50292" cy="50292"/>
          </a:xfrm>
          <a:prstGeom prst="rect">
            <a:avLst/>
          </a:prstGeom>
          <a:solidFill>
            <a:srgbClr val="FFFFFF">
              <a:alpha val="37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134856" y="1444752"/>
            <a:ext cx="50292" cy="50292"/>
          </a:xfrm>
          <a:prstGeom prst="rect">
            <a:avLst/>
          </a:prstGeom>
          <a:solidFill>
            <a:srgbClr val="FFFFFF">
              <a:alpha val="30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573768" y="1444752"/>
            <a:ext cx="50292" cy="50292"/>
          </a:xfrm>
          <a:prstGeom prst="rect">
            <a:avLst/>
          </a:prstGeom>
          <a:solidFill>
            <a:srgbClr val="FFFFFF">
              <a:alpha val="23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012680" y="1444752"/>
            <a:ext cx="50292" cy="50292"/>
          </a:xfrm>
          <a:prstGeom prst="rect">
            <a:avLst/>
          </a:prstGeom>
          <a:solidFill>
            <a:srgbClr val="FFFFFF">
              <a:alpha val="61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451592" y="1444752"/>
            <a:ext cx="50292" cy="50292"/>
          </a:xfrm>
          <a:prstGeom prst="rect">
            <a:avLst/>
          </a:prstGeom>
          <a:solidFill>
            <a:srgbClr val="FFFFFF">
              <a:alpha val="54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0890504" y="1444752"/>
            <a:ext cx="50292" cy="50292"/>
          </a:xfrm>
          <a:prstGeom prst="rect">
            <a:avLst/>
          </a:prstGeom>
          <a:solidFill>
            <a:srgbClr val="FFFFFF">
              <a:alpha val="47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818120" y="1883664"/>
            <a:ext cx="50292" cy="50292"/>
          </a:xfrm>
          <a:prstGeom prst="rect">
            <a:avLst/>
          </a:prstGeom>
          <a:solidFill>
            <a:srgbClr val="FFFFFF">
              <a:alpha val="40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57032" y="1883664"/>
            <a:ext cx="50292" cy="50292"/>
          </a:xfrm>
          <a:prstGeom prst="rect">
            <a:avLst/>
          </a:prstGeom>
          <a:solidFill>
            <a:srgbClr val="FFFFFF">
              <a:alpha val="33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695944" y="1883664"/>
            <a:ext cx="50292" cy="50292"/>
          </a:xfrm>
          <a:prstGeom prst="rect">
            <a:avLst/>
          </a:prstGeom>
          <a:solidFill>
            <a:srgbClr val="FFFFFF">
              <a:alpha val="26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134856" y="1883664"/>
            <a:ext cx="50292" cy="50292"/>
          </a:xfrm>
          <a:prstGeom prst="rect">
            <a:avLst/>
          </a:prstGeom>
          <a:solidFill>
            <a:srgbClr val="FFFFFF">
              <a:alpha val="19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573768" y="1883664"/>
            <a:ext cx="50292" cy="50292"/>
          </a:xfrm>
          <a:prstGeom prst="rect">
            <a:avLst/>
          </a:prstGeom>
          <a:solidFill>
            <a:srgbClr val="FFFFFF">
              <a:alpha val="57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012680" y="1883664"/>
            <a:ext cx="50292" cy="50292"/>
          </a:xfrm>
          <a:prstGeom prst="rect">
            <a:avLst/>
          </a:prstGeom>
          <a:solidFill>
            <a:srgbClr val="FFFFFF">
              <a:alpha val="50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0451592" y="1883664"/>
            <a:ext cx="50292" cy="50292"/>
          </a:xfrm>
          <a:prstGeom prst="rect">
            <a:avLst/>
          </a:prstGeom>
          <a:solidFill>
            <a:srgbClr val="FFFFFF">
              <a:alpha val="43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890504" y="1883664"/>
            <a:ext cx="50292" cy="50292"/>
          </a:xfrm>
          <a:prstGeom prst="rect">
            <a:avLst/>
          </a:prstGeom>
          <a:solidFill>
            <a:srgbClr val="FFFFFF">
              <a:alpha val="36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818120" y="2322576"/>
            <a:ext cx="50292" cy="50292"/>
          </a:xfrm>
          <a:prstGeom prst="rect">
            <a:avLst/>
          </a:prstGeom>
          <a:solidFill>
            <a:srgbClr val="FFFFFF">
              <a:alpha val="29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257032" y="2322576"/>
            <a:ext cx="50292" cy="50292"/>
          </a:xfrm>
          <a:prstGeom prst="rect">
            <a:avLst/>
          </a:prstGeom>
          <a:solidFill>
            <a:srgbClr val="FFFFFF">
              <a:alpha val="22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695944" y="2322576"/>
            <a:ext cx="50292" cy="50292"/>
          </a:xfrm>
          <a:prstGeom prst="rect">
            <a:avLst/>
          </a:prstGeom>
          <a:solidFill>
            <a:srgbClr val="FFFFFF">
              <a:alpha val="60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134856" y="2322576"/>
            <a:ext cx="50292" cy="50292"/>
          </a:xfrm>
          <a:prstGeom prst="rect">
            <a:avLst/>
          </a:prstGeom>
          <a:solidFill>
            <a:srgbClr val="FFFFFF">
              <a:alpha val="53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573768" y="2322576"/>
            <a:ext cx="50292" cy="50292"/>
          </a:xfrm>
          <a:prstGeom prst="rect">
            <a:avLst/>
          </a:prstGeom>
          <a:solidFill>
            <a:srgbClr val="FFFFFF">
              <a:alpha val="46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012680" y="2322576"/>
            <a:ext cx="50292" cy="50292"/>
          </a:xfrm>
          <a:prstGeom prst="rect">
            <a:avLst/>
          </a:prstGeom>
          <a:solidFill>
            <a:srgbClr val="FFFFFF">
              <a:alpha val="39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0451592" y="2322576"/>
            <a:ext cx="50292" cy="50292"/>
          </a:xfrm>
          <a:prstGeom prst="rect">
            <a:avLst/>
          </a:prstGeom>
          <a:solidFill>
            <a:srgbClr val="FFFFFF">
              <a:alpha val="32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0890504" y="2322576"/>
            <a:ext cx="50292" cy="50292"/>
          </a:xfrm>
          <a:prstGeom prst="rect">
            <a:avLst/>
          </a:prstGeom>
          <a:solidFill>
            <a:srgbClr val="FFFFFF">
              <a:alpha val="25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818120" y="2761488"/>
            <a:ext cx="50292" cy="50292"/>
          </a:xfrm>
          <a:prstGeom prst="rect">
            <a:avLst/>
          </a:prstGeom>
          <a:solidFill>
            <a:srgbClr val="FFFFFF">
              <a:alpha val="18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257032" y="2761488"/>
            <a:ext cx="50292" cy="50292"/>
          </a:xfrm>
          <a:prstGeom prst="rect">
            <a:avLst/>
          </a:prstGeom>
          <a:solidFill>
            <a:srgbClr val="FFFFFF">
              <a:alpha val="56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695944" y="2761488"/>
            <a:ext cx="50292" cy="50292"/>
          </a:xfrm>
          <a:prstGeom prst="rect">
            <a:avLst/>
          </a:prstGeom>
          <a:solidFill>
            <a:srgbClr val="FFFFFF">
              <a:alpha val="49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9134856" y="2761488"/>
            <a:ext cx="50292" cy="50292"/>
          </a:xfrm>
          <a:prstGeom prst="rect">
            <a:avLst/>
          </a:prstGeom>
          <a:solidFill>
            <a:srgbClr val="FFFFFF">
              <a:alpha val="42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9573768" y="2761488"/>
            <a:ext cx="50292" cy="50292"/>
          </a:xfrm>
          <a:prstGeom prst="rect">
            <a:avLst/>
          </a:prstGeom>
          <a:solidFill>
            <a:srgbClr val="FFFFFF">
              <a:alpha val="35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0012680" y="2761488"/>
            <a:ext cx="50292" cy="50292"/>
          </a:xfrm>
          <a:prstGeom prst="rect">
            <a:avLst/>
          </a:prstGeom>
          <a:solidFill>
            <a:srgbClr val="FFFFFF">
              <a:alpha val="28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10451592" y="2761488"/>
            <a:ext cx="50292" cy="50292"/>
          </a:xfrm>
          <a:prstGeom prst="rect">
            <a:avLst/>
          </a:prstGeom>
          <a:solidFill>
            <a:srgbClr val="FFFFFF">
              <a:alpha val="21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0890504" y="2761488"/>
            <a:ext cx="50292" cy="50292"/>
          </a:xfrm>
          <a:prstGeom prst="rect">
            <a:avLst/>
          </a:prstGeom>
          <a:solidFill>
            <a:srgbClr val="FFFFFF">
              <a:alpha val="59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7818120" y="3200400"/>
            <a:ext cx="50292" cy="50292"/>
          </a:xfrm>
          <a:prstGeom prst="rect">
            <a:avLst/>
          </a:prstGeom>
          <a:solidFill>
            <a:srgbClr val="FFFFFF">
              <a:alpha val="52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257032" y="3200400"/>
            <a:ext cx="50292" cy="50292"/>
          </a:xfrm>
          <a:prstGeom prst="rect">
            <a:avLst/>
          </a:prstGeom>
          <a:solidFill>
            <a:srgbClr val="FFFFFF">
              <a:alpha val="45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695944" y="3200400"/>
            <a:ext cx="50292" cy="50292"/>
          </a:xfrm>
          <a:prstGeom prst="rect">
            <a:avLst/>
          </a:prstGeom>
          <a:solidFill>
            <a:srgbClr val="FFFFFF">
              <a:alpha val="38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9134856" y="3200400"/>
            <a:ext cx="50292" cy="50292"/>
          </a:xfrm>
          <a:prstGeom prst="rect">
            <a:avLst/>
          </a:prstGeom>
          <a:solidFill>
            <a:srgbClr val="FFFFFF">
              <a:alpha val="31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9573768" y="3200400"/>
            <a:ext cx="50292" cy="50292"/>
          </a:xfrm>
          <a:prstGeom prst="rect">
            <a:avLst/>
          </a:prstGeom>
          <a:solidFill>
            <a:srgbClr val="FFFFFF">
              <a:alpha val="24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0012680" y="3200400"/>
            <a:ext cx="50292" cy="50292"/>
          </a:xfrm>
          <a:prstGeom prst="rect">
            <a:avLst/>
          </a:prstGeom>
          <a:solidFill>
            <a:srgbClr val="FFFFFF">
              <a:alpha val="62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10451592" y="3200400"/>
            <a:ext cx="50292" cy="50292"/>
          </a:xfrm>
          <a:prstGeom prst="rect">
            <a:avLst/>
          </a:prstGeom>
          <a:solidFill>
            <a:srgbClr val="FFFFFF">
              <a:alpha val="55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10890504" y="3200400"/>
            <a:ext cx="50292" cy="50292"/>
          </a:xfrm>
          <a:prstGeom prst="rect">
            <a:avLst/>
          </a:prstGeom>
          <a:solidFill>
            <a:srgbClr val="FFFFFF">
              <a:alpha val="48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818120" y="3639312"/>
            <a:ext cx="50292" cy="50292"/>
          </a:xfrm>
          <a:prstGeom prst="rect">
            <a:avLst/>
          </a:prstGeom>
          <a:solidFill>
            <a:srgbClr val="FFFFFF">
              <a:alpha val="41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257032" y="3639312"/>
            <a:ext cx="50292" cy="50292"/>
          </a:xfrm>
          <a:prstGeom prst="rect">
            <a:avLst/>
          </a:prstGeom>
          <a:solidFill>
            <a:srgbClr val="FFFFFF">
              <a:alpha val="34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695944" y="3639312"/>
            <a:ext cx="50292" cy="50292"/>
          </a:xfrm>
          <a:prstGeom prst="rect">
            <a:avLst/>
          </a:prstGeom>
          <a:solidFill>
            <a:srgbClr val="FFFFFF">
              <a:alpha val="27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9134856" y="3639312"/>
            <a:ext cx="50292" cy="50292"/>
          </a:xfrm>
          <a:prstGeom prst="rect">
            <a:avLst/>
          </a:prstGeom>
          <a:solidFill>
            <a:srgbClr val="FFFFFF">
              <a:alpha val="20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9573768" y="3639312"/>
            <a:ext cx="50292" cy="50292"/>
          </a:xfrm>
          <a:prstGeom prst="rect">
            <a:avLst/>
          </a:prstGeom>
          <a:solidFill>
            <a:srgbClr val="FFFFFF">
              <a:alpha val="58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10012680" y="3639312"/>
            <a:ext cx="50292" cy="50292"/>
          </a:xfrm>
          <a:prstGeom prst="rect">
            <a:avLst/>
          </a:prstGeom>
          <a:solidFill>
            <a:srgbClr val="FFFFFF">
              <a:alpha val="51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10451592" y="3639312"/>
            <a:ext cx="50292" cy="50292"/>
          </a:xfrm>
          <a:prstGeom prst="rect">
            <a:avLst/>
          </a:prstGeom>
          <a:solidFill>
            <a:srgbClr val="FFFFFF">
              <a:alpha val="44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10890504" y="3639312"/>
            <a:ext cx="50292" cy="50292"/>
          </a:xfrm>
          <a:prstGeom prst="rect">
            <a:avLst/>
          </a:prstGeom>
          <a:solidFill>
            <a:srgbClr val="FFFFFF">
              <a:alpha val="37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7818120" y="4078224"/>
            <a:ext cx="50292" cy="50292"/>
          </a:xfrm>
          <a:prstGeom prst="rect">
            <a:avLst/>
          </a:prstGeom>
          <a:solidFill>
            <a:srgbClr val="FFFFFF">
              <a:alpha val="30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8257032" y="4078224"/>
            <a:ext cx="50292" cy="50292"/>
          </a:xfrm>
          <a:prstGeom prst="rect">
            <a:avLst/>
          </a:prstGeom>
          <a:solidFill>
            <a:srgbClr val="FFFFFF">
              <a:alpha val="23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8695944" y="4078224"/>
            <a:ext cx="50292" cy="50292"/>
          </a:xfrm>
          <a:prstGeom prst="rect">
            <a:avLst/>
          </a:prstGeom>
          <a:solidFill>
            <a:srgbClr val="FFFFFF">
              <a:alpha val="61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9134856" y="4078224"/>
            <a:ext cx="50292" cy="50292"/>
          </a:xfrm>
          <a:prstGeom prst="rect">
            <a:avLst/>
          </a:prstGeom>
          <a:solidFill>
            <a:srgbClr val="FFFFFF">
              <a:alpha val="54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9573768" y="4078224"/>
            <a:ext cx="50292" cy="50292"/>
          </a:xfrm>
          <a:prstGeom prst="rect">
            <a:avLst/>
          </a:prstGeom>
          <a:solidFill>
            <a:srgbClr val="FFFFFF">
              <a:alpha val="47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10012680" y="4078224"/>
            <a:ext cx="50292" cy="50292"/>
          </a:xfrm>
          <a:prstGeom prst="rect">
            <a:avLst/>
          </a:prstGeom>
          <a:solidFill>
            <a:srgbClr val="FFFFFF">
              <a:alpha val="40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10451592" y="4078224"/>
            <a:ext cx="50292" cy="50292"/>
          </a:xfrm>
          <a:prstGeom prst="rect">
            <a:avLst/>
          </a:prstGeom>
          <a:solidFill>
            <a:srgbClr val="FFFFFF">
              <a:alpha val="33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10890504" y="4078224"/>
            <a:ext cx="50292" cy="50292"/>
          </a:xfrm>
          <a:prstGeom prst="rect">
            <a:avLst/>
          </a:prstGeom>
          <a:solidFill>
            <a:srgbClr val="FFFFFF">
              <a:alpha val="26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594360" y="384048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DCE4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海格汽车 · 人才发展方案</a:t>
            </a:r>
            <a:endParaRPr lang="zh-CN" sz="850" dirty="0"/>
          </a:p>
        </p:txBody>
      </p:sp>
      <p:sp>
        <p:nvSpPr>
          <p:cNvPr id="77" name="Text 75"/>
          <p:cNvSpPr txBox="1"/>
          <p:nvPr/>
        </p:nvSpPr>
        <p:spPr>
          <a:xfrm>
            <a:off x="9875520" y="384048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850" b="1" spc="120" kern="0" dirty="0">
                <a:solidFill>
                  <a:srgbClr val="DCE4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SS · 26.08.27 · 01 / 12</a:t>
            </a:r>
            <a:endParaRPr lang="zh-CN" sz="850" dirty="0"/>
          </a:p>
        </p:txBody>
      </p:sp>
      <p:sp>
        <p:nvSpPr>
          <p:cNvPr id="78" name="Text 76"/>
          <p:cNvSpPr txBox="1"/>
          <p:nvPr/>
        </p:nvSpPr>
        <p:spPr>
          <a:xfrm>
            <a:off x="594360" y="1060704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DCE4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从一轮关键岗位人才发展说起</a:t>
            </a:r>
            <a:endParaRPr lang="zh-CN" sz="850" dirty="0"/>
          </a:p>
        </p:txBody>
      </p:sp>
      <p:sp>
        <p:nvSpPr>
          <p:cNvPr id="79" name="Text 77"/>
          <p:cNvSpPr txBox="1"/>
          <p:nvPr/>
        </p:nvSpPr>
        <p:spPr>
          <a:xfrm>
            <a:off x="594360" y="1444752"/>
            <a:ext cx="67665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49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从岗位标准出发</a:t>
            </a:r>
            <a:endParaRPr lang="zh-CN" sz="4900" dirty="0"/>
          </a:p>
          <a:p>
            <a:pPr algn="l" indent="0" marL="0">
              <a:buNone/>
            </a:pPr>
            <a:r>
              <a:rPr lang="zh-CN" altLang="en-US" sz="49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把盘点、匹配</a:t>
            </a:r>
            <a:endParaRPr lang="zh-CN" sz="4900" dirty="0"/>
          </a:p>
          <a:p>
            <a:pPr algn="l" indent="0" marL="0">
              <a:buNone/>
            </a:pPr>
            <a:r>
              <a:rPr lang="zh-CN" altLang="en-US" sz="49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和发展接起来</a:t>
            </a:r>
            <a:endParaRPr lang="zh-CN" sz="4900" dirty="0"/>
          </a:p>
        </p:txBody>
      </p:sp>
      <p:sp>
        <p:nvSpPr>
          <p:cNvPr id="80" name="Shape 78"/>
          <p:cNvSpPr/>
          <p:nvPr/>
        </p:nvSpPr>
        <p:spPr>
          <a:xfrm>
            <a:off x="594360" y="5303520"/>
            <a:ext cx="11000232" cy="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594360" y="550468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75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用一轮关键岗位人才发展，看清系统怎么用。</a:t>
            </a:r>
            <a:endParaRPr lang="zh-CN" sz="1750" dirty="0"/>
          </a:p>
        </p:txBody>
      </p:sp>
      <p:sp>
        <p:nvSpPr>
          <p:cNvPr id="82" name="Text 80"/>
          <p:cNvSpPr txBox="1"/>
          <p:nvPr/>
        </p:nvSpPr>
        <p:spPr>
          <a:xfrm>
            <a:off x="594360" y="6163056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DCE4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岗位标准 · 人才盘点 · 人岗匹配 · 个人 IDP · 培训项目</a:t>
            </a:r>
            <a:endParaRPr lang="zh-CN" sz="850" dirty="0"/>
          </a:p>
        </p:txBody>
      </p:sp>
      <p:sp>
        <p:nvSpPr>
          <p:cNvPr id="83" name="Text 81"/>
          <p:cNvSpPr txBox="1"/>
          <p:nvPr/>
        </p:nvSpPr>
        <p:spPr>
          <a:xfrm>
            <a:off x="8366760" y="6163056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850" b="1" spc="120" kern="0" dirty="0">
                <a:solidFill>
                  <a:srgbClr val="DCE4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时代光华 · TALENT DEVELOPMENT</a:t>
            </a:r>
            <a:endParaRPr lang="zh-CN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84048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7373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01 · 业务起点</a:t>
            </a:r>
            <a:endParaRPr lang="zh-CN" sz="850" dirty="0"/>
          </a:p>
        </p:txBody>
      </p:sp>
      <p:sp>
        <p:nvSpPr>
          <p:cNvPr id="3" name="Text 1"/>
          <p:cNvSpPr txBox="1"/>
          <p:nvPr/>
        </p:nvSpPr>
        <p:spPr>
          <a:xfrm>
            <a:off x="10682935" y="38404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850" b="1" spc="120" kern="0" dirty="0">
                <a:solidFill>
                  <a:srgbClr val="7373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03 / 12</a:t>
            </a:r>
            <a:endParaRPr lang="zh-CN" sz="85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896112"/>
            <a:ext cx="7132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7373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海格启动一轮年度人才发展</a:t>
            </a:r>
            <a:endParaRPr lang="zh-CN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325880"/>
            <a:ext cx="89611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490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海格这一轮，</a:t>
            </a:r>
            <a:endParaRPr lang="zh-CN" sz="4900" dirty="0"/>
          </a:p>
          <a:p>
            <a:pPr algn="l" indent="0" marL="0">
              <a:buNone/>
            </a:pPr>
            <a:r>
              <a:rPr lang="zh-CN" altLang="en-US" sz="490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先回答两个问题</a:t>
            </a:r>
            <a:endParaRPr lang="zh-CN" sz="49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342900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4600" dirty="0">
                <a:solidFill>
                  <a:srgbClr val="002FA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谁更适合关键岗位，差距怎么补。</a:t>
            </a:r>
            <a:endParaRPr lang="zh-CN" sz="4600" dirty="0"/>
          </a:p>
        </p:txBody>
      </p:sp>
      <p:sp>
        <p:nvSpPr>
          <p:cNvPr id="7" name="Shape 5"/>
          <p:cNvSpPr/>
          <p:nvPr/>
        </p:nvSpPr>
        <p:spPr>
          <a:xfrm>
            <a:off x="8458200" y="5285232"/>
            <a:ext cx="3154680" cy="0"/>
          </a:xfrm>
          <a:prstGeom prst="line">
            <a:avLst/>
          </a:prstGeom>
          <a:noFill/>
          <a:ln w="8890">
            <a:solidFill>
              <a:srgbClr val="D4D4D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75320" y="5449824"/>
            <a:ext cx="33375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zh-CN" altLang="en-US" sz="1520" dirty="0">
                <a:solidFill>
                  <a:srgbClr val="52525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前面把岗位要求说清楚，</a:t>
            </a:r>
            <a:endParaRPr lang="zh-CN" sz="1520" dirty="0"/>
          </a:p>
          <a:p>
            <a:pPr algn="r" indent="0" marL="0">
              <a:buNone/>
            </a:pPr>
            <a:r>
              <a:rPr lang="zh-CN" altLang="en-US" sz="1520" dirty="0">
                <a:solidFill>
                  <a:srgbClr val="52525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后面把发展动作安排下去。</a:t>
            </a:r>
            <a:endParaRPr lang="zh-CN" sz="15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84048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7373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01 · 业务起点</a:t>
            </a:r>
            <a:endParaRPr lang="zh-CN" sz="850" dirty="0"/>
          </a:p>
        </p:txBody>
      </p:sp>
      <p:sp>
        <p:nvSpPr>
          <p:cNvPr id="3" name="Text 1"/>
          <p:cNvSpPr txBox="1"/>
          <p:nvPr/>
        </p:nvSpPr>
        <p:spPr>
          <a:xfrm>
            <a:off x="10682935" y="38404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850" b="1" spc="120" kern="0" dirty="0">
                <a:solidFill>
                  <a:srgbClr val="7373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04 / 12</a:t>
            </a:r>
            <a:endParaRPr lang="zh-CN" sz="85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896112"/>
            <a:ext cx="7132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7373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整轮工作怎么跑</a:t>
            </a:r>
            <a:endParaRPr lang="zh-CN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188720"/>
            <a:ext cx="8686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390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六步走完一轮人才发展</a:t>
            </a:r>
            <a:endParaRPr lang="zh-CN" sz="3900" dirty="0"/>
          </a:p>
        </p:txBody>
      </p:sp>
      <p:sp>
        <p:nvSpPr>
          <p:cNvPr id="6" name="Shape 4"/>
          <p:cNvSpPr/>
          <p:nvPr/>
        </p:nvSpPr>
        <p:spPr>
          <a:xfrm>
            <a:off x="960120" y="3703320"/>
            <a:ext cx="10076688" cy="0"/>
          </a:xfrm>
          <a:prstGeom prst="line">
            <a:avLst/>
          </a:prstGeom>
          <a:noFill/>
          <a:ln w="17145">
            <a:solidFill>
              <a:srgbClr val="002FA7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896112" y="3639312"/>
            <a:ext cx="128016" cy="128016"/>
          </a:xfrm>
          <a:prstGeom prst="rect">
            <a:avLst/>
          </a:prstGeom>
          <a:solidFill>
            <a:srgbClr val="002FA7"/>
          </a:solidFill>
          <a:ln w="6350">
            <a:solidFill>
              <a:srgbClr val="002FA7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4632" y="2962656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850" b="1" spc="120" kern="0" dirty="0">
                <a:solidFill>
                  <a:srgbClr val="002FA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01</a:t>
            </a:r>
            <a:endParaRPr lang="zh-CN" sz="850" dirty="0"/>
          </a:p>
        </p:txBody>
      </p:sp>
      <p:sp>
        <p:nvSpPr>
          <p:cNvPr id="9" name="Text 7"/>
          <p:cNvSpPr txBox="1"/>
          <p:nvPr/>
        </p:nvSpPr>
        <p:spPr>
          <a:xfrm>
            <a:off x="246888" y="3182112"/>
            <a:ext cx="14264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zh-CN" altLang="en-US" sz="145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定关键岗位</a:t>
            </a:r>
            <a:endParaRPr lang="zh-CN" sz="1450" dirty="0"/>
          </a:p>
        </p:txBody>
      </p:sp>
      <p:sp>
        <p:nvSpPr>
          <p:cNvPr id="10" name="Shape 8"/>
          <p:cNvSpPr/>
          <p:nvPr/>
        </p:nvSpPr>
        <p:spPr>
          <a:xfrm>
            <a:off x="2834640" y="3639312"/>
            <a:ext cx="128016" cy="128016"/>
          </a:xfrm>
          <a:prstGeom prst="rect">
            <a:avLst/>
          </a:prstGeom>
          <a:solidFill>
            <a:srgbClr val="002FA7"/>
          </a:solidFill>
          <a:ln w="6350">
            <a:solidFill>
              <a:srgbClr val="002FA7">
                <a:alpha val="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423160" y="397764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850" b="1" spc="120" kern="0" dirty="0">
                <a:solidFill>
                  <a:srgbClr val="002FA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02</a:t>
            </a:r>
            <a:endParaRPr lang="zh-CN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2185416" y="4187952"/>
            <a:ext cx="14264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zh-CN" altLang="en-US" sz="145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建能力模型</a:t>
            </a:r>
            <a:endParaRPr lang="zh-CN" sz="1450" dirty="0"/>
          </a:p>
        </p:txBody>
      </p:sp>
      <p:sp>
        <p:nvSpPr>
          <p:cNvPr id="13" name="Shape 11"/>
          <p:cNvSpPr/>
          <p:nvPr/>
        </p:nvSpPr>
        <p:spPr>
          <a:xfrm>
            <a:off x="4773168" y="3639312"/>
            <a:ext cx="128016" cy="128016"/>
          </a:xfrm>
          <a:prstGeom prst="rect">
            <a:avLst/>
          </a:prstGeom>
          <a:solidFill>
            <a:srgbClr val="002FA7"/>
          </a:solidFill>
          <a:ln w="6350">
            <a:solidFill>
              <a:srgbClr val="002FA7">
                <a:alpha val="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361688" y="2962656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850" b="1" spc="120" kern="0" dirty="0">
                <a:solidFill>
                  <a:srgbClr val="002FA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03</a:t>
            </a:r>
            <a:endParaRPr lang="zh-CN" sz="850" dirty="0"/>
          </a:p>
        </p:txBody>
      </p:sp>
      <p:sp>
        <p:nvSpPr>
          <p:cNvPr id="15" name="Text 13"/>
          <p:cNvSpPr txBox="1"/>
          <p:nvPr/>
        </p:nvSpPr>
        <p:spPr>
          <a:xfrm>
            <a:off x="4123944" y="3182112"/>
            <a:ext cx="14264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zh-CN" altLang="en-US" sz="145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收人才数据</a:t>
            </a:r>
            <a:endParaRPr lang="zh-CN" sz="1450" dirty="0"/>
          </a:p>
        </p:txBody>
      </p:sp>
      <p:sp>
        <p:nvSpPr>
          <p:cNvPr id="16" name="Shape 14"/>
          <p:cNvSpPr/>
          <p:nvPr/>
        </p:nvSpPr>
        <p:spPr>
          <a:xfrm>
            <a:off x="6711696" y="3639312"/>
            <a:ext cx="128016" cy="128016"/>
          </a:xfrm>
          <a:prstGeom prst="rect">
            <a:avLst/>
          </a:prstGeom>
          <a:solidFill>
            <a:srgbClr val="002FA7"/>
          </a:solidFill>
          <a:ln w="6350">
            <a:solidFill>
              <a:srgbClr val="002FA7">
                <a:alpha val="0"/>
              </a:srgbClr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00216" y="397764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850" b="1" spc="120" kern="0" dirty="0">
                <a:solidFill>
                  <a:srgbClr val="002FA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04</a:t>
            </a:r>
            <a:endParaRPr lang="zh-CN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6062472" y="4187952"/>
            <a:ext cx="14264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zh-CN" altLang="en-US" sz="145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做盘点匹配</a:t>
            </a:r>
            <a:endParaRPr lang="zh-CN" sz="1450" dirty="0"/>
          </a:p>
        </p:txBody>
      </p:sp>
      <p:sp>
        <p:nvSpPr>
          <p:cNvPr id="19" name="Shape 17"/>
          <p:cNvSpPr/>
          <p:nvPr/>
        </p:nvSpPr>
        <p:spPr>
          <a:xfrm>
            <a:off x="8650224" y="3639312"/>
            <a:ext cx="128016" cy="128016"/>
          </a:xfrm>
          <a:prstGeom prst="rect">
            <a:avLst/>
          </a:prstGeom>
          <a:solidFill>
            <a:srgbClr val="002FA7"/>
          </a:solidFill>
          <a:ln w="6350">
            <a:solidFill>
              <a:srgbClr val="002FA7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38744" y="2962656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850" b="1" spc="120" kern="0" dirty="0">
                <a:solidFill>
                  <a:srgbClr val="002FA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05</a:t>
            </a:r>
            <a:endParaRPr lang="zh-CN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8001000" y="3182112"/>
            <a:ext cx="14264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zh-CN" altLang="en-US" sz="145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定个人 IDP</a:t>
            </a:r>
            <a:endParaRPr lang="zh-CN" sz="1450" dirty="0"/>
          </a:p>
        </p:txBody>
      </p:sp>
      <p:sp>
        <p:nvSpPr>
          <p:cNvPr id="22" name="Shape 20"/>
          <p:cNvSpPr/>
          <p:nvPr/>
        </p:nvSpPr>
        <p:spPr>
          <a:xfrm>
            <a:off x="10588752" y="3639312"/>
            <a:ext cx="128016" cy="128016"/>
          </a:xfrm>
          <a:prstGeom prst="rect">
            <a:avLst/>
          </a:prstGeom>
          <a:solidFill>
            <a:srgbClr val="002FA7"/>
          </a:solidFill>
          <a:ln w="6350">
            <a:solidFill>
              <a:srgbClr val="002FA7">
                <a:alpha val="0"/>
              </a:srgbClr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177272" y="397764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850" b="1" spc="120" kern="0" dirty="0">
                <a:solidFill>
                  <a:srgbClr val="002FA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06</a:t>
            </a:r>
            <a:endParaRPr lang="zh-CN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9939528" y="4187952"/>
            <a:ext cx="14264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zh-CN" altLang="en-US" sz="145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开培训项目</a:t>
            </a:r>
            <a:endParaRPr lang="zh-CN" sz="1450" dirty="0"/>
          </a:p>
        </p:txBody>
      </p:sp>
      <p:sp>
        <p:nvSpPr>
          <p:cNvPr id="25" name="Shape 23"/>
          <p:cNvSpPr/>
          <p:nvPr/>
        </p:nvSpPr>
        <p:spPr>
          <a:xfrm>
            <a:off x="594360" y="5102352"/>
            <a:ext cx="3429000" cy="384048"/>
          </a:xfrm>
          <a:prstGeom prst="rect">
            <a:avLst/>
          </a:prstGeom>
          <a:solidFill>
            <a:srgbClr val="F0F0EE"/>
          </a:solidFill>
          <a:ln w="6350">
            <a:solidFill>
              <a:srgbClr val="F0F0EE">
                <a:alpha val="0"/>
              </a:srgbClr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04088" y="5193792"/>
            <a:ext cx="32095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850" b="1" spc="120" kern="0" dirty="0">
                <a:solidFill>
                  <a:srgbClr val="52525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岗位中心 · 定标准</a:t>
            </a:r>
            <a:endParaRPr lang="zh-CN" sz="850" dirty="0"/>
          </a:p>
        </p:txBody>
      </p:sp>
      <p:sp>
        <p:nvSpPr>
          <p:cNvPr id="27" name="Shape 25"/>
          <p:cNvSpPr/>
          <p:nvPr/>
        </p:nvSpPr>
        <p:spPr>
          <a:xfrm>
            <a:off x="4160520" y="5102352"/>
            <a:ext cx="3566160" cy="384048"/>
          </a:xfrm>
          <a:prstGeom prst="rect">
            <a:avLst/>
          </a:prstGeom>
          <a:solidFill>
            <a:srgbClr val="F0F0EE"/>
          </a:solidFill>
          <a:ln w="6350">
            <a:solidFill>
              <a:srgbClr val="F0F0EE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270248" y="5193792"/>
            <a:ext cx="3346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850" b="1" spc="120" kern="0" dirty="0">
                <a:solidFill>
                  <a:srgbClr val="52525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评鉴中心 · 看现状</a:t>
            </a:r>
            <a:endParaRPr lang="zh-CN" sz="850" dirty="0"/>
          </a:p>
        </p:txBody>
      </p:sp>
      <p:sp>
        <p:nvSpPr>
          <p:cNvPr id="29" name="Shape 27"/>
          <p:cNvSpPr/>
          <p:nvPr/>
        </p:nvSpPr>
        <p:spPr>
          <a:xfrm>
            <a:off x="7863840" y="5102352"/>
            <a:ext cx="3730752" cy="384048"/>
          </a:xfrm>
          <a:prstGeom prst="rect">
            <a:avLst/>
          </a:prstGeom>
          <a:solidFill>
            <a:srgbClr val="F0F0EE"/>
          </a:solidFill>
          <a:ln w="6350">
            <a:solidFill>
              <a:srgbClr val="F0F0EE">
                <a:alpha val="0"/>
              </a:srgbClr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973568" y="5193792"/>
            <a:ext cx="35112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850" b="1" spc="120" kern="0" dirty="0">
                <a:solidFill>
                  <a:srgbClr val="52525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人才中心 × 发展中心 · 安排后续</a:t>
            </a:r>
            <a:endParaRPr lang="zh-CN" sz="850" dirty="0"/>
          </a:p>
        </p:txBody>
      </p:sp>
      <p:sp>
        <p:nvSpPr>
          <p:cNvPr id="31" name="Shape 29"/>
          <p:cNvSpPr/>
          <p:nvPr/>
        </p:nvSpPr>
        <p:spPr>
          <a:xfrm>
            <a:off x="594360" y="5943600"/>
            <a:ext cx="11000232" cy="0"/>
          </a:xfrm>
          <a:prstGeom prst="line">
            <a:avLst/>
          </a:prstGeom>
          <a:noFill/>
          <a:ln w="6350">
            <a:solidFill>
              <a:srgbClr val="D4D4D2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94360" y="6099048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7373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前一步做出来的数据，下一步直接用。</a:t>
            </a:r>
            <a:endParaRPr lang="zh-CN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0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84048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7373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02 · 岗位中心 / 岗位胜任力建模</a:t>
            </a:r>
            <a:endParaRPr lang="zh-CN" sz="850" dirty="0"/>
          </a:p>
        </p:txBody>
      </p:sp>
      <p:sp>
        <p:nvSpPr>
          <p:cNvPr id="3" name="Text 1"/>
          <p:cNvSpPr txBox="1"/>
          <p:nvPr/>
        </p:nvSpPr>
        <p:spPr>
          <a:xfrm>
            <a:off x="10682935" y="38404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850" b="1" spc="120" kern="0" dirty="0">
                <a:solidFill>
                  <a:srgbClr val="7373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05 / 12</a:t>
            </a:r>
            <a:endParaRPr lang="zh-CN" sz="85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896112"/>
            <a:ext cx="7132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7373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岗位管理 · 指标库 · 岗位标准</a:t>
            </a:r>
            <a:endParaRPr lang="zh-CN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143000"/>
            <a:ext cx="74980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370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先说清楚：</a:t>
            </a:r>
            <a:endParaRPr lang="zh-CN" sz="3700" dirty="0"/>
          </a:p>
          <a:p>
            <a:pPr algn="l" indent="0" marL="0">
              <a:buNone/>
            </a:pPr>
            <a:r>
              <a:rPr lang="zh-CN" altLang="en-US" sz="370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这个岗位需要什么样的人</a:t>
            </a:r>
            <a:endParaRPr lang="zh-CN" sz="3700" dirty="0"/>
          </a:p>
        </p:txBody>
      </p:sp>
      <p:sp>
        <p:nvSpPr>
          <p:cNvPr id="6" name="Shape 4"/>
          <p:cNvSpPr/>
          <p:nvPr/>
        </p:nvSpPr>
        <p:spPr>
          <a:xfrm>
            <a:off x="594360" y="3063240"/>
            <a:ext cx="3502152" cy="2514600"/>
          </a:xfrm>
          <a:prstGeom prst="rect">
            <a:avLst/>
          </a:prstGeom>
          <a:solidFill>
            <a:srgbClr val="0A0A0A"/>
          </a:solidFill>
          <a:ln w="6350">
            <a:solidFill>
              <a:srgbClr val="0A0A0A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3273552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DADAD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01 · 选岗位</a:t>
            </a:r>
            <a:endParaRPr lang="zh-CN" sz="850" dirty="0"/>
          </a:p>
        </p:txBody>
      </p:sp>
      <p:sp>
        <p:nvSpPr>
          <p:cNvPr id="8" name="Shape 6"/>
          <p:cNvSpPr/>
          <p:nvPr/>
        </p:nvSpPr>
        <p:spPr>
          <a:xfrm>
            <a:off x="822960" y="3721608"/>
            <a:ext cx="384048" cy="54864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032504"/>
            <a:ext cx="30449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20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把现有材料放进来</a:t>
            </a:r>
            <a:endParaRPr lang="zh-CN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4599432"/>
            <a:ext cx="30449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350" dirty="0">
                <a:solidFill>
                  <a:srgbClr val="E5E5E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选中关键岗位，读取岗位说明书、组织信息和现有能力指标。</a:t>
            </a:r>
            <a:endParaRPr lang="zh-CN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5303520"/>
            <a:ext cx="3044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C8C8C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岗位中心 · 指标库</a:t>
            </a:r>
            <a:endParaRPr lang="zh-CN" sz="850" dirty="0"/>
          </a:p>
        </p:txBody>
      </p:sp>
      <p:sp>
        <p:nvSpPr>
          <p:cNvPr id="12" name="Shape 10"/>
          <p:cNvSpPr/>
          <p:nvPr/>
        </p:nvSpPr>
        <p:spPr>
          <a:xfrm>
            <a:off x="4343400" y="3063240"/>
            <a:ext cx="3502152" cy="2514600"/>
          </a:xfrm>
          <a:prstGeom prst="rect">
            <a:avLst/>
          </a:prstGeom>
          <a:solidFill>
            <a:srgbClr val="002FA7"/>
          </a:solidFill>
          <a:ln w="6350">
            <a:solidFill>
              <a:srgbClr val="002FA7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0" y="3273552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DADAD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02 · 出初稿</a:t>
            </a:r>
            <a:endParaRPr lang="zh-CN" sz="850" dirty="0"/>
          </a:p>
        </p:txBody>
      </p:sp>
      <p:sp>
        <p:nvSpPr>
          <p:cNvPr id="14" name="Shape 12"/>
          <p:cNvSpPr/>
          <p:nvPr/>
        </p:nvSpPr>
        <p:spPr>
          <a:xfrm>
            <a:off x="4572000" y="3721608"/>
            <a:ext cx="384048" cy="54864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0" y="4032504"/>
            <a:ext cx="30449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20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系统先给一版</a:t>
            </a:r>
            <a:endParaRPr lang="zh-CN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0" y="4599432"/>
            <a:ext cx="30449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350" dirty="0">
                <a:solidFill>
                  <a:srgbClr val="E5E5E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职责、任务、经历、能力、动力和潜力都可以查看依据。</a:t>
            </a:r>
            <a:endParaRPr lang="zh-CN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572000" y="5303520"/>
            <a:ext cx="3044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C8C8C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AI 建议 · 查看依据</a:t>
            </a:r>
            <a:endParaRPr lang="zh-CN" sz="850" dirty="0"/>
          </a:p>
        </p:txBody>
      </p:sp>
      <p:sp>
        <p:nvSpPr>
          <p:cNvPr id="18" name="Shape 16"/>
          <p:cNvSpPr/>
          <p:nvPr/>
        </p:nvSpPr>
        <p:spPr>
          <a:xfrm>
            <a:off x="8092440" y="3063240"/>
            <a:ext cx="3502152" cy="2514600"/>
          </a:xfrm>
          <a:prstGeom prst="rect">
            <a:avLst/>
          </a:prstGeom>
          <a:solidFill>
            <a:srgbClr val="FAFAF8"/>
          </a:solidFill>
          <a:ln w="6350">
            <a:solidFill>
              <a:srgbClr val="FAFAF8">
                <a:alpha val="0"/>
              </a:srgbClr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321040" y="3273552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7373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03 · 业务定稿</a:t>
            </a:r>
            <a:endParaRPr lang="zh-CN" sz="850" dirty="0"/>
          </a:p>
        </p:txBody>
      </p:sp>
      <p:sp>
        <p:nvSpPr>
          <p:cNvPr id="20" name="Shape 18"/>
          <p:cNvSpPr/>
          <p:nvPr/>
        </p:nvSpPr>
        <p:spPr>
          <a:xfrm>
            <a:off x="8321040" y="3721608"/>
            <a:ext cx="384048" cy="54864"/>
          </a:xfrm>
          <a:prstGeom prst="rect">
            <a:avLst/>
          </a:prstGeom>
          <a:solidFill>
            <a:srgbClr val="002FA7"/>
          </a:solidFill>
          <a:ln w="6350">
            <a:solidFill>
              <a:srgbClr val="002FA7">
                <a:alpha val="0"/>
              </a:srgbClr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321040" y="4032504"/>
            <a:ext cx="30449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200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调整并确认</a:t>
            </a:r>
            <a:endParaRPr lang="zh-CN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8321040" y="4599432"/>
            <a:ext cx="30449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350" dirty="0">
                <a:solidFill>
                  <a:srgbClr val="52525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调整能力项和要求等级，确认后保存为岗位标准。</a:t>
            </a:r>
            <a:endParaRPr lang="zh-CN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8321040" y="5303520"/>
            <a:ext cx="3044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7373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岗位详情 · 岗位标准</a:t>
            </a:r>
            <a:endParaRPr lang="zh-CN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0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84048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7373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03 · 评鉴中心 / 人才盘点</a:t>
            </a:r>
            <a:endParaRPr lang="zh-CN" sz="850" dirty="0"/>
          </a:p>
        </p:txBody>
      </p:sp>
      <p:sp>
        <p:nvSpPr>
          <p:cNvPr id="3" name="Text 1"/>
          <p:cNvSpPr txBox="1"/>
          <p:nvPr/>
        </p:nvSpPr>
        <p:spPr>
          <a:xfrm>
            <a:off x="10682935" y="38404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850" b="1" spc="120" kern="0" dirty="0">
                <a:solidFill>
                  <a:srgbClr val="7373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06 / 12</a:t>
            </a:r>
            <a:endParaRPr lang="zh-CN" sz="85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896112"/>
            <a:ext cx="7132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7373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360 评估 · 人才测评 · 考试 · 宫格盘点 · 人才图谱</a:t>
            </a:r>
            <a:endParaRPr lang="zh-CN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115568"/>
            <a:ext cx="74980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360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人选和结果</a:t>
            </a:r>
            <a:endParaRPr lang="zh-CN" sz="3600" dirty="0"/>
          </a:p>
          <a:p>
            <a:pPr algn="l" indent="0" marL="0">
              <a:buNone/>
            </a:pPr>
            <a:r>
              <a:rPr lang="zh-CN" altLang="en-US" sz="360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直接带进盘点</a:t>
            </a:r>
            <a:endParaRPr lang="zh-CN" sz="3600" dirty="0"/>
          </a:p>
        </p:txBody>
      </p:sp>
      <p:sp>
        <p:nvSpPr>
          <p:cNvPr id="6" name="Shape 4"/>
          <p:cNvSpPr/>
          <p:nvPr/>
        </p:nvSpPr>
        <p:spPr>
          <a:xfrm>
            <a:off x="6099048" y="2816352"/>
            <a:ext cx="0" cy="3108960"/>
          </a:xfrm>
          <a:prstGeom prst="line">
            <a:avLst/>
          </a:prstGeom>
          <a:noFill/>
          <a:ln w="8890">
            <a:solidFill>
              <a:srgbClr val="D4D4D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4360" y="2843784"/>
            <a:ext cx="420624" cy="256032"/>
          </a:xfrm>
          <a:prstGeom prst="rect">
            <a:avLst/>
          </a:prstGeom>
          <a:solidFill>
            <a:srgbClr val="FAFAF8"/>
          </a:solidFill>
          <a:ln w="6350">
            <a:solidFill>
              <a:srgbClr val="0A0A0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" y="2880360"/>
            <a:ext cx="292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850" b="1" spc="120" kern="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01</a:t>
            </a:r>
            <a:endParaRPr lang="zh-CN" sz="850" dirty="0"/>
          </a:p>
        </p:txBody>
      </p:sp>
      <p:sp>
        <p:nvSpPr>
          <p:cNvPr id="9" name="Text 7"/>
          <p:cNvSpPr txBox="1"/>
          <p:nvPr/>
        </p:nvSpPr>
        <p:spPr>
          <a:xfrm>
            <a:off x="1143000" y="2880360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7373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数据进来</a:t>
            </a:r>
            <a:endParaRPr lang="zh-CN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3291840"/>
            <a:ext cx="233172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320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选人</a:t>
            </a:r>
            <a:endParaRPr lang="zh-CN" sz="3200" dirty="0"/>
          </a:p>
          <a:p>
            <a:pPr algn="l" indent="0" marL="0">
              <a:buNone/>
            </a:pPr>
            <a:r>
              <a:rPr lang="zh-CN" altLang="en-US" sz="320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带结果</a:t>
            </a:r>
            <a:endParaRPr lang="zh-CN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3108960" y="3319272"/>
            <a:ext cx="25603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300" dirty="0">
                <a:solidFill>
                  <a:srgbClr val="52525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HR 按组织和岗位选人，现有评鉴、绩效结果直接带进来。</a:t>
            </a:r>
            <a:endParaRPr lang="zh-CN" sz="1300" dirty="0"/>
          </a:p>
        </p:txBody>
      </p:sp>
      <p:sp>
        <p:nvSpPr>
          <p:cNvPr id="12" name="Shape 10"/>
          <p:cNvSpPr/>
          <p:nvPr/>
        </p:nvSpPr>
        <p:spPr>
          <a:xfrm>
            <a:off x="594360" y="4736592"/>
            <a:ext cx="5074920" cy="0"/>
          </a:xfrm>
          <a:prstGeom prst="line">
            <a:avLst/>
          </a:prstGeom>
          <a:noFill/>
          <a:ln w="7620">
            <a:solidFill>
              <a:srgbClr val="D4D4D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94360" y="5029200"/>
            <a:ext cx="201168" cy="22860"/>
          </a:xfrm>
          <a:prstGeom prst="rect">
            <a:avLst/>
          </a:prstGeom>
          <a:solidFill>
            <a:srgbClr val="0A0A0A"/>
          </a:solidFill>
          <a:ln w="6350">
            <a:solidFill>
              <a:srgbClr val="0A0A0A">
                <a:alpha val="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491032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250" dirty="0">
                <a:solidFill>
                  <a:srgbClr val="52525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从组织和岗位中选择盘点人员</a:t>
            </a:r>
            <a:endParaRPr lang="zh-CN" sz="1250" dirty="0"/>
          </a:p>
        </p:txBody>
      </p:sp>
      <p:sp>
        <p:nvSpPr>
          <p:cNvPr id="15" name="Shape 13"/>
          <p:cNvSpPr/>
          <p:nvPr/>
        </p:nvSpPr>
        <p:spPr>
          <a:xfrm>
            <a:off x="594360" y="5413248"/>
            <a:ext cx="201168" cy="22860"/>
          </a:xfrm>
          <a:prstGeom prst="rect">
            <a:avLst/>
          </a:prstGeom>
          <a:solidFill>
            <a:srgbClr val="0A0A0A"/>
          </a:solidFill>
          <a:ln w="6350">
            <a:solidFill>
              <a:srgbClr val="0A0A0A">
                <a:alpha val="0"/>
              </a:srgb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5294376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250" dirty="0">
                <a:solidFill>
                  <a:srgbClr val="52525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选择已结束的 360、考试或测评</a:t>
            </a:r>
            <a:endParaRPr lang="zh-CN" sz="1250" dirty="0"/>
          </a:p>
        </p:txBody>
      </p:sp>
      <p:sp>
        <p:nvSpPr>
          <p:cNvPr id="17" name="Shape 15"/>
          <p:cNvSpPr/>
          <p:nvPr/>
        </p:nvSpPr>
        <p:spPr>
          <a:xfrm>
            <a:off x="594360" y="5797296"/>
            <a:ext cx="201168" cy="22860"/>
          </a:xfrm>
          <a:prstGeom prst="rect">
            <a:avLst/>
          </a:prstGeom>
          <a:solidFill>
            <a:srgbClr val="0A0A0A"/>
          </a:solidFill>
          <a:ln w="6350">
            <a:solidFill>
              <a:srgbClr val="0A0A0A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4400" y="5678424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250" dirty="0">
                <a:solidFill>
                  <a:srgbClr val="52525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上传低、中、高三级绩效</a:t>
            </a:r>
            <a:endParaRPr lang="zh-CN" sz="1250" dirty="0"/>
          </a:p>
        </p:txBody>
      </p:sp>
      <p:sp>
        <p:nvSpPr>
          <p:cNvPr id="19" name="Shape 17"/>
          <p:cNvSpPr/>
          <p:nvPr/>
        </p:nvSpPr>
        <p:spPr>
          <a:xfrm>
            <a:off x="6519672" y="2843784"/>
            <a:ext cx="420624" cy="256032"/>
          </a:xfrm>
          <a:prstGeom prst="rect">
            <a:avLst/>
          </a:prstGeom>
          <a:solidFill>
            <a:srgbClr val="FAFAF8"/>
          </a:solidFill>
          <a:ln w="6350">
            <a:solidFill>
              <a:srgbClr val="002FA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583680" y="2880360"/>
            <a:ext cx="292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850" b="1" spc="120" kern="0" dirty="0">
                <a:solidFill>
                  <a:srgbClr val="002FA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02</a:t>
            </a:r>
            <a:endParaRPr lang="zh-CN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7068312" y="2880360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7373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结果出来</a:t>
            </a:r>
            <a:endParaRPr lang="zh-CN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6519672" y="3291840"/>
            <a:ext cx="233172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3200" dirty="0">
                <a:solidFill>
                  <a:srgbClr val="002FA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看落位</a:t>
            </a:r>
            <a:endParaRPr lang="zh-CN" sz="3200" dirty="0"/>
          </a:p>
          <a:p>
            <a:pPr algn="l" indent="0" marL="0">
              <a:buNone/>
            </a:pPr>
            <a:r>
              <a:rPr lang="zh-CN" altLang="en-US" sz="3200" dirty="0">
                <a:solidFill>
                  <a:srgbClr val="002FA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定结论</a:t>
            </a:r>
            <a:endParaRPr lang="zh-CN" sz="3200" dirty="0"/>
          </a:p>
        </p:txBody>
      </p:sp>
      <p:sp>
        <p:nvSpPr>
          <p:cNvPr id="23" name="Text 21"/>
          <p:cNvSpPr txBox="1"/>
          <p:nvPr/>
        </p:nvSpPr>
        <p:spPr>
          <a:xfrm>
            <a:off x="9034272" y="3319272"/>
            <a:ext cx="25603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300" dirty="0">
                <a:solidFill>
                  <a:srgbClr val="52525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系统先出盘点结果，业务负责人和 HR 再一起确认。</a:t>
            </a:r>
            <a:endParaRPr lang="zh-CN" sz="1300" dirty="0"/>
          </a:p>
        </p:txBody>
      </p:sp>
      <p:sp>
        <p:nvSpPr>
          <p:cNvPr id="24" name="Shape 22"/>
          <p:cNvSpPr/>
          <p:nvPr/>
        </p:nvSpPr>
        <p:spPr>
          <a:xfrm>
            <a:off x="6519672" y="4736592"/>
            <a:ext cx="5074920" cy="0"/>
          </a:xfrm>
          <a:prstGeom prst="line">
            <a:avLst/>
          </a:prstGeom>
          <a:noFill/>
          <a:ln w="7620">
            <a:solidFill>
              <a:srgbClr val="D4D4D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19672" y="5029200"/>
            <a:ext cx="201168" cy="22860"/>
          </a:xfrm>
          <a:prstGeom prst="rect">
            <a:avLst/>
          </a:prstGeom>
          <a:solidFill>
            <a:srgbClr val="002FA7"/>
          </a:solidFill>
          <a:ln w="6350">
            <a:solidFill>
              <a:srgbClr val="002FA7">
                <a:alpha val="0"/>
              </a:srgbClr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39712" y="491032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250" dirty="0">
                <a:solidFill>
                  <a:srgbClr val="52525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宫格盘点看能力与绩效落位</a:t>
            </a:r>
            <a:endParaRPr lang="zh-CN" sz="1250" dirty="0"/>
          </a:p>
        </p:txBody>
      </p:sp>
      <p:sp>
        <p:nvSpPr>
          <p:cNvPr id="27" name="Shape 25"/>
          <p:cNvSpPr/>
          <p:nvPr/>
        </p:nvSpPr>
        <p:spPr>
          <a:xfrm>
            <a:off x="6519672" y="5413248"/>
            <a:ext cx="201168" cy="22860"/>
          </a:xfrm>
          <a:prstGeom prst="rect">
            <a:avLst/>
          </a:prstGeom>
          <a:solidFill>
            <a:srgbClr val="002FA7"/>
          </a:solidFill>
          <a:ln w="6350">
            <a:solidFill>
              <a:srgbClr val="002FA7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839712" y="5294376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250" dirty="0">
                <a:solidFill>
                  <a:srgbClr val="52525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人才图谱看群体分布和关系</a:t>
            </a:r>
            <a:endParaRPr lang="zh-CN" sz="1250" dirty="0"/>
          </a:p>
        </p:txBody>
      </p:sp>
      <p:sp>
        <p:nvSpPr>
          <p:cNvPr id="29" name="Shape 27"/>
          <p:cNvSpPr/>
          <p:nvPr/>
        </p:nvSpPr>
        <p:spPr>
          <a:xfrm>
            <a:off x="6519672" y="5797296"/>
            <a:ext cx="201168" cy="22860"/>
          </a:xfrm>
          <a:prstGeom prst="rect">
            <a:avLst/>
          </a:prstGeom>
          <a:solidFill>
            <a:srgbClr val="002FA7"/>
          </a:solidFill>
          <a:ln w="6350">
            <a:solidFill>
              <a:srgbClr val="002FA7">
                <a:alpha val="0"/>
              </a:srgbClr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839712" y="5678424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250" dirty="0">
                <a:solidFill>
                  <a:srgbClr val="52525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确认结果回到个人档案</a:t>
            </a:r>
            <a:endParaRPr lang="zh-CN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84048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B9B9B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04 · 人才中心 × 岗位中心 / 人岗匹配</a:t>
            </a:r>
            <a:endParaRPr lang="zh-CN" sz="850" dirty="0"/>
          </a:p>
        </p:txBody>
      </p:sp>
      <p:sp>
        <p:nvSpPr>
          <p:cNvPr id="3" name="Text 1"/>
          <p:cNvSpPr txBox="1"/>
          <p:nvPr/>
        </p:nvSpPr>
        <p:spPr>
          <a:xfrm>
            <a:off x="10682935" y="38404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850" b="1" spc="120" kern="0" dirty="0">
                <a:solidFill>
                  <a:srgbClr val="B9B9B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07 / 12</a:t>
            </a:r>
            <a:endParaRPr lang="zh-CN" sz="850" dirty="0"/>
          </a:p>
        </p:txBody>
      </p:sp>
      <p:sp>
        <p:nvSpPr>
          <p:cNvPr id="4" name="Shape 2"/>
          <p:cNvSpPr/>
          <p:nvPr/>
        </p:nvSpPr>
        <p:spPr>
          <a:xfrm>
            <a:off x="594360" y="1051560"/>
            <a:ext cx="3794760" cy="5257800"/>
          </a:xfrm>
          <a:prstGeom prst="rect">
            <a:avLst/>
          </a:prstGeom>
          <a:solidFill>
            <a:srgbClr val="002FA7"/>
          </a:solidFill>
          <a:ln w="6350">
            <a:solidFill>
              <a:srgbClr val="002FA7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37160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DCE4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岗位标准 · 人才档案 · 人才对比</a:t>
            </a:r>
            <a:endParaRPr lang="zh-CN" sz="85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196596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38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这个人</a:t>
            </a:r>
            <a:endParaRPr lang="zh-CN" sz="3800" dirty="0"/>
          </a:p>
          <a:p>
            <a:pPr algn="l" indent="0" marL="0">
              <a:buNone/>
            </a:pPr>
            <a:r>
              <a:rPr lang="zh-CN" altLang="en-US" sz="38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适不适合</a:t>
            </a:r>
            <a:endParaRPr lang="zh-CN" sz="3800" dirty="0"/>
          </a:p>
          <a:p>
            <a:pPr algn="l" indent="0" marL="0">
              <a:buNone/>
            </a:pPr>
            <a:r>
              <a:rPr lang="zh-CN" altLang="en-US" sz="38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目标岗位</a:t>
            </a:r>
            <a:endParaRPr lang="zh-CN" sz="38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5230368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350" dirty="0">
                <a:solidFill>
                  <a:srgbClr val="E6EC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岗位要求和个人现状放在一起，差在哪直接看。</a:t>
            </a:r>
            <a:endParaRPr lang="zh-CN" sz="1350" dirty="0"/>
          </a:p>
        </p:txBody>
      </p:sp>
      <p:sp>
        <p:nvSpPr>
          <p:cNvPr id="8" name="Shape 6"/>
          <p:cNvSpPr/>
          <p:nvPr/>
        </p:nvSpPr>
        <p:spPr>
          <a:xfrm>
            <a:off x="4736592" y="1051560"/>
            <a:ext cx="6858000" cy="1481328"/>
          </a:xfrm>
          <a:prstGeom prst="rect">
            <a:avLst/>
          </a:prstGeom>
          <a:solidFill>
            <a:srgbClr val="F0F0EE"/>
          </a:solidFill>
          <a:ln w="6350">
            <a:solidFill>
              <a:srgbClr val="F0F0EE">
                <a:alpha val="0"/>
              </a:srgbClr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56632" y="1252728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3400" dirty="0">
                <a:solidFill>
                  <a:srgbClr val="002FA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01</a:t>
            </a:r>
            <a:endParaRPr lang="zh-CN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6153912" y="128016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80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选目标岗位</a:t>
            </a:r>
            <a:endParaRPr lang="zh-CN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153912" y="1792224"/>
            <a:ext cx="4983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360" dirty="0">
                <a:solidFill>
                  <a:srgbClr val="52525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系统读取这个岗位的职责、能力项和要求等级。</a:t>
            </a:r>
            <a:endParaRPr lang="zh-CN" sz="1360" dirty="0"/>
          </a:p>
        </p:txBody>
      </p:sp>
      <p:sp>
        <p:nvSpPr>
          <p:cNvPr id="12" name="Shape 10"/>
          <p:cNvSpPr/>
          <p:nvPr/>
        </p:nvSpPr>
        <p:spPr>
          <a:xfrm>
            <a:off x="4736592" y="2761488"/>
            <a:ext cx="6858000" cy="1481328"/>
          </a:xfrm>
          <a:prstGeom prst="rect">
            <a:avLst/>
          </a:prstGeom>
          <a:solidFill>
            <a:srgbClr val="F0F0EE"/>
          </a:solidFill>
          <a:ln w="6350">
            <a:solidFill>
              <a:srgbClr val="F0F0EE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056632" y="2962656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3400" dirty="0">
                <a:solidFill>
                  <a:srgbClr val="002FA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02</a:t>
            </a:r>
            <a:endParaRPr lang="zh-CN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6153912" y="2990088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80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拿到这个人的最新结果</a:t>
            </a:r>
            <a:endParaRPr lang="zh-CN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6153912" y="3502152"/>
            <a:ext cx="4983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360" dirty="0">
                <a:solidFill>
                  <a:srgbClr val="52525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带入最新的 360、考试和测评；没有数据时直接显示暂无结果。</a:t>
            </a:r>
            <a:endParaRPr lang="zh-CN" sz="1360" dirty="0"/>
          </a:p>
        </p:txBody>
      </p:sp>
      <p:sp>
        <p:nvSpPr>
          <p:cNvPr id="16" name="Shape 14"/>
          <p:cNvSpPr/>
          <p:nvPr/>
        </p:nvSpPr>
        <p:spPr>
          <a:xfrm>
            <a:off x="4736592" y="4471416"/>
            <a:ext cx="6858000" cy="1481328"/>
          </a:xfrm>
          <a:prstGeom prst="rect">
            <a:avLst/>
          </a:prstGeom>
          <a:solidFill>
            <a:srgbClr val="F0F0EE"/>
          </a:solidFill>
          <a:ln w="6350">
            <a:solidFill>
              <a:srgbClr val="F0F0EE">
                <a:alpha val="0"/>
              </a:srgbClr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056632" y="4672584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3400" dirty="0">
                <a:solidFill>
                  <a:srgbClr val="002FA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03</a:t>
            </a:r>
            <a:endParaRPr lang="zh-CN" sz="3400" dirty="0"/>
          </a:p>
        </p:txBody>
      </p:sp>
      <p:sp>
        <p:nvSpPr>
          <p:cNvPr id="18" name="Text 16"/>
          <p:cNvSpPr txBox="1"/>
          <p:nvPr/>
        </p:nvSpPr>
        <p:spPr>
          <a:xfrm>
            <a:off x="6153912" y="4700016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80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看匹配和差距</a:t>
            </a:r>
            <a:endParaRPr lang="zh-CN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6153912" y="5212080"/>
            <a:ext cx="4983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360" dirty="0">
                <a:solidFill>
                  <a:srgbClr val="52525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雷达图和能力明细同时展示，也可以把 2 至 5 人放在一起比较。</a:t>
            </a:r>
            <a:endParaRPr lang="zh-CN" sz="136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84048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7373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05 · 人才中心 × 发展中心 / 个人 IDP</a:t>
            </a:r>
            <a:endParaRPr lang="zh-CN" sz="850" dirty="0"/>
          </a:p>
        </p:txBody>
      </p:sp>
      <p:sp>
        <p:nvSpPr>
          <p:cNvPr id="3" name="Text 1"/>
          <p:cNvSpPr txBox="1"/>
          <p:nvPr/>
        </p:nvSpPr>
        <p:spPr>
          <a:xfrm>
            <a:off x="10682935" y="38404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850" b="1" spc="120" kern="0" dirty="0">
                <a:solidFill>
                  <a:srgbClr val="7373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08 / 12</a:t>
            </a:r>
            <a:endParaRPr lang="zh-CN" sz="85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896112"/>
            <a:ext cx="7132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7373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人才档案 · 人才差距 · IDP 工作台 · 课程 / 实践 / 辅导</a:t>
            </a:r>
            <a:endParaRPr lang="zh-CN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078992"/>
            <a:ext cx="6675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360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差距确认后，</a:t>
            </a:r>
            <a:endParaRPr lang="zh-CN" sz="3600" dirty="0"/>
          </a:p>
          <a:p>
            <a:pPr algn="l" indent="0" marL="0">
              <a:buNone/>
            </a:pPr>
            <a:r>
              <a:rPr lang="zh-CN" altLang="en-US" sz="360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马上安排个人下一步</a:t>
            </a:r>
            <a:endParaRPr lang="zh-CN" sz="3600" dirty="0"/>
          </a:p>
        </p:txBody>
      </p:sp>
      <p:sp>
        <p:nvSpPr>
          <p:cNvPr id="6" name="Shape 4"/>
          <p:cNvSpPr/>
          <p:nvPr/>
        </p:nvSpPr>
        <p:spPr>
          <a:xfrm>
            <a:off x="594360" y="2743200"/>
            <a:ext cx="4937760" cy="0"/>
          </a:xfrm>
          <a:prstGeom prst="line">
            <a:avLst/>
          </a:prstGeom>
          <a:noFill/>
          <a:ln w="8890">
            <a:solidFill>
              <a:srgbClr val="0A0A0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29260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002FA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01</a:t>
            </a:r>
            <a:endParaRPr lang="zh-CN" sz="85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2816352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60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选本期重点</a:t>
            </a:r>
            <a:endParaRPr lang="zh-CN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3081528" y="2816352"/>
            <a:ext cx="2999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230" dirty="0">
                <a:solidFill>
                  <a:srgbClr val="52525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从岗位差距和盘点结论中选出最需要解决的问题。</a:t>
            </a:r>
            <a:endParaRPr lang="zh-CN" sz="1230" dirty="0"/>
          </a:p>
        </p:txBody>
      </p:sp>
      <p:sp>
        <p:nvSpPr>
          <p:cNvPr id="10" name="Shape 8"/>
          <p:cNvSpPr/>
          <p:nvPr/>
        </p:nvSpPr>
        <p:spPr>
          <a:xfrm>
            <a:off x="594360" y="3419856"/>
            <a:ext cx="4937760" cy="0"/>
          </a:xfrm>
          <a:prstGeom prst="line">
            <a:avLst/>
          </a:prstGeom>
          <a:noFill/>
          <a:ln w="6350">
            <a:solidFill>
              <a:srgbClr val="D4D4D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3675888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002FA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02</a:t>
            </a:r>
            <a:endParaRPr lang="zh-CN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3566160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60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安排具体动作</a:t>
            </a:r>
            <a:endParaRPr lang="zh-CN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081528" y="3566160"/>
            <a:ext cx="2999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230" dirty="0">
                <a:solidFill>
                  <a:srgbClr val="52525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选择课程、项目、岗位实践或经理辅导。</a:t>
            </a:r>
            <a:endParaRPr lang="zh-CN" sz="1230" dirty="0"/>
          </a:p>
        </p:txBody>
      </p:sp>
      <p:sp>
        <p:nvSpPr>
          <p:cNvPr id="14" name="Shape 12"/>
          <p:cNvSpPr/>
          <p:nvPr/>
        </p:nvSpPr>
        <p:spPr>
          <a:xfrm>
            <a:off x="594360" y="4169664"/>
            <a:ext cx="4937760" cy="0"/>
          </a:xfrm>
          <a:prstGeom prst="line">
            <a:avLst/>
          </a:prstGeom>
          <a:noFill/>
          <a:ln w="6350">
            <a:solidFill>
              <a:srgbClr val="D4D4D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94360" y="442569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002FA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03</a:t>
            </a:r>
            <a:endParaRPr lang="zh-CN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4315968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60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定人和时间</a:t>
            </a:r>
            <a:endParaRPr lang="zh-CN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3081528" y="4315968"/>
            <a:ext cx="2999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230" dirty="0">
                <a:solidFill>
                  <a:srgbClr val="52525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一起确认负责人、完成时间和检查方式。</a:t>
            </a:r>
            <a:endParaRPr lang="zh-CN" sz="1230" dirty="0"/>
          </a:p>
        </p:txBody>
      </p:sp>
      <p:sp>
        <p:nvSpPr>
          <p:cNvPr id="18" name="Shape 16"/>
          <p:cNvSpPr/>
          <p:nvPr/>
        </p:nvSpPr>
        <p:spPr>
          <a:xfrm>
            <a:off x="594360" y="4919472"/>
            <a:ext cx="4937760" cy="0"/>
          </a:xfrm>
          <a:prstGeom prst="line">
            <a:avLst/>
          </a:prstGeom>
          <a:noFill/>
          <a:ln w="6350">
            <a:solidFill>
              <a:srgbClr val="D4D4D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94360" y="5175504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002FA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04</a:t>
            </a:r>
            <a:endParaRPr lang="zh-CN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1234440" y="5065776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60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跟进结果</a:t>
            </a:r>
            <a:endParaRPr lang="zh-CN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3081528" y="5065776"/>
            <a:ext cx="2999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230" dirty="0">
                <a:solidFill>
                  <a:srgbClr val="52525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查看进度，新的评估结果再回到个人档案。</a:t>
            </a:r>
            <a:endParaRPr lang="zh-CN" sz="1230" dirty="0"/>
          </a:p>
        </p:txBody>
      </p:sp>
      <p:sp>
        <p:nvSpPr>
          <p:cNvPr id="22" name="Shape 20"/>
          <p:cNvSpPr/>
          <p:nvPr/>
        </p:nvSpPr>
        <p:spPr>
          <a:xfrm>
            <a:off x="594360" y="5669280"/>
            <a:ext cx="4937760" cy="0"/>
          </a:xfrm>
          <a:prstGeom prst="line">
            <a:avLst/>
          </a:prstGeom>
          <a:noFill/>
          <a:ln w="6350">
            <a:solidFill>
              <a:srgbClr val="D4D4D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315200" y="2807208"/>
            <a:ext cx="3017520" cy="3017520"/>
          </a:xfrm>
          <a:prstGeom prst="ellipse">
            <a:avLst/>
          </a:prstGeom>
          <a:solidFill>
            <a:srgbClr val="FAFAF8">
              <a:alpha val="0"/>
            </a:srgbClr>
          </a:solidFill>
          <a:ln w="10160">
            <a:solidFill>
              <a:srgbClr val="D4D4D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708392" y="3200400"/>
            <a:ext cx="2231136" cy="2231136"/>
          </a:xfrm>
          <a:prstGeom prst="ellipse">
            <a:avLst/>
          </a:prstGeom>
          <a:solidFill>
            <a:srgbClr val="FAFAF8">
              <a:alpha val="0"/>
            </a:srgbClr>
          </a:solidFill>
          <a:ln w="22860">
            <a:solidFill>
              <a:srgbClr val="002FA7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8110728" y="3602736"/>
            <a:ext cx="1426464" cy="1426464"/>
          </a:xfrm>
          <a:prstGeom prst="ellipse">
            <a:avLst/>
          </a:prstGeom>
          <a:solidFill>
            <a:srgbClr val="FAFAF8">
              <a:alpha val="0"/>
            </a:srgbClr>
          </a:solidFill>
          <a:ln w="10160">
            <a:solidFill>
              <a:srgbClr val="D4D4D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138160" y="3904488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310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IDP</a:t>
            </a:r>
            <a:endParaRPr lang="zh-CN" sz="3100" dirty="0"/>
          </a:p>
        </p:txBody>
      </p:sp>
      <p:sp>
        <p:nvSpPr>
          <p:cNvPr id="27" name="Text 25"/>
          <p:cNvSpPr txBox="1"/>
          <p:nvPr/>
        </p:nvSpPr>
        <p:spPr>
          <a:xfrm>
            <a:off x="7680960" y="451713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zh-CN" altLang="en-US" sz="1050" b="1" dirty="0">
                <a:solidFill>
                  <a:srgbClr val="7373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目标 → 行动 → 跟进 → 更新</a:t>
            </a:r>
            <a:endParaRPr lang="zh-CN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0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84048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7373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06 · 发展中心 × 培训平台 / 培训项目</a:t>
            </a:r>
            <a:endParaRPr lang="zh-CN" sz="850" dirty="0"/>
          </a:p>
        </p:txBody>
      </p:sp>
      <p:sp>
        <p:nvSpPr>
          <p:cNvPr id="3" name="Text 1"/>
          <p:cNvSpPr txBox="1"/>
          <p:nvPr/>
        </p:nvSpPr>
        <p:spPr>
          <a:xfrm>
            <a:off x="10682935" y="38404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850" b="1" spc="120" kern="0" dirty="0">
                <a:solidFill>
                  <a:srgbClr val="7373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09 / 12</a:t>
            </a:r>
            <a:endParaRPr lang="zh-CN" sz="85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896112"/>
            <a:ext cx="7132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7373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岗位地图 · 学习方案 · 培训项目 · 前测与后测</a:t>
            </a:r>
            <a:endParaRPr lang="zh-CN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078992"/>
            <a:ext cx="7498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360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多人都缺同一项能力，</a:t>
            </a:r>
            <a:endParaRPr lang="zh-CN" sz="3600" dirty="0"/>
          </a:p>
          <a:p>
            <a:pPr algn="l" indent="0" marL="0">
              <a:buNone/>
            </a:pPr>
            <a:r>
              <a:rPr lang="zh-CN" altLang="en-US" sz="360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就围绕它开培训项目</a:t>
            </a:r>
            <a:endParaRPr lang="zh-CN" sz="3600" dirty="0"/>
          </a:p>
        </p:txBody>
      </p:sp>
      <p:sp>
        <p:nvSpPr>
          <p:cNvPr id="6" name="Shape 4"/>
          <p:cNvSpPr/>
          <p:nvPr/>
        </p:nvSpPr>
        <p:spPr>
          <a:xfrm>
            <a:off x="594360" y="2770632"/>
            <a:ext cx="3511296" cy="1408176"/>
          </a:xfrm>
          <a:prstGeom prst="rect">
            <a:avLst/>
          </a:prstGeom>
          <a:solidFill>
            <a:srgbClr val="FAFAF8"/>
          </a:solidFill>
          <a:ln w="6350">
            <a:solidFill>
              <a:srgbClr val="D4D4D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95528" y="2935224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002FA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01</a:t>
            </a:r>
            <a:endParaRPr lang="zh-CN" sz="850" dirty="0"/>
          </a:p>
        </p:txBody>
      </p:sp>
      <p:sp>
        <p:nvSpPr>
          <p:cNvPr id="8" name="Text 6"/>
          <p:cNvSpPr txBox="1"/>
          <p:nvPr/>
        </p:nvSpPr>
        <p:spPr>
          <a:xfrm>
            <a:off x="1307592" y="2907792"/>
            <a:ext cx="2596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55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选岗位和人群</a:t>
            </a:r>
            <a:endParaRPr lang="zh-CN" sz="1550" dirty="0"/>
          </a:p>
        </p:txBody>
      </p:sp>
      <p:sp>
        <p:nvSpPr>
          <p:cNvPr id="9" name="Text 7"/>
          <p:cNvSpPr txBox="1"/>
          <p:nvPr/>
        </p:nvSpPr>
        <p:spPr>
          <a:xfrm>
            <a:off x="1307592" y="332841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7373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项目范围</a:t>
            </a:r>
            <a:endParaRPr lang="zh-CN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1307592" y="3621024"/>
            <a:ext cx="2596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230" dirty="0">
                <a:solidFill>
                  <a:srgbClr val="52525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按岗位、人才分类或 IDP 目标选人。</a:t>
            </a:r>
            <a:endParaRPr lang="zh-CN" sz="1230" dirty="0"/>
          </a:p>
        </p:txBody>
      </p:sp>
      <p:sp>
        <p:nvSpPr>
          <p:cNvPr id="11" name="Shape 9"/>
          <p:cNvSpPr/>
          <p:nvPr/>
        </p:nvSpPr>
        <p:spPr>
          <a:xfrm>
            <a:off x="4338828" y="2770632"/>
            <a:ext cx="3511296" cy="1408176"/>
          </a:xfrm>
          <a:prstGeom prst="rect">
            <a:avLst/>
          </a:prstGeom>
          <a:solidFill>
            <a:srgbClr val="FAFAF8"/>
          </a:solidFill>
          <a:ln w="6350">
            <a:solidFill>
              <a:srgbClr val="D4D4D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39996" y="2935224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002FA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02</a:t>
            </a:r>
            <a:endParaRPr lang="zh-CN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5052060" y="2907792"/>
            <a:ext cx="2596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55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汇总共性差距</a:t>
            </a:r>
            <a:endParaRPr lang="zh-CN" sz="1550" dirty="0"/>
          </a:p>
        </p:txBody>
      </p:sp>
      <p:sp>
        <p:nvSpPr>
          <p:cNvPr id="14" name="Text 12"/>
          <p:cNvSpPr txBox="1"/>
          <p:nvPr/>
        </p:nvSpPr>
        <p:spPr>
          <a:xfrm>
            <a:off x="5052060" y="332841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7373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能力差距</a:t>
            </a:r>
            <a:endParaRPr lang="zh-CN" sz="850" dirty="0"/>
          </a:p>
        </p:txBody>
      </p:sp>
      <p:sp>
        <p:nvSpPr>
          <p:cNvPr id="15" name="Text 13"/>
          <p:cNvSpPr txBox="1"/>
          <p:nvPr/>
        </p:nvSpPr>
        <p:spPr>
          <a:xfrm>
            <a:off x="5052060" y="3621024"/>
            <a:ext cx="2596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230" dirty="0">
                <a:solidFill>
                  <a:srgbClr val="52525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看看哪些能力问题出现得最多。</a:t>
            </a:r>
            <a:endParaRPr lang="zh-CN" sz="1230" dirty="0"/>
          </a:p>
        </p:txBody>
      </p:sp>
      <p:sp>
        <p:nvSpPr>
          <p:cNvPr id="16" name="Shape 14"/>
          <p:cNvSpPr/>
          <p:nvPr/>
        </p:nvSpPr>
        <p:spPr>
          <a:xfrm>
            <a:off x="8083296" y="2770632"/>
            <a:ext cx="3511296" cy="1408176"/>
          </a:xfrm>
          <a:prstGeom prst="rect">
            <a:avLst/>
          </a:prstGeom>
          <a:solidFill>
            <a:srgbClr val="FAFAF8"/>
          </a:solidFill>
          <a:ln w="6350">
            <a:solidFill>
              <a:srgbClr val="D4D4D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84464" y="2935224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002FA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03</a:t>
            </a:r>
            <a:endParaRPr lang="zh-CN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8796528" y="2907792"/>
            <a:ext cx="2596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55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定培养目标</a:t>
            </a:r>
            <a:endParaRPr lang="zh-CN" sz="1550" dirty="0"/>
          </a:p>
        </p:txBody>
      </p:sp>
      <p:sp>
        <p:nvSpPr>
          <p:cNvPr id="19" name="Text 17"/>
          <p:cNvSpPr txBox="1"/>
          <p:nvPr/>
        </p:nvSpPr>
        <p:spPr>
          <a:xfrm>
            <a:off x="8796528" y="332841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7373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能力目标</a:t>
            </a:r>
            <a:endParaRPr lang="zh-CN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8796528" y="3621024"/>
            <a:ext cx="2596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230" dirty="0">
                <a:solidFill>
                  <a:srgbClr val="52525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要补什么能力、补到什么等级，直接写清楚。</a:t>
            </a:r>
            <a:endParaRPr lang="zh-CN" sz="1230" dirty="0"/>
          </a:p>
        </p:txBody>
      </p:sp>
      <p:sp>
        <p:nvSpPr>
          <p:cNvPr id="21" name="Shape 19"/>
          <p:cNvSpPr/>
          <p:nvPr/>
        </p:nvSpPr>
        <p:spPr>
          <a:xfrm>
            <a:off x="8083296" y="4434840"/>
            <a:ext cx="3511296" cy="1408176"/>
          </a:xfrm>
          <a:prstGeom prst="rect">
            <a:avLst/>
          </a:prstGeom>
          <a:solidFill>
            <a:srgbClr val="FAFAF8"/>
          </a:solidFill>
          <a:ln w="6350">
            <a:solidFill>
              <a:srgbClr val="D4D4D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84464" y="4599432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002FA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04</a:t>
            </a:r>
            <a:endParaRPr lang="zh-CN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8796528" y="4572000"/>
            <a:ext cx="2596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55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配课程和项目</a:t>
            </a:r>
            <a:endParaRPr lang="zh-CN" sz="1550" dirty="0"/>
          </a:p>
        </p:txBody>
      </p:sp>
      <p:sp>
        <p:nvSpPr>
          <p:cNvPr id="24" name="Text 22"/>
          <p:cNvSpPr txBox="1"/>
          <p:nvPr/>
        </p:nvSpPr>
        <p:spPr>
          <a:xfrm>
            <a:off x="8796528" y="499262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7373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学习方案</a:t>
            </a:r>
            <a:endParaRPr lang="zh-CN" sz="850" dirty="0"/>
          </a:p>
        </p:txBody>
      </p:sp>
      <p:sp>
        <p:nvSpPr>
          <p:cNvPr id="25" name="Text 23"/>
          <p:cNvSpPr txBox="1"/>
          <p:nvPr/>
        </p:nvSpPr>
        <p:spPr>
          <a:xfrm>
            <a:off x="8796528" y="5285232"/>
            <a:ext cx="2596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230" dirty="0">
                <a:solidFill>
                  <a:srgbClr val="52525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系统先给建议，HR 可以增删、调整。</a:t>
            </a:r>
            <a:endParaRPr lang="zh-CN" sz="1230" dirty="0"/>
          </a:p>
        </p:txBody>
      </p:sp>
      <p:sp>
        <p:nvSpPr>
          <p:cNvPr id="26" name="Shape 24"/>
          <p:cNvSpPr/>
          <p:nvPr/>
        </p:nvSpPr>
        <p:spPr>
          <a:xfrm>
            <a:off x="4338828" y="4434840"/>
            <a:ext cx="3511296" cy="1408176"/>
          </a:xfrm>
          <a:prstGeom prst="rect">
            <a:avLst/>
          </a:prstGeom>
          <a:solidFill>
            <a:srgbClr val="FAFAF8"/>
          </a:solidFill>
          <a:ln w="6350">
            <a:solidFill>
              <a:srgbClr val="D4D4D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539996" y="4599432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002FA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05</a:t>
            </a:r>
            <a:endParaRPr lang="zh-CN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5052060" y="4572000"/>
            <a:ext cx="2596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55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接前测和后测</a:t>
            </a:r>
            <a:endParaRPr lang="zh-CN" sz="1550" dirty="0"/>
          </a:p>
        </p:txBody>
      </p:sp>
      <p:sp>
        <p:nvSpPr>
          <p:cNvPr id="29" name="Text 27"/>
          <p:cNvSpPr txBox="1"/>
          <p:nvPr/>
        </p:nvSpPr>
        <p:spPr>
          <a:xfrm>
            <a:off x="5052060" y="499262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7373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效果评估</a:t>
            </a:r>
            <a:endParaRPr lang="zh-CN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5052060" y="5285232"/>
            <a:ext cx="2596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230" dirty="0">
                <a:solidFill>
                  <a:srgbClr val="52525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关联已有考试，看培养前后的变化。</a:t>
            </a:r>
            <a:endParaRPr lang="zh-CN" sz="1230" dirty="0"/>
          </a:p>
        </p:txBody>
      </p:sp>
      <p:sp>
        <p:nvSpPr>
          <p:cNvPr id="31" name="Shape 29"/>
          <p:cNvSpPr/>
          <p:nvPr/>
        </p:nvSpPr>
        <p:spPr>
          <a:xfrm>
            <a:off x="594360" y="4434840"/>
            <a:ext cx="3511296" cy="1408176"/>
          </a:xfrm>
          <a:prstGeom prst="rect">
            <a:avLst/>
          </a:prstGeom>
          <a:solidFill>
            <a:srgbClr val="FAFAF8"/>
          </a:solidFill>
          <a:ln w="6350">
            <a:solidFill>
              <a:srgbClr val="D4D4D2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95528" y="4599432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002FA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06</a:t>
            </a:r>
            <a:endParaRPr lang="zh-CN" sz="850" dirty="0"/>
          </a:p>
        </p:txBody>
      </p:sp>
      <p:sp>
        <p:nvSpPr>
          <p:cNvPr id="33" name="Text 31"/>
          <p:cNvSpPr txBox="1"/>
          <p:nvPr/>
        </p:nvSpPr>
        <p:spPr>
          <a:xfrm>
            <a:off x="1307592" y="4572000"/>
            <a:ext cx="2596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55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结果回到个人</a:t>
            </a:r>
            <a:endParaRPr lang="zh-CN" sz="1550" dirty="0"/>
          </a:p>
        </p:txBody>
      </p:sp>
      <p:sp>
        <p:nvSpPr>
          <p:cNvPr id="34" name="Text 32"/>
          <p:cNvSpPr txBox="1"/>
          <p:nvPr/>
        </p:nvSpPr>
        <p:spPr>
          <a:xfrm>
            <a:off x="1307592" y="499262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7373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人才档案</a:t>
            </a:r>
            <a:endParaRPr lang="zh-CN" sz="850" dirty="0"/>
          </a:p>
        </p:txBody>
      </p:sp>
      <p:sp>
        <p:nvSpPr>
          <p:cNvPr id="35" name="Text 33"/>
          <p:cNvSpPr txBox="1"/>
          <p:nvPr/>
        </p:nvSpPr>
        <p:spPr>
          <a:xfrm>
            <a:off x="1307592" y="5285232"/>
            <a:ext cx="2596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230" dirty="0">
                <a:solidFill>
                  <a:srgbClr val="52525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结果回到人才档案，下次匹配和盘点继续用。</a:t>
            </a:r>
            <a:endParaRPr lang="zh-CN" sz="1230" dirty="0"/>
          </a:p>
        </p:txBody>
      </p:sp>
      <p:sp>
        <p:nvSpPr>
          <p:cNvPr id="36" name="Shape 34"/>
          <p:cNvSpPr/>
          <p:nvPr/>
        </p:nvSpPr>
        <p:spPr>
          <a:xfrm>
            <a:off x="4133088" y="3465576"/>
            <a:ext cx="178308" cy="0"/>
          </a:xfrm>
          <a:prstGeom prst="line">
            <a:avLst/>
          </a:prstGeom>
          <a:noFill/>
          <a:ln w="17780">
            <a:solidFill>
              <a:srgbClr val="002FA7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7877556" y="3465576"/>
            <a:ext cx="178308" cy="0"/>
          </a:xfrm>
          <a:prstGeom prst="line">
            <a:avLst/>
          </a:prstGeom>
          <a:noFill/>
          <a:ln w="17780">
            <a:solidFill>
              <a:srgbClr val="002FA7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11521440" y="4206240"/>
            <a:ext cx="0" cy="201168"/>
          </a:xfrm>
          <a:prstGeom prst="line">
            <a:avLst/>
          </a:prstGeom>
          <a:noFill/>
          <a:ln w="17780">
            <a:solidFill>
              <a:srgbClr val="002FA7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4133088" y="5129784"/>
            <a:ext cx="178308" cy="0"/>
          </a:xfrm>
          <a:prstGeom prst="line">
            <a:avLst/>
          </a:prstGeom>
          <a:noFill/>
          <a:ln w="17780">
            <a:solidFill>
              <a:srgbClr val="002FA7"/>
            </a:solidFill>
            <a:prstDash val="solid"/>
            <a:headEnd type="triangle"/>
          </a:ln>
        </p:spPr>
      </p:sp>
      <p:sp>
        <p:nvSpPr>
          <p:cNvPr id="40" name="Shape 38"/>
          <p:cNvSpPr/>
          <p:nvPr/>
        </p:nvSpPr>
        <p:spPr>
          <a:xfrm>
            <a:off x="7877556" y="5129784"/>
            <a:ext cx="178308" cy="0"/>
          </a:xfrm>
          <a:prstGeom prst="line">
            <a:avLst/>
          </a:prstGeom>
          <a:noFill/>
          <a:ln w="17780">
            <a:solidFill>
              <a:srgbClr val="002FA7"/>
            </a:solidFill>
            <a:prstDash val="solid"/>
            <a:headEnd type="triangle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84048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B9B9B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07 · 模块设计 / 原型怎么串</a:t>
            </a:r>
            <a:endParaRPr lang="zh-CN" sz="850" dirty="0"/>
          </a:p>
        </p:txBody>
      </p:sp>
      <p:sp>
        <p:nvSpPr>
          <p:cNvPr id="3" name="Text 1"/>
          <p:cNvSpPr txBox="1"/>
          <p:nvPr/>
        </p:nvSpPr>
        <p:spPr>
          <a:xfrm>
            <a:off x="10682935" y="38404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850" b="1" spc="120" kern="0" dirty="0">
                <a:solidFill>
                  <a:srgbClr val="B9B9B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10 / 12</a:t>
            </a:r>
            <a:endParaRPr lang="zh-CN" sz="85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841248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A8A8A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界面只做定位，重点看数据怎么往下走</a:t>
            </a:r>
            <a:endParaRPr lang="zh-CN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124712"/>
            <a:ext cx="102412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35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这一步做完，下一步直接接着用</a:t>
            </a:r>
            <a:endParaRPr lang="zh-CN" sz="3500" dirty="0"/>
          </a:p>
        </p:txBody>
      </p:sp>
      <p:sp>
        <p:nvSpPr>
          <p:cNvPr id="6" name="Shape 4"/>
          <p:cNvSpPr/>
          <p:nvPr/>
        </p:nvSpPr>
        <p:spPr>
          <a:xfrm>
            <a:off x="594360" y="1965960"/>
            <a:ext cx="3493008" cy="1856232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岗位中心关键区域截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" y="2020824"/>
            <a:ext cx="3383280" cy="16916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94360" y="3968496"/>
            <a:ext cx="3493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B8B8B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岗位中心</a:t>
            </a:r>
            <a:endParaRPr lang="zh-CN" sz="850" dirty="0"/>
          </a:p>
        </p:txBody>
      </p:sp>
      <p:sp>
        <p:nvSpPr>
          <p:cNvPr id="9" name="Shape 6"/>
          <p:cNvSpPr/>
          <p:nvPr/>
        </p:nvSpPr>
        <p:spPr>
          <a:xfrm>
            <a:off x="594360" y="4315968"/>
            <a:ext cx="3493008" cy="1417320"/>
          </a:xfrm>
          <a:prstGeom prst="rect">
            <a:avLst/>
          </a:prstGeom>
          <a:solidFill>
            <a:srgbClr val="232323"/>
          </a:solidFill>
          <a:ln w="6350">
            <a:solidFill>
              <a:srgbClr val="232323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4498848"/>
            <a:ext cx="3127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A9A9A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01 · 定清楚</a:t>
            </a:r>
            <a:endParaRPr lang="zh-CN" sz="85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4828032"/>
            <a:ext cx="31272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7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岗位与标准</a:t>
            </a:r>
            <a:endParaRPr lang="zh-CN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5285232"/>
            <a:ext cx="3127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230" dirty="0">
                <a:solidFill>
                  <a:srgbClr val="D5D5D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关键岗位定清楚，岗位要求定下来。</a:t>
            </a:r>
            <a:endParaRPr lang="zh-CN" sz="1230" dirty="0"/>
          </a:p>
        </p:txBody>
      </p:sp>
      <p:sp>
        <p:nvSpPr>
          <p:cNvPr id="13" name="Shape 10"/>
          <p:cNvSpPr/>
          <p:nvPr/>
        </p:nvSpPr>
        <p:spPr>
          <a:xfrm>
            <a:off x="4114800" y="5010912"/>
            <a:ext cx="205740" cy="0"/>
          </a:xfrm>
          <a:prstGeom prst="line">
            <a:avLst/>
          </a:prstGeom>
          <a:noFill/>
          <a:ln w="19050">
            <a:solidFill>
              <a:srgbClr val="5B7BFF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4347972" y="1965960"/>
            <a:ext cx="3493008" cy="1856232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5" name="Image 1" descr="评鉴中心 × 人才中心关键区域截图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2836" y="2020824"/>
            <a:ext cx="3383280" cy="169164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4347972" y="3968496"/>
            <a:ext cx="3493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B8B8B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评鉴中心 × 人才中心</a:t>
            </a:r>
            <a:endParaRPr lang="zh-CN" sz="850" dirty="0"/>
          </a:p>
        </p:txBody>
      </p:sp>
      <p:sp>
        <p:nvSpPr>
          <p:cNvPr id="17" name="Shape 13"/>
          <p:cNvSpPr/>
          <p:nvPr/>
        </p:nvSpPr>
        <p:spPr>
          <a:xfrm>
            <a:off x="4347972" y="4315968"/>
            <a:ext cx="3493008" cy="1417320"/>
          </a:xfrm>
          <a:prstGeom prst="rect">
            <a:avLst/>
          </a:prstGeom>
          <a:solidFill>
            <a:srgbClr val="232323"/>
          </a:solidFill>
          <a:ln w="6350">
            <a:solidFill>
              <a:srgbClr val="232323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530852" y="4498848"/>
            <a:ext cx="3127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A9A9A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02 · 看明白</a:t>
            </a:r>
            <a:endParaRPr lang="zh-CN" sz="850" dirty="0"/>
          </a:p>
        </p:txBody>
      </p:sp>
      <p:sp>
        <p:nvSpPr>
          <p:cNvPr id="19" name="Text 15"/>
          <p:cNvSpPr txBox="1"/>
          <p:nvPr/>
        </p:nvSpPr>
        <p:spPr>
          <a:xfrm>
            <a:off x="4530852" y="4828032"/>
            <a:ext cx="31272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7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人才与差距</a:t>
            </a:r>
            <a:endParaRPr lang="zh-CN" sz="1700" dirty="0"/>
          </a:p>
        </p:txBody>
      </p:sp>
      <p:sp>
        <p:nvSpPr>
          <p:cNvPr id="20" name="Text 16"/>
          <p:cNvSpPr txBox="1"/>
          <p:nvPr/>
        </p:nvSpPr>
        <p:spPr>
          <a:xfrm>
            <a:off x="4530852" y="5285232"/>
            <a:ext cx="3127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230" dirty="0">
                <a:solidFill>
                  <a:srgbClr val="D5D5D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评鉴、绩效和人员信息放在一起看。</a:t>
            </a:r>
            <a:endParaRPr lang="zh-CN" sz="1230" dirty="0"/>
          </a:p>
        </p:txBody>
      </p:sp>
      <p:sp>
        <p:nvSpPr>
          <p:cNvPr id="21" name="Shape 17"/>
          <p:cNvSpPr/>
          <p:nvPr/>
        </p:nvSpPr>
        <p:spPr>
          <a:xfrm>
            <a:off x="7868412" y="5010912"/>
            <a:ext cx="205740" cy="0"/>
          </a:xfrm>
          <a:prstGeom prst="line">
            <a:avLst/>
          </a:prstGeom>
          <a:noFill/>
          <a:ln w="19050">
            <a:solidFill>
              <a:srgbClr val="5B7BFF"/>
            </a:solidFill>
            <a:prstDash val="solid"/>
            <a:tailEnd type="triangle"/>
          </a:ln>
        </p:spPr>
      </p:sp>
      <p:sp>
        <p:nvSpPr>
          <p:cNvPr id="22" name="Shape 18"/>
          <p:cNvSpPr/>
          <p:nvPr/>
        </p:nvSpPr>
        <p:spPr>
          <a:xfrm>
            <a:off x="8101584" y="1965960"/>
            <a:ext cx="3493008" cy="1856232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3" name="Image 2" descr="发展中心关键区域截图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6448" y="2020824"/>
            <a:ext cx="3383280" cy="1691640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8101584" y="3968496"/>
            <a:ext cx="3493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B8B8B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发展中心</a:t>
            </a:r>
            <a:endParaRPr lang="zh-CN" sz="850" dirty="0"/>
          </a:p>
        </p:txBody>
      </p:sp>
      <p:sp>
        <p:nvSpPr>
          <p:cNvPr id="25" name="Shape 20"/>
          <p:cNvSpPr/>
          <p:nvPr/>
        </p:nvSpPr>
        <p:spPr>
          <a:xfrm>
            <a:off x="8101584" y="4315968"/>
            <a:ext cx="3493008" cy="1417320"/>
          </a:xfrm>
          <a:prstGeom prst="rect">
            <a:avLst/>
          </a:prstGeom>
          <a:solidFill>
            <a:srgbClr val="232323"/>
          </a:solidFill>
          <a:ln w="6350">
            <a:solidFill>
              <a:srgbClr val="232323">
                <a:alpha val="0"/>
              </a:srgbClr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8284464" y="4498848"/>
            <a:ext cx="3127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A9A9A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03 · 做下去</a:t>
            </a:r>
            <a:endParaRPr lang="zh-CN" sz="850" dirty="0"/>
          </a:p>
        </p:txBody>
      </p:sp>
      <p:sp>
        <p:nvSpPr>
          <p:cNvPr id="27" name="Text 22"/>
          <p:cNvSpPr txBox="1"/>
          <p:nvPr/>
        </p:nvSpPr>
        <p:spPr>
          <a:xfrm>
            <a:off x="8284464" y="4828032"/>
            <a:ext cx="31272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7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IDP 与培训</a:t>
            </a:r>
            <a:endParaRPr lang="zh-CN" sz="1700" dirty="0"/>
          </a:p>
        </p:txBody>
      </p:sp>
      <p:sp>
        <p:nvSpPr>
          <p:cNvPr id="28" name="Text 23"/>
          <p:cNvSpPr txBox="1"/>
          <p:nvPr/>
        </p:nvSpPr>
        <p:spPr>
          <a:xfrm>
            <a:off x="8284464" y="5285232"/>
            <a:ext cx="3127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230" dirty="0">
                <a:solidFill>
                  <a:srgbClr val="D5D5D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个人差距进 IDP，共性差距进培训项目。</a:t>
            </a:r>
            <a:endParaRPr lang="zh-CN" sz="123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84048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7373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08 · 一轮做完 / 谁拿到什么</a:t>
            </a:r>
            <a:endParaRPr lang="zh-CN" sz="850" dirty="0"/>
          </a:p>
        </p:txBody>
      </p:sp>
      <p:sp>
        <p:nvSpPr>
          <p:cNvPr id="3" name="Text 1"/>
          <p:cNvSpPr txBox="1"/>
          <p:nvPr/>
        </p:nvSpPr>
        <p:spPr>
          <a:xfrm>
            <a:off x="10682935" y="38404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850" b="1" spc="120" kern="0" dirty="0">
                <a:solidFill>
                  <a:srgbClr val="7373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11 / 12</a:t>
            </a:r>
            <a:endParaRPr lang="zh-CN" sz="85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896112"/>
            <a:ext cx="7132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7373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结果直接交到使用的人手里</a:t>
            </a:r>
            <a:endParaRPr lang="zh-CN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078992"/>
            <a:ext cx="7635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370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一轮工作结束，</a:t>
            </a:r>
            <a:endParaRPr lang="zh-CN" sz="3700" dirty="0"/>
          </a:p>
          <a:p>
            <a:pPr algn="l" indent="0" marL="0">
              <a:buNone/>
            </a:pPr>
            <a:r>
              <a:rPr lang="zh-CN" altLang="en-US" sz="370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每个人都有能继续用的结果</a:t>
            </a:r>
            <a:endParaRPr lang="zh-CN" sz="3700" dirty="0"/>
          </a:p>
        </p:txBody>
      </p:sp>
      <p:sp>
        <p:nvSpPr>
          <p:cNvPr id="6" name="Shape 4"/>
          <p:cNvSpPr/>
          <p:nvPr/>
        </p:nvSpPr>
        <p:spPr>
          <a:xfrm>
            <a:off x="594360" y="2651760"/>
            <a:ext cx="1920240" cy="0"/>
          </a:xfrm>
          <a:prstGeom prst="line">
            <a:avLst/>
          </a:prstGeom>
          <a:noFill/>
          <a:ln w="21590">
            <a:solidFill>
              <a:srgbClr val="002FA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3017520"/>
            <a:ext cx="2432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7373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— 01 / 业务负责人</a:t>
            </a:r>
            <a:endParaRPr lang="zh-CN" sz="85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3767328"/>
            <a:ext cx="2432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210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用人有依据</a:t>
            </a:r>
            <a:endParaRPr lang="zh-CN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4983480"/>
            <a:ext cx="23682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260" dirty="0">
                <a:solidFill>
                  <a:srgbClr val="52525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拿到关键岗位标准、</a:t>
            </a:r>
            <a:endParaRPr lang="zh-CN" sz="1260" dirty="0"/>
          </a:p>
          <a:p>
            <a:pPr algn="l" indent="0" marL="0">
              <a:buNone/>
            </a:pPr>
            <a:r>
              <a:rPr lang="zh-CN" altLang="en-US" sz="1260" dirty="0">
                <a:solidFill>
                  <a:srgbClr val="52525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盘点结论和人岗差距。</a:t>
            </a:r>
            <a:endParaRPr lang="zh-CN" sz="1260" dirty="0"/>
          </a:p>
        </p:txBody>
      </p:sp>
      <p:sp>
        <p:nvSpPr>
          <p:cNvPr id="10" name="Shape 8"/>
          <p:cNvSpPr/>
          <p:nvPr/>
        </p:nvSpPr>
        <p:spPr>
          <a:xfrm>
            <a:off x="3346704" y="2971800"/>
            <a:ext cx="0" cy="2834640"/>
          </a:xfrm>
          <a:prstGeom prst="line">
            <a:avLst/>
          </a:prstGeom>
          <a:noFill/>
          <a:ln w="7620">
            <a:solidFill>
              <a:srgbClr val="D4D4D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47872" y="3017520"/>
            <a:ext cx="2432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7373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— 02 / HR 与人才发展</a:t>
            </a:r>
            <a:endParaRPr lang="zh-CN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3547872" y="3767328"/>
            <a:ext cx="2432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210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后续工作接得上</a:t>
            </a:r>
            <a:endParaRPr lang="zh-CN" sz="2100" dirty="0"/>
          </a:p>
        </p:txBody>
      </p:sp>
      <p:sp>
        <p:nvSpPr>
          <p:cNvPr id="13" name="Text 11"/>
          <p:cNvSpPr txBox="1"/>
          <p:nvPr/>
        </p:nvSpPr>
        <p:spPr>
          <a:xfrm>
            <a:off x="3547872" y="4983480"/>
            <a:ext cx="23682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260" dirty="0">
                <a:solidFill>
                  <a:srgbClr val="52525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建模、评估、盘点、IDP 和培训，</a:t>
            </a:r>
            <a:endParaRPr lang="zh-CN" sz="1260" dirty="0"/>
          </a:p>
          <a:p>
            <a:pPr algn="l" indent="0" marL="0">
              <a:buNone/>
            </a:pPr>
            <a:r>
              <a:rPr lang="zh-CN" altLang="en-US" sz="1260" dirty="0">
                <a:solidFill>
                  <a:srgbClr val="52525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用的是同一套数据。</a:t>
            </a:r>
            <a:endParaRPr lang="zh-CN" sz="1260" dirty="0"/>
          </a:p>
        </p:txBody>
      </p:sp>
      <p:sp>
        <p:nvSpPr>
          <p:cNvPr id="14" name="Shape 12"/>
          <p:cNvSpPr/>
          <p:nvPr/>
        </p:nvSpPr>
        <p:spPr>
          <a:xfrm>
            <a:off x="6099048" y="2971800"/>
            <a:ext cx="0" cy="2834640"/>
          </a:xfrm>
          <a:prstGeom prst="line">
            <a:avLst/>
          </a:prstGeom>
          <a:noFill/>
          <a:ln w="7620">
            <a:solidFill>
              <a:srgbClr val="D4D4D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00216" y="3017520"/>
            <a:ext cx="2432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7373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— 03 / 直接经理</a:t>
            </a:r>
            <a:endParaRPr lang="zh-CN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6300216" y="3767328"/>
            <a:ext cx="2432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210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知道怎么带人</a:t>
            </a:r>
            <a:endParaRPr lang="zh-CN" sz="2100" dirty="0"/>
          </a:p>
        </p:txBody>
      </p:sp>
      <p:sp>
        <p:nvSpPr>
          <p:cNvPr id="17" name="Text 15"/>
          <p:cNvSpPr txBox="1"/>
          <p:nvPr/>
        </p:nvSpPr>
        <p:spPr>
          <a:xfrm>
            <a:off x="6300216" y="4983480"/>
            <a:ext cx="23682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260" dirty="0">
                <a:solidFill>
                  <a:srgbClr val="52525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知道员工差在哪、这期做什么、</a:t>
            </a:r>
            <a:endParaRPr lang="zh-CN" sz="1260" dirty="0"/>
          </a:p>
          <a:p>
            <a:pPr algn="l" indent="0" marL="0">
              <a:buNone/>
            </a:pPr>
            <a:r>
              <a:rPr lang="zh-CN" altLang="en-US" sz="1260" dirty="0">
                <a:solidFill>
                  <a:srgbClr val="52525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什么时候完成。</a:t>
            </a:r>
            <a:endParaRPr lang="zh-CN" sz="1260" dirty="0"/>
          </a:p>
        </p:txBody>
      </p:sp>
      <p:sp>
        <p:nvSpPr>
          <p:cNvPr id="18" name="Shape 16"/>
          <p:cNvSpPr/>
          <p:nvPr/>
        </p:nvSpPr>
        <p:spPr>
          <a:xfrm>
            <a:off x="8851392" y="2971800"/>
            <a:ext cx="0" cy="2834640"/>
          </a:xfrm>
          <a:prstGeom prst="line">
            <a:avLst/>
          </a:prstGeom>
          <a:noFill/>
          <a:ln w="7620">
            <a:solidFill>
              <a:srgbClr val="D4D4D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052560" y="3017520"/>
            <a:ext cx="2432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7373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— 04 / 员工</a:t>
            </a:r>
            <a:endParaRPr lang="zh-CN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9052560" y="3767328"/>
            <a:ext cx="2432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2100" dirty="0">
                <a:solidFill>
                  <a:srgbClr val="002FA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知道下一步怎么走</a:t>
            </a:r>
            <a:endParaRPr lang="zh-CN" sz="2100" dirty="0"/>
          </a:p>
        </p:txBody>
      </p:sp>
      <p:sp>
        <p:nvSpPr>
          <p:cNvPr id="21" name="Text 19"/>
          <p:cNvSpPr txBox="1"/>
          <p:nvPr/>
        </p:nvSpPr>
        <p:spPr>
          <a:xfrm>
            <a:off x="9052560" y="4983480"/>
            <a:ext cx="23682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260" dirty="0">
                <a:solidFill>
                  <a:srgbClr val="52525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清楚岗位要求、个人差距</a:t>
            </a:r>
            <a:endParaRPr lang="zh-CN" sz="1260" dirty="0"/>
          </a:p>
          <a:p>
            <a:pPr algn="l" indent="0" marL="0">
              <a:buNone/>
            </a:pPr>
            <a:r>
              <a:rPr lang="zh-CN" altLang="en-US" sz="1260" dirty="0">
                <a:solidFill>
                  <a:srgbClr val="52525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和自己的发展安排。</a:t>
            </a:r>
            <a:endParaRPr lang="zh-CN" sz="126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099048" cy="6858000"/>
          </a:xfrm>
          <a:prstGeom prst="rect">
            <a:avLst/>
          </a:prstGeom>
          <a:solidFill>
            <a:srgbClr val="002FA7"/>
          </a:solidFill>
          <a:ln w="6350">
            <a:solidFill>
              <a:srgbClr val="002FA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822960"/>
            <a:ext cx="41148" cy="41148"/>
          </a:xfrm>
          <a:prstGeom prst="rect">
            <a:avLst/>
          </a:prstGeom>
          <a:solidFill>
            <a:srgbClr val="FFFFFF">
              <a:alpha val="52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78408" y="822960"/>
            <a:ext cx="41148" cy="41148"/>
          </a:xfrm>
          <a:prstGeom prst="rect">
            <a:avLst/>
          </a:prstGeom>
          <a:solidFill>
            <a:srgbClr val="FFFFFF">
              <a:alpha val="47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89888" y="822960"/>
            <a:ext cx="41148" cy="41148"/>
          </a:xfrm>
          <a:prstGeom prst="rect">
            <a:avLst/>
          </a:prstGeom>
          <a:solidFill>
            <a:srgbClr val="FFFFFF">
              <a:alpha val="42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01368" y="822960"/>
            <a:ext cx="41148" cy="41148"/>
          </a:xfrm>
          <a:prstGeom prst="rect">
            <a:avLst/>
          </a:prstGeom>
          <a:solidFill>
            <a:srgbClr val="FFFFFF">
              <a:alpha val="37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12848" y="822960"/>
            <a:ext cx="41148" cy="41148"/>
          </a:xfrm>
          <a:prstGeom prst="rect">
            <a:avLst/>
          </a:prstGeom>
          <a:solidFill>
            <a:srgbClr val="FFFFFF">
              <a:alpha val="32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624328" y="822960"/>
            <a:ext cx="41148" cy="41148"/>
          </a:xfrm>
          <a:prstGeom prst="rect">
            <a:avLst/>
          </a:prstGeom>
          <a:solidFill>
            <a:srgbClr val="FFFFFF">
              <a:alpha val="27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035808" y="822960"/>
            <a:ext cx="41148" cy="41148"/>
          </a:xfrm>
          <a:prstGeom prst="rect">
            <a:avLst/>
          </a:prstGeom>
          <a:solidFill>
            <a:srgbClr val="FFFFFF">
              <a:alpha val="22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47288" y="822960"/>
            <a:ext cx="41148" cy="41148"/>
          </a:xfrm>
          <a:prstGeom prst="rect">
            <a:avLst/>
          </a:prstGeom>
          <a:solidFill>
            <a:srgbClr val="FFFFFF">
              <a:alpha val="17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6928" y="1234440"/>
            <a:ext cx="41148" cy="41148"/>
          </a:xfrm>
          <a:prstGeom prst="rect">
            <a:avLst/>
          </a:prstGeom>
          <a:solidFill>
            <a:srgbClr val="FFFFFF">
              <a:alpha val="39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78408" y="1234440"/>
            <a:ext cx="41148" cy="41148"/>
          </a:xfrm>
          <a:prstGeom prst="rect">
            <a:avLst/>
          </a:prstGeom>
          <a:solidFill>
            <a:srgbClr val="FFFFFF">
              <a:alpha val="34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389888" y="1234440"/>
            <a:ext cx="41148" cy="41148"/>
          </a:xfrm>
          <a:prstGeom prst="rect">
            <a:avLst/>
          </a:prstGeom>
          <a:solidFill>
            <a:srgbClr val="FFFFFF">
              <a:alpha val="29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801368" y="1234440"/>
            <a:ext cx="41148" cy="41148"/>
          </a:xfrm>
          <a:prstGeom prst="rect">
            <a:avLst/>
          </a:prstGeom>
          <a:solidFill>
            <a:srgbClr val="FFFFFF">
              <a:alpha val="24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12848" y="1234440"/>
            <a:ext cx="41148" cy="41148"/>
          </a:xfrm>
          <a:prstGeom prst="rect">
            <a:avLst/>
          </a:prstGeom>
          <a:solidFill>
            <a:srgbClr val="FFFFFF">
              <a:alpha val="19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24328" y="1234440"/>
            <a:ext cx="41148" cy="41148"/>
          </a:xfrm>
          <a:prstGeom prst="rect">
            <a:avLst/>
          </a:prstGeom>
          <a:solidFill>
            <a:srgbClr val="FFFFFF">
              <a:alpha val="50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035808" y="1234440"/>
            <a:ext cx="41148" cy="41148"/>
          </a:xfrm>
          <a:prstGeom prst="rect">
            <a:avLst/>
          </a:prstGeom>
          <a:solidFill>
            <a:srgbClr val="FFFFFF">
              <a:alpha val="45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47288" y="1234440"/>
            <a:ext cx="41148" cy="41148"/>
          </a:xfrm>
          <a:prstGeom prst="rect">
            <a:avLst/>
          </a:prstGeom>
          <a:solidFill>
            <a:srgbClr val="FFFFFF">
              <a:alpha val="40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66928" y="1645920"/>
            <a:ext cx="41148" cy="41148"/>
          </a:xfrm>
          <a:prstGeom prst="rect">
            <a:avLst/>
          </a:prstGeom>
          <a:solidFill>
            <a:srgbClr val="FFFFFF">
              <a:alpha val="26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78408" y="1645920"/>
            <a:ext cx="41148" cy="41148"/>
          </a:xfrm>
          <a:prstGeom prst="rect">
            <a:avLst/>
          </a:prstGeom>
          <a:solidFill>
            <a:srgbClr val="FFFFFF">
              <a:alpha val="21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389888" y="1645920"/>
            <a:ext cx="41148" cy="41148"/>
          </a:xfrm>
          <a:prstGeom prst="rect">
            <a:avLst/>
          </a:prstGeom>
          <a:solidFill>
            <a:srgbClr val="FFFFFF">
              <a:alpha val="52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801368" y="1645920"/>
            <a:ext cx="41148" cy="41148"/>
          </a:xfrm>
          <a:prstGeom prst="rect">
            <a:avLst/>
          </a:prstGeom>
          <a:solidFill>
            <a:srgbClr val="FFFFFF">
              <a:alpha val="47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12848" y="1645920"/>
            <a:ext cx="41148" cy="41148"/>
          </a:xfrm>
          <a:prstGeom prst="rect">
            <a:avLst/>
          </a:prstGeom>
          <a:solidFill>
            <a:srgbClr val="FFFFFF">
              <a:alpha val="42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24328" y="1645920"/>
            <a:ext cx="41148" cy="41148"/>
          </a:xfrm>
          <a:prstGeom prst="rect">
            <a:avLst/>
          </a:prstGeom>
          <a:solidFill>
            <a:srgbClr val="FFFFFF">
              <a:alpha val="37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035808" y="1645920"/>
            <a:ext cx="41148" cy="41148"/>
          </a:xfrm>
          <a:prstGeom prst="rect">
            <a:avLst/>
          </a:prstGeom>
          <a:solidFill>
            <a:srgbClr val="FFFFFF">
              <a:alpha val="32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447288" y="1645920"/>
            <a:ext cx="41148" cy="41148"/>
          </a:xfrm>
          <a:prstGeom prst="rect">
            <a:avLst/>
          </a:prstGeom>
          <a:solidFill>
            <a:srgbClr val="FFFFFF">
              <a:alpha val="27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66928" y="2057400"/>
            <a:ext cx="41148" cy="41148"/>
          </a:xfrm>
          <a:prstGeom prst="rect">
            <a:avLst/>
          </a:prstGeom>
          <a:solidFill>
            <a:srgbClr val="FFFFFF">
              <a:alpha val="49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78408" y="2057400"/>
            <a:ext cx="41148" cy="41148"/>
          </a:xfrm>
          <a:prstGeom prst="rect">
            <a:avLst/>
          </a:prstGeom>
          <a:solidFill>
            <a:srgbClr val="FFFFFF">
              <a:alpha val="44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89888" y="2057400"/>
            <a:ext cx="41148" cy="41148"/>
          </a:xfrm>
          <a:prstGeom prst="rect">
            <a:avLst/>
          </a:prstGeom>
          <a:solidFill>
            <a:srgbClr val="FFFFFF">
              <a:alpha val="39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801368" y="2057400"/>
            <a:ext cx="41148" cy="41148"/>
          </a:xfrm>
          <a:prstGeom prst="rect">
            <a:avLst/>
          </a:prstGeom>
          <a:solidFill>
            <a:srgbClr val="FFFFFF">
              <a:alpha val="34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212848" y="2057400"/>
            <a:ext cx="41148" cy="41148"/>
          </a:xfrm>
          <a:prstGeom prst="rect">
            <a:avLst/>
          </a:prstGeom>
          <a:solidFill>
            <a:srgbClr val="FFFFFF">
              <a:alpha val="29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624328" y="2057400"/>
            <a:ext cx="41148" cy="41148"/>
          </a:xfrm>
          <a:prstGeom prst="rect">
            <a:avLst/>
          </a:prstGeom>
          <a:solidFill>
            <a:srgbClr val="FFFFFF">
              <a:alpha val="24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35808" y="2057400"/>
            <a:ext cx="41148" cy="41148"/>
          </a:xfrm>
          <a:prstGeom prst="rect">
            <a:avLst/>
          </a:prstGeom>
          <a:solidFill>
            <a:srgbClr val="FFFFFF">
              <a:alpha val="19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447288" y="2057400"/>
            <a:ext cx="41148" cy="41148"/>
          </a:xfrm>
          <a:prstGeom prst="rect">
            <a:avLst/>
          </a:prstGeom>
          <a:solidFill>
            <a:srgbClr val="FFFFFF">
              <a:alpha val="50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66928" y="2468880"/>
            <a:ext cx="41148" cy="41148"/>
          </a:xfrm>
          <a:prstGeom prst="rect">
            <a:avLst/>
          </a:prstGeom>
          <a:solidFill>
            <a:srgbClr val="FFFFFF">
              <a:alpha val="36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78408" y="2468880"/>
            <a:ext cx="41148" cy="41148"/>
          </a:xfrm>
          <a:prstGeom prst="rect">
            <a:avLst/>
          </a:prstGeom>
          <a:solidFill>
            <a:srgbClr val="FFFFFF">
              <a:alpha val="31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389888" y="2468880"/>
            <a:ext cx="41148" cy="41148"/>
          </a:xfrm>
          <a:prstGeom prst="rect">
            <a:avLst/>
          </a:prstGeom>
          <a:solidFill>
            <a:srgbClr val="FFFFFF">
              <a:alpha val="26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801368" y="2468880"/>
            <a:ext cx="41148" cy="41148"/>
          </a:xfrm>
          <a:prstGeom prst="rect">
            <a:avLst/>
          </a:prstGeom>
          <a:solidFill>
            <a:srgbClr val="FFFFFF">
              <a:alpha val="21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12848" y="2468880"/>
            <a:ext cx="41148" cy="41148"/>
          </a:xfrm>
          <a:prstGeom prst="rect">
            <a:avLst/>
          </a:prstGeom>
          <a:solidFill>
            <a:srgbClr val="FFFFFF">
              <a:alpha val="52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624328" y="2468880"/>
            <a:ext cx="41148" cy="41148"/>
          </a:xfrm>
          <a:prstGeom prst="rect">
            <a:avLst/>
          </a:prstGeom>
          <a:solidFill>
            <a:srgbClr val="FFFFFF">
              <a:alpha val="47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035808" y="2468880"/>
            <a:ext cx="41148" cy="41148"/>
          </a:xfrm>
          <a:prstGeom prst="rect">
            <a:avLst/>
          </a:prstGeom>
          <a:solidFill>
            <a:srgbClr val="FFFFFF">
              <a:alpha val="42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447288" y="2468880"/>
            <a:ext cx="41148" cy="41148"/>
          </a:xfrm>
          <a:prstGeom prst="rect">
            <a:avLst/>
          </a:prstGeom>
          <a:solidFill>
            <a:srgbClr val="FFFFFF">
              <a:alpha val="37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66928" y="2880360"/>
            <a:ext cx="41148" cy="41148"/>
          </a:xfrm>
          <a:prstGeom prst="rect">
            <a:avLst/>
          </a:prstGeom>
          <a:solidFill>
            <a:srgbClr val="FFFFFF">
              <a:alpha val="23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978408" y="2880360"/>
            <a:ext cx="41148" cy="41148"/>
          </a:xfrm>
          <a:prstGeom prst="rect">
            <a:avLst/>
          </a:prstGeom>
          <a:solidFill>
            <a:srgbClr val="FFFFFF">
              <a:alpha val="18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389888" y="2880360"/>
            <a:ext cx="41148" cy="41148"/>
          </a:xfrm>
          <a:prstGeom prst="rect">
            <a:avLst/>
          </a:prstGeom>
          <a:solidFill>
            <a:srgbClr val="FFFFFF">
              <a:alpha val="49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801368" y="2880360"/>
            <a:ext cx="41148" cy="41148"/>
          </a:xfrm>
          <a:prstGeom prst="rect">
            <a:avLst/>
          </a:prstGeom>
          <a:solidFill>
            <a:srgbClr val="FFFFFF">
              <a:alpha val="44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212848" y="2880360"/>
            <a:ext cx="41148" cy="41148"/>
          </a:xfrm>
          <a:prstGeom prst="rect">
            <a:avLst/>
          </a:prstGeom>
          <a:solidFill>
            <a:srgbClr val="FFFFFF">
              <a:alpha val="39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624328" y="2880360"/>
            <a:ext cx="41148" cy="41148"/>
          </a:xfrm>
          <a:prstGeom prst="rect">
            <a:avLst/>
          </a:prstGeom>
          <a:solidFill>
            <a:srgbClr val="FFFFFF">
              <a:alpha val="34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035808" y="2880360"/>
            <a:ext cx="41148" cy="41148"/>
          </a:xfrm>
          <a:prstGeom prst="rect">
            <a:avLst/>
          </a:prstGeom>
          <a:solidFill>
            <a:srgbClr val="FFFFFF">
              <a:alpha val="29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447288" y="2880360"/>
            <a:ext cx="41148" cy="41148"/>
          </a:xfrm>
          <a:prstGeom prst="rect">
            <a:avLst/>
          </a:prstGeom>
          <a:solidFill>
            <a:srgbClr val="FFFFFF">
              <a:alpha val="24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66928" y="3291840"/>
            <a:ext cx="41148" cy="41148"/>
          </a:xfrm>
          <a:prstGeom prst="rect">
            <a:avLst/>
          </a:prstGeom>
          <a:solidFill>
            <a:srgbClr val="FFFFFF">
              <a:alpha val="46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978408" y="3291840"/>
            <a:ext cx="41148" cy="41148"/>
          </a:xfrm>
          <a:prstGeom prst="rect">
            <a:avLst/>
          </a:prstGeom>
          <a:solidFill>
            <a:srgbClr val="FFFFFF">
              <a:alpha val="41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389888" y="3291840"/>
            <a:ext cx="41148" cy="41148"/>
          </a:xfrm>
          <a:prstGeom prst="rect">
            <a:avLst/>
          </a:prstGeom>
          <a:solidFill>
            <a:srgbClr val="FFFFFF">
              <a:alpha val="36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801368" y="3291840"/>
            <a:ext cx="41148" cy="41148"/>
          </a:xfrm>
          <a:prstGeom prst="rect">
            <a:avLst/>
          </a:prstGeom>
          <a:solidFill>
            <a:srgbClr val="FFFFFF">
              <a:alpha val="31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2212848" y="3291840"/>
            <a:ext cx="41148" cy="41148"/>
          </a:xfrm>
          <a:prstGeom prst="rect">
            <a:avLst/>
          </a:prstGeom>
          <a:solidFill>
            <a:srgbClr val="FFFFFF">
              <a:alpha val="26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2624328" y="3291840"/>
            <a:ext cx="41148" cy="41148"/>
          </a:xfrm>
          <a:prstGeom prst="rect">
            <a:avLst/>
          </a:prstGeom>
          <a:solidFill>
            <a:srgbClr val="FFFFFF">
              <a:alpha val="21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3035808" y="3291840"/>
            <a:ext cx="41148" cy="41148"/>
          </a:xfrm>
          <a:prstGeom prst="rect">
            <a:avLst/>
          </a:prstGeom>
          <a:solidFill>
            <a:srgbClr val="FFFFFF">
              <a:alpha val="52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3447288" y="3291840"/>
            <a:ext cx="41148" cy="41148"/>
          </a:xfrm>
          <a:prstGeom prst="rect">
            <a:avLst/>
          </a:prstGeom>
          <a:solidFill>
            <a:srgbClr val="FFFFFF">
              <a:alpha val="47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66928" y="3703320"/>
            <a:ext cx="41148" cy="41148"/>
          </a:xfrm>
          <a:prstGeom prst="rect">
            <a:avLst/>
          </a:prstGeom>
          <a:solidFill>
            <a:srgbClr val="FFFFFF">
              <a:alpha val="33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978408" y="3703320"/>
            <a:ext cx="41148" cy="41148"/>
          </a:xfrm>
          <a:prstGeom prst="rect">
            <a:avLst/>
          </a:prstGeom>
          <a:solidFill>
            <a:srgbClr val="FFFFFF">
              <a:alpha val="28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389888" y="3703320"/>
            <a:ext cx="41148" cy="41148"/>
          </a:xfrm>
          <a:prstGeom prst="rect">
            <a:avLst/>
          </a:prstGeom>
          <a:solidFill>
            <a:srgbClr val="FFFFFF">
              <a:alpha val="23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801368" y="3703320"/>
            <a:ext cx="41148" cy="41148"/>
          </a:xfrm>
          <a:prstGeom prst="rect">
            <a:avLst/>
          </a:prstGeom>
          <a:solidFill>
            <a:srgbClr val="FFFFFF">
              <a:alpha val="18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2212848" y="3703320"/>
            <a:ext cx="41148" cy="41148"/>
          </a:xfrm>
          <a:prstGeom prst="rect">
            <a:avLst/>
          </a:prstGeom>
          <a:solidFill>
            <a:srgbClr val="FFFFFF">
              <a:alpha val="49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2624328" y="3703320"/>
            <a:ext cx="41148" cy="41148"/>
          </a:xfrm>
          <a:prstGeom prst="rect">
            <a:avLst/>
          </a:prstGeom>
          <a:solidFill>
            <a:srgbClr val="FFFFFF">
              <a:alpha val="44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035808" y="3703320"/>
            <a:ext cx="41148" cy="41148"/>
          </a:xfrm>
          <a:prstGeom prst="rect">
            <a:avLst/>
          </a:prstGeom>
          <a:solidFill>
            <a:srgbClr val="FFFFFF">
              <a:alpha val="39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447288" y="3703320"/>
            <a:ext cx="41148" cy="41148"/>
          </a:xfrm>
          <a:prstGeom prst="rect">
            <a:avLst/>
          </a:prstGeom>
          <a:solidFill>
            <a:srgbClr val="FFFFFF">
              <a:alpha val="34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502920" y="384048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DCE4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12 / 12</a:t>
            </a:r>
            <a:endParaRPr lang="zh-CN" sz="850" dirty="0"/>
          </a:p>
        </p:txBody>
      </p:sp>
      <p:sp>
        <p:nvSpPr>
          <p:cNvPr id="68" name="Text 66"/>
          <p:cNvSpPr txBox="1"/>
          <p:nvPr/>
        </p:nvSpPr>
        <p:spPr>
          <a:xfrm>
            <a:off x="4663440" y="384048"/>
            <a:ext cx="960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850" b="1" spc="120" kern="0" dirty="0">
                <a:solidFill>
                  <a:srgbClr val="DCE4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CLOSING</a:t>
            </a:r>
            <a:endParaRPr lang="zh-CN" sz="850" dirty="0"/>
          </a:p>
        </p:txBody>
      </p:sp>
      <p:sp>
        <p:nvSpPr>
          <p:cNvPr id="69" name="Text 67"/>
          <p:cNvSpPr txBox="1"/>
          <p:nvPr/>
        </p:nvSpPr>
        <p:spPr>
          <a:xfrm>
            <a:off x="502920" y="1234440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DCE4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海格汽车人才发展</a:t>
            </a:r>
            <a:endParaRPr lang="zh-CN" sz="850" dirty="0"/>
          </a:p>
        </p:txBody>
      </p:sp>
      <p:sp>
        <p:nvSpPr>
          <p:cNvPr id="70" name="Text 68"/>
          <p:cNvSpPr txBox="1"/>
          <p:nvPr/>
        </p:nvSpPr>
        <p:spPr>
          <a:xfrm>
            <a:off x="502920" y="1874520"/>
            <a:ext cx="48463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42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岗位有标准</a:t>
            </a:r>
            <a:endParaRPr lang="zh-CN" sz="4200" dirty="0"/>
          </a:p>
          <a:p>
            <a:pPr algn="l" indent="0" marL="0">
              <a:buNone/>
            </a:pPr>
            <a:r>
              <a:rPr lang="zh-CN" altLang="en-US" sz="42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人才有差距</a:t>
            </a:r>
            <a:endParaRPr lang="zh-CN" sz="4200" dirty="0"/>
          </a:p>
          <a:p>
            <a:pPr algn="l" indent="0" marL="0">
              <a:buNone/>
            </a:pPr>
            <a:r>
              <a:rPr lang="zh-CN" altLang="en-US" sz="42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后续有安排</a:t>
            </a:r>
            <a:endParaRPr lang="zh-CN" sz="4200" dirty="0"/>
          </a:p>
        </p:txBody>
      </p:sp>
      <p:sp>
        <p:nvSpPr>
          <p:cNvPr id="71" name="Text 69"/>
          <p:cNvSpPr txBox="1"/>
          <p:nvPr/>
        </p:nvSpPr>
        <p:spPr>
          <a:xfrm>
            <a:off x="502920" y="5120640"/>
            <a:ext cx="4389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450" dirty="0">
                <a:solidFill>
                  <a:srgbClr val="E6EC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这轮留下的结果，下一轮还能直接用。</a:t>
            </a:r>
            <a:endParaRPr lang="zh-CN" sz="1450" dirty="0"/>
          </a:p>
        </p:txBody>
      </p:sp>
      <p:sp>
        <p:nvSpPr>
          <p:cNvPr id="72" name="Shape 70"/>
          <p:cNvSpPr/>
          <p:nvPr/>
        </p:nvSpPr>
        <p:spPr>
          <a:xfrm>
            <a:off x="502920" y="5989320"/>
            <a:ext cx="5074920" cy="0"/>
          </a:xfrm>
          <a:prstGeom prst="line">
            <a:avLst/>
          </a:prstGeom>
          <a:noFill/>
          <a:ln w="5715">
            <a:solidFill>
              <a:srgbClr val="FFFFFF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02920" y="6172200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DCE4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时代光华 · 人才发展解决方案</a:t>
            </a:r>
            <a:endParaRPr lang="zh-CN" sz="850" dirty="0"/>
          </a:p>
        </p:txBody>
      </p:sp>
      <p:sp>
        <p:nvSpPr>
          <p:cNvPr id="74" name="Text 72"/>
          <p:cNvSpPr txBox="1"/>
          <p:nvPr/>
        </p:nvSpPr>
        <p:spPr>
          <a:xfrm>
            <a:off x="6565392" y="50292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7373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落到系统里</a:t>
            </a:r>
            <a:endParaRPr lang="zh-CN" sz="850" dirty="0"/>
          </a:p>
        </p:txBody>
      </p:sp>
      <p:sp>
        <p:nvSpPr>
          <p:cNvPr id="75" name="Text 73"/>
          <p:cNvSpPr txBox="1"/>
          <p:nvPr/>
        </p:nvSpPr>
        <p:spPr>
          <a:xfrm>
            <a:off x="10607040" y="50292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850" b="1" spc="120" kern="0" dirty="0">
                <a:solidFill>
                  <a:srgbClr val="7373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03 条</a:t>
            </a:r>
            <a:endParaRPr lang="zh-CN" sz="850" dirty="0"/>
          </a:p>
        </p:txBody>
      </p:sp>
      <p:sp>
        <p:nvSpPr>
          <p:cNvPr id="76" name="Shape 74"/>
          <p:cNvSpPr/>
          <p:nvPr/>
        </p:nvSpPr>
        <p:spPr>
          <a:xfrm>
            <a:off x="6565392" y="1298448"/>
            <a:ext cx="5029200" cy="0"/>
          </a:xfrm>
          <a:prstGeom prst="line">
            <a:avLst/>
          </a:prstGeom>
          <a:noFill/>
          <a:ln w="7620">
            <a:solidFill>
              <a:srgbClr val="D4D4D2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6565392" y="1527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290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01</a:t>
            </a:r>
            <a:endParaRPr lang="zh-CN" sz="2900" dirty="0"/>
          </a:p>
        </p:txBody>
      </p:sp>
      <p:sp>
        <p:nvSpPr>
          <p:cNvPr id="78" name="Text 76"/>
          <p:cNvSpPr txBox="1"/>
          <p:nvPr/>
        </p:nvSpPr>
        <p:spPr>
          <a:xfrm>
            <a:off x="7680960" y="155448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70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一个岗位，一套标准</a:t>
            </a:r>
            <a:endParaRPr lang="zh-CN" sz="1700" dirty="0"/>
          </a:p>
        </p:txBody>
      </p:sp>
      <p:sp>
        <p:nvSpPr>
          <p:cNvPr id="79" name="Text 77"/>
          <p:cNvSpPr txBox="1"/>
          <p:nvPr/>
        </p:nvSpPr>
        <p:spPr>
          <a:xfrm>
            <a:off x="7680960" y="2048256"/>
            <a:ext cx="3749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230" dirty="0">
                <a:solidFill>
                  <a:srgbClr val="52525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职责、评估和学习都落到具体岗位上。</a:t>
            </a:r>
            <a:endParaRPr lang="zh-CN" sz="1230" dirty="0"/>
          </a:p>
        </p:txBody>
      </p:sp>
      <p:sp>
        <p:nvSpPr>
          <p:cNvPr id="80" name="Shape 78"/>
          <p:cNvSpPr/>
          <p:nvPr/>
        </p:nvSpPr>
        <p:spPr>
          <a:xfrm>
            <a:off x="6565392" y="2807208"/>
            <a:ext cx="5029200" cy="0"/>
          </a:xfrm>
          <a:prstGeom prst="line">
            <a:avLst/>
          </a:prstGeom>
          <a:noFill/>
          <a:ln w="7620">
            <a:solidFill>
              <a:srgbClr val="D4D4D2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6565392" y="303580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290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02</a:t>
            </a:r>
            <a:endParaRPr lang="zh-CN" sz="2900" dirty="0"/>
          </a:p>
        </p:txBody>
      </p:sp>
      <p:sp>
        <p:nvSpPr>
          <p:cNvPr id="82" name="Text 80"/>
          <p:cNvSpPr txBox="1"/>
          <p:nvPr/>
        </p:nvSpPr>
        <p:spPr>
          <a:xfrm>
            <a:off x="7680960" y="306324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70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一个人，一张会更新的差距清单</a:t>
            </a:r>
            <a:endParaRPr lang="zh-CN" sz="1700" dirty="0"/>
          </a:p>
        </p:txBody>
      </p:sp>
      <p:sp>
        <p:nvSpPr>
          <p:cNvPr id="83" name="Text 81"/>
          <p:cNvSpPr txBox="1"/>
          <p:nvPr/>
        </p:nvSpPr>
        <p:spPr>
          <a:xfrm>
            <a:off x="7680960" y="3557016"/>
            <a:ext cx="3749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230" dirty="0">
                <a:solidFill>
                  <a:srgbClr val="52525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岗位要求、个人结果和盘点结论放在一起看。</a:t>
            </a:r>
            <a:endParaRPr lang="zh-CN" sz="1230" dirty="0"/>
          </a:p>
        </p:txBody>
      </p:sp>
      <p:sp>
        <p:nvSpPr>
          <p:cNvPr id="84" name="Shape 82"/>
          <p:cNvSpPr/>
          <p:nvPr/>
        </p:nvSpPr>
        <p:spPr>
          <a:xfrm>
            <a:off x="6565392" y="4315968"/>
            <a:ext cx="5029200" cy="0"/>
          </a:xfrm>
          <a:prstGeom prst="line">
            <a:avLst/>
          </a:prstGeom>
          <a:noFill/>
          <a:ln w="15240">
            <a:solidFill>
              <a:srgbClr val="002FA7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6565392" y="454456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2900" dirty="0">
                <a:solidFill>
                  <a:srgbClr val="002FA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03</a:t>
            </a:r>
            <a:endParaRPr lang="zh-CN" sz="2900" dirty="0"/>
          </a:p>
        </p:txBody>
      </p:sp>
      <p:sp>
        <p:nvSpPr>
          <p:cNvPr id="86" name="Text 84"/>
          <p:cNvSpPr txBox="1"/>
          <p:nvPr/>
        </p:nvSpPr>
        <p:spPr>
          <a:xfrm>
            <a:off x="7680960" y="457200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700" dirty="0">
                <a:solidFill>
                  <a:srgbClr val="002FA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差在哪，下一步就怎么安排</a:t>
            </a:r>
            <a:endParaRPr lang="zh-CN" sz="1700" dirty="0"/>
          </a:p>
        </p:txBody>
      </p:sp>
      <p:sp>
        <p:nvSpPr>
          <p:cNvPr id="87" name="Text 85"/>
          <p:cNvSpPr txBox="1"/>
          <p:nvPr/>
        </p:nvSpPr>
        <p:spPr>
          <a:xfrm>
            <a:off x="7680960" y="5065776"/>
            <a:ext cx="3749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230" dirty="0">
                <a:solidFill>
                  <a:srgbClr val="52525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个人差距进 IDP，共性差距进培训项目。</a:t>
            </a:r>
            <a:endParaRPr lang="zh-CN" sz="1230" dirty="0"/>
          </a:p>
        </p:txBody>
      </p:sp>
      <p:sp>
        <p:nvSpPr>
          <p:cNvPr id="88" name="Text 86"/>
          <p:cNvSpPr txBox="1"/>
          <p:nvPr/>
        </p:nvSpPr>
        <p:spPr>
          <a:xfrm>
            <a:off x="8595360" y="6217920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850" b="1" spc="120" kern="0" dirty="0">
                <a:solidFill>
                  <a:srgbClr val="7373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时代光华 · TALENT DEVELOPMENT</a:t>
            </a:r>
            <a:endParaRPr lang="zh-CN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84048"/>
            <a:ext cx="7498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7373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00 · 全局视图 / BD × OD × TD × LD</a:t>
            </a:r>
            <a:endParaRPr lang="zh-CN" sz="850" dirty="0"/>
          </a:p>
        </p:txBody>
      </p:sp>
      <p:sp>
        <p:nvSpPr>
          <p:cNvPr id="3" name="Text 1"/>
          <p:cNvSpPr txBox="1"/>
          <p:nvPr/>
        </p:nvSpPr>
        <p:spPr>
          <a:xfrm>
            <a:off x="10682935" y="38404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850" b="1" spc="115" kern="0" dirty="0">
                <a:solidFill>
                  <a:srgbClr val="7373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02 / 12</a:t>
            </a:r>
            <a:endParaRPr lang="zh-CN" sz="85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877824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7373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从业务战略到组织、人才与学习的一体化链路</a:t>
            </a:r>
            <a:endParaRPr lang="zh-CN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078992"/>
            <a:ext cx="5166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340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人才发展全局视图</a:t>
            </a:r>
            <a:endParaRPr lang="zh-CN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989320" y="1179576"/>
            <a:ext cx="5605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zh-CN" altLang="en-US" sz="1230" dirty="0">
                <a:solidFill>
                  <a:srgbClr val="52525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战略定方向，组织定环境，人才定对象，学习定行动。</a:t>
            </a:r>
            <a:endParaRPr lang="zh-CN" sz="1230" dirty="0"/>
          </a:p>
        </p:txBody>
      </p:sp>
      <p:sp>
        <p:nvSpPr>
          <p:cNvPr id="7" name="Shape 5"/>
          <p:cNvSpPr/>
          <p:nvPr/>
        </p:nvSpPr>
        <p:spPr>
          <a:xfrm>
            <a:off x="594360" y="1792224"/>
            <a:ext cx="1078992" cy="987552"/>
          </a:xfrm>
          <a:prstGeom prst="rect">
            <a:avLst/>
          </a:prstGeom>
          <a:solidFill>
            <a:srgbClr val="E8EDFF"/>
          </a:solidFill>
          <a:ln w="6350">
            <a:solidFill>
              <a:srgbClr val="E8ED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58952" y="1975104"/>
            <a:ext cx="749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002FA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BD</a:t>
            </a:r>
            <a:endParaRPr lang="zh-CN" sz="850" dirty="0"/>
          </a:p>
        </p:txBody>
      </p:sp>
      <p:sp>
        <p:nvSpPr>
          <p:cNvPr id="9" name="Text 7"/>
          <p:cNvSpPr txBox="1"/>
          <p:nvPr/>
        </p:nvSpPr>
        <p:spPr>
          <a:xfrm>
            <a:off x="758952" y="227685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130" b="1" dirty="0">
                <a:solidFill>
                  <a:srgbClr val="002FA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业务发展</a:t>
            </a:r>
            <a:endParaRPr lang="zh-CN" sz="1130" dirty="0"/>
          </a:p>
        </p:txBody>
      </p:sp>
      <p:sp>
        <p:nvSpPr>
          <p:cNvPr id="10" name="Shape 8"/>
          <p:cNvSpPr/>
          <p:nvPr/>
        </p:nvSpPr>
        <p:spPr>
          <a:xfrm>
            <a:off x="594360" y="2871216"/>
            <a:ext cx="1078992" cy="987552"/>
          </a:xfrm>
          <a:prstGeom prst="rect">
            <a:avLst/>
          </a:prstGeom>
          <a:solidFill>
            <a:srgbClr val="E7F1F0"/>
          </a:solidFill>
          <a:ln w="6350">
            <a:solidFill>
              <a:srgbClr val="E7F1F0">
                <a:alpha val="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58952" y="3054096"/>
            <a:ext cx="749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155E6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OD</a:t>
            </a:r>
            <a:endParaRPr lang="zh-CN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758952" y="3355848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130" b="1" dirty="0">
                <a:solidFill>
                  <a:srgbClr val="155E6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组织发展</a:t>
            </a:r>
            <a:endParaRPr lang="zh-CN" sz="1130" dirty="0"/>
          </a:p>
        </p:txBody>
      </p:sp>
      <p:sp>
        <p:nvSpPr>
          <p:cNvPr id="13" name="Shape 11"/>
          <p:cNvSpPr/>
          <p:nvPr/>
        </p:nvSpPr>
        <p:spPr>
          <a:xfrm>
            <a:off x="594360" y="3950208"/>
            <a:ext cx="1078992" cy="1170432"/>
          </a:xfrm>
          <a:prstGeom prst="rect">
            <a:avLst/>
          </a:prstGeom>
          <a:solidFill>
            <a:srgbClr val="EEF3E8"/>
          </a:solidFill>
          <a:ln w="6350">
            <a:solidFill>
              <a:srgbClr val="EEF3E8">
                <a:alpha val="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58952" y="4133088"/>
            <a:ext cx="749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44652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TD</a:t>
            </a:r>
            <a:endParaRPr lang="zh-CN" sz="850" dirty="0"/>
          </a:p>
        </p:txBody>
      </p:sp>
      <p:sp>
        <p:nvSpPr>
          <p:cNvPr id="15" name="Text 13"/>
          <p:cNvSpPr txBox="1"/>
          <p:nvPr/>
        </p:nvSpPr>
        <p:spPr>
          <a:xfrm>
            <a:off x="758952" y="4434840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130" b="1" dirty="0">
                <a:solidFill>
                  <a:srgbClr val="44652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人才发展</a:t>
            </a:r>
            <a:endParaRPr lang="zh-CN" sz="1130" dirty="0"/>
          </a:p>
        </p:txBody>
      </p:sp>
      <p:sp>
        <p:nvSpPr>
          <p:cNvPr id="16" name="Shape 14"/>
          <p:cNvSpPr/>
          <p:nvPr/>
        </p:nvSpPr>
        <p:spPr>
          <a:xfrm>
            <a:off x="594360" y="5212080"/>
            <a:ext cx="1078992" cy="987552"/>
          </a:xfrm>
          <a:prstGeom prst="rect">
            <a:avLst/>
          </a:prstGeom>
          <a:solidFill>
            <a:srgbClr val="F6ECE4"/>
          </a:solidFill>
          <a:ln w="6350">
            <a:solidFill>
              <a:srgbClr val="F6ECE4">
                <a:alpha val="0"/>
              </a:srgbClr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58952" y="5394960"/>
            <a:ext cx="749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8B4A2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LD</a:t>
            </a:r>
            <a:endParaRPr lang="zh-CN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758952" y="5696712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130" b="1" dirty="0">
                <a:solidFill>
                  <a:srgbClr val="8B4A2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学习发展</a:t>
            </a:r>
            <a:endParaRPr lang="zh-CN" sz="1130" dirty="0"/>
          </a:p>
        </p:txBody>
      </p:sp>
      <p:sp>
        <p:nvSpPr>
          <p:cNvPr id="19" name="Shape 17"/>
          <p:cNvSpPr/>
          <p:nvPr/>
        </p:nvSpPr>
        <p:spPr>
          <a:xfrm>
            <a:off x="1874520" y="1792224"/>
            <a:ext cx="9720072" cy="987552"/>
          </a:xfrm>
          <a:prstGeom prst="rect">
            <a:avLst/>
          </a:prstGeom>
          <a:solidFill>
            <a:srgbClr val="FFFFFF"/>
          </a:solidFill>
          <a:ln w="8255">
            <a:solidFill>
              <a:srgbClr val="D4D4D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103120" y="1993392"/>
            <a:ext cx="347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002FA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01</a:t>
            </a:r>
            <a:endParaRPr lang="zh-CN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2542032" y="192938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320" b="1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业务盘点</a:t>
            </a:r>
            <a:endParaRPr lang="zh-CN" sz="1320" dirty="0"/>
          </a:p>
        </p:txBody>
      </p:sp>
      <p:sp>
        <p:nvSpPr>
          <p:cNvPr id="22" name="Text 20"/>
          <p:cNvSpPr txBox="1"/>
          <p:nvPr/>
        </p:nvSpPr>
        <p:spPr>
          <a:xfrm>
            <a:off x="3749040" y="1947672"/>
            <a:ext cx="1143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020" dirty="0">
                <a:solidFill>
                  <a:srgbClr val="7373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看清现状</a:t>
            </a:r>
            <a:endParaRPr lang="zh-CN" sz="1020" dirty="0"/>
          </a:p>
        </p:txBody>
      </p:sp>
      <p:sp>
        <p:nvSpPr>
          <p:cNvPr id="23" name="Shape 21"/>
          <p:cNvSpPr/>
          <p:nvPr/>
        </p:nvSpPr>
        <p:spPr>
          <a:xfrm>
            <a:off x="4873752" y="2267712"/>
            <a:ext cx="283464" cy="0"/>
          </a:xfrm>
          <a:prstGeom prst="line">
            <a:avLst/>
          </a:prstGeom>
          <a:noFill/>
          <a:ln w="11430">
            <a:solidFill>
              <a:srgbClr val="002FA7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5257800" y="1993392"/>
            <a:ext cx="347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002FA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02</a:t>
            </a:r>
            <a:endParaRPr lang="zh-CN" sz="850" dirty="0"/>
          </a:p>
        </p:txBody>
      </p:sp>
      <p:sp>
        <p:nvSpPr>
          <p:cNvPr id="25" name="Text 23"/>
          <p:cNvSpPr txBox="1"/>
          <p:nvPr/>
        </p:nvSpPr>
        <p:spPr>
          <a:xfrm>
            <a:off x="5696712" y="192938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320" b="1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战略规划</a:t>
            </a:r>
            <a:endParaRPr lang="zh-CN" sz="1320" dirty="0"/>
          </a:p>
        </p:txBody>
      </p:sp>
      <p:sp>
        <p:nvSpPr>
          <p:cNvPr id="26" name="Text 24"/>
          <p:cNvSpPr txBox="1"/>
          <p:nvPr/>
        </p:nvSpPr>
        <p:spPr>
          <a:xfrm>
            <a:off x="6903720" y="1947672"/>
            <a:ext cx="1143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020" dirty="0">
                <a:solidFill>
                  <a:srgbClr val="7373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明确方向</a:t>
            </a:r>
            <a:endParaRPr lang="zh-CN" sz="1020" dirty="0"/>
          </a:p>
        </p:txBody>
      </p:sp>
      <p:sp>
        <p:nvSpPr>
          <p:cNvPr id="27" name="Shape 25"/>
          <p:cNvSpPr/>
          <p:nvPr/>
        </p:nvSpPr>
        <p:spPr>
          <a:xfrm>
            <a:off x="8028432" y="2267712"/>
            <a:ext cx="283464" cy="0"/>
          </a:xfrm>
          <a:prstGeom prst="line">
            <a:avLst/>
          </a:prstGeom>
          <a:noFill/>
          <a:ln w="11430">
            <a:solidFill>
              <a:srgbClr val="002FA7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8412480" y="1993392"/>
            <a:ext cx="347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002FA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03</a:t>
            </a:r>
            <a:endParaRPr lang="zh-CN" sz="850" dirty="0"/>
          </a:p>
        </p:txBody>
      </p:sp>
      <p:sp>
        <p:nvSpPr>
          <p:cNvPr id="29" name="Text 27"/>
          <p:cNvSpPr txBox="1"/>
          <p:nvPr/>
        </p:nvSpPr>
        <p:spPr>
          <a:xfrm>
            <a:off x="8851392" y="192938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320" b="1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战略解码</a:t>
            </a:r>
            <a:endParaRPr lang="zh-CN" sz="1320" dirty="0"/>
          </a:p>
        </p:txBody>
      </p:sp>
      <p:sp>
        <p:nvSpPr>
          <p:cNvPr id="30" name="Text 28"/>
          <p:cNvSpPr txBox="1"/>
          <p:nvPr/>
        </p:nvSpPr>
        <p:spPr>
          <a:xfrm>
            <a:off x="10058400" y="1947672"/>
            <a:ext cx="1143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020" dirty="0">
                <a:solidFill>
                  <a:srgbClr val="7373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转为组织任务</a:t>
            </a:r>
            <a:endParaRPr lang="zh-CN" sz="1020" dirty="0"/>
          </a:p>
        </p:txBody>
      </p:sp>
      <p:sp>
        <p:nvSpPr>
          <p:cNvPr id="31" name="Shape 29"/>
          <p:cNvSpPr/>
          <p:nvPr/>
        </p:nvSpPr>
        <p:spPr>
          <a:xfrm>
            <a:off x="2103120" y="2395728"/>
            <a:ext cx="9262872" cy="201168"/>
          </a:xfrm>
          <a:prstGeom prst="rect">
            <a:avLst/>
          </a:prstGeom>
          <a:solidFill>
            <a:srgbClr val="E8EDFF"/>
          </a:solidFill>
          <a:ln w="6350">
            <a:solidFill>
              <a:srgbClr val="E8EDFF">
                <a:alpha val="0"/>
              </a:srgbClr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2258568" y="2423160"/>
            <a:ext cx="8951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850" b="1" spc="115" kern="0" dirty="0">
                <a:solidFill>
                  <a:srgbClr val="002FA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业务方向向下解码，组织与人才发展反向支撑业务结果</a:t>
            </a:r>
            <a:endParaRPr lang="zh-CN" sz="850" dirty="0"/>
          </a:p>
        </p:txBody>
      </p:sp>
      <p:sp>
        <p:nvSpPr>
          <p:cNvPr id="33" name="Shape 31"/>
          <p:cNvSpPr/>
          <p:nvPr/>
        </p:nvSpPr>
        <p:spPr>
          <a:xfrm>
            <a:off x="1874520" y="2871216"/>
            <a:ext cx="3154680" cy="987552"/>
          </a:xfrm>
          <a:prstGeom prst="rect">
            <a:avLst/>
          </a:prstGeom>
          <a:solidFill>
            <a:srgbClr val="FFFFFF"/>
          </a:solidFill>
          <a:ln w="8255">
            <a:solidFill>
              <a:srgbClr val="D4D4D2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075688" y="3127248"/>
            <a:ext cx="2752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zh-CN" altLang="en-US" sz="1320" b="1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组织结构与机制</a:t>
            </a:r>
            <a:endParaRPr lang="zh-CN" sz="1320" dirty="0"/>
          </a:p>
        </p:txBody>
      </p:sp>
      <p:sp>
        <p:nvSpPr>
          <p:cNvPr id="35" name="Text 33"/>
          <p:cNvSpPr txBox="1"/>
          <p:nvPr/>
        </p:nvSpPr>
        <p:spPr>
          <a:xfrm>
            <a:off x="2075688" y="3465576"/>
            <a:ext cx="27523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850" b="1" spc="115" kern="0" dirty="0">
                <a:solidFill>
                  <a:srgbClr val="7373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STRUCTURE</a:t>
            </a:r>
            <a:endParaRPr lang="zh-CN" sz="850" dirty="0"/>
          </a:p>
        </p:txBody>
      </p:sp>
      <p:sp>
        <p:nvSpPr>
          <p:cNvPr id="36" name="Shape 34"/>
          <p:cNvSpPr/>
          <p:nvPr/>
        </p:nvSpPr>
        <p:spPr>
          <a:xfrm>
            <a:off x="5148072" y="2871216"/>
            <a:ext cx="3154680" cy="987552"/>
          </a:xfrm>
          <a:prstGeom prst="rect">
            <a:avLst/>
          </a:prstGeom>
          <a:solidFill>
            <a:srgbClr val="E8EDFF"/>
          </a:solidFill>
          <a:ln w="12700">
            <a:solidFill>
              <a:srgbClr val="002FA7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349240" y="3127248"/>
            <a:ext cx="2752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zh-CN" altLang="en-US" sz="1320" b="1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目标与绩效</a:t>
            </a:r>
            <a:endParaRPr lang="zh-CN" sz="1320" dirty="0"/>
          </a:p>
        </p:txBody>
      </p:sp>
      <p:sp>
        <p:nvSpPr>
          <p:cNvPr id="38" name="Text 36"/>
          <p:cNvSpPr txBox="1"/>
          <p:nvPr/>
        </p:nvSpPr>
        <p:spPr>
          <a:xfrm>
            <a:off x="5349240" y="3465576"/>
            <a:ext cx="27523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850" b="1" spc="115" kern="0" dirty="0">
                <a:solidFill>
                  <a:srgbClr val="002FA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OBJECT</a:t>
            </a:r>
            <a:endParaRPr lang="zh-CN" sz="850" dirty="0"/>
          </a:p>
        </p:txBody>
      </p:sp>
      <p:sp>
        <p:nvSpPr>
          <p:cNvPr id="39" name="Shape 37"/>
          <p:cNvSpPr/>
          <p:nvPr/>
        </p:nvSpPr>
        <p:spPr>
          <a:xfrm>
            <a:off x="8421624" y="2871216"/>
            <a:ext cx="3154680" cy="987552"/>
          </a:xfrm>
          <a:prstGeom prst="rect">
            <a:avLst/>
          </a:prstGeom>
          <a:solidFill>
            <a:srgbClr val="FFFFFF"/>
          </a:solidFill>
          <a:ln w="8255">
            <a:solidFill>
              <a:srgbClr val="D4D4D2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622792" y="3127248"/>
            <a:ext cx="2752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zh-CN" altLang="en-US" sz="1320" b="1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文化与氛围</a:t>
            </a:r>
            <a:endParaRPr lang="zh-CN" sz="1320" dirty="0"/>
          </a:p>
        </p:txBody>
      </p:sp>
      <p:sp>
        <p:nvSpPr>
          <p:cNvPr id="41" name="Text 39"/>
          <p:cNvSpPr txBox="1"/>
          <p:nvPr/>
        </p:nvSpPr>
        <p:spPr>
          <a:xfrm>
            <a:off x="8622792" y="3465576"/>
            <a:ext cx="27523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850" b="1" spc="115" kern="0" dirty="0">
                <a:solidFill>
                  <a:srgbClr val="7373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CULTURE</a:t>
            </a:r>
            <a:endParaRPr lang="zh-CN" sz="850" dirty="0"/>
          </a:p>
        </p:txBody>
      </p:sp>
      <p:sp>
        <p:nvSpPr>
          <p:cNvPr id="42" name="Shape 40"/>
          <p:cNvSpPr/>
          <p:nvPr/>
        </p:nvSpPr>
        <p:spPr>
          <a:xfrm>
            <a:off x="1874520" y="3950208"/>
            <a:ext cx="3154680" cy="283464"/>
          </a:xfrm>
          <a:prstGeom prst="rect">
            <a:avLst/>
          </a:prstGeom>
          <a:solidFill>
            <a:srgbClr val="EEF3E8"/>
          </a:solidFill>
          <a:ln w="6350">
            <a:solidFill>
              <a:srgbClr val="EEF3E8">
                <a:alpha val="0"/>
              </a:srgbClr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2011680" y="4005072"/>
            <a:ext cx="2880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850" b="1" spc="115" kern="0" dirty="0">
                <a:solidFill>
                  <a:srgbClr val="44652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DEFINE · 定标准</a:t>
            </a:r>
            <a:endParaRPr lang="zh-CN" sz="850" dirty="0"/>
          </a:p>
        </p:txBody>
      </p:sp>
      <p:sp>
        <p:nvSpPr>
          <p:cNvPr id="44" name="Shape 42"/>
          <p:cNvSpPr/>
          <p:nvPr/>
        </p:nvSpPr>
        <p:spPr>
          <a:xfrm>
            <a:off x="5148072" y="3950208"/>
            <a:ext cx="3154680" cy="283464"/>
          </a:xfrm>
          <a:prstGeom prst="rect">
            <a:avLst/>
          </a:prstGeom>
          <a:solidFill>
            <a:srgbClr val="002FA7"/>
          </a:solidFill>
          <a:ln w="6350">
            <a:solidFill>
              <a:srgbClr val="002FA7">
                <a:alpha val="0"/>
              </a:srgbClr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285232" y="4005072"/>
            <a:ext cx="2880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850" b="1" spc="115" kern="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DISCOVER · 识人才</a:t>
            </a:r>
            <a:endParaRPr lang="zh-CN" sz="850" dirty="0"/>
          </a:p>
        </p:txBody>
      </p:sp>
      <p:sp>
        <p:nvSpPr>
          <p:cNvPr id="46" name="Shape 44"/>
          <p:cNvSpPr/>
          <p:nvPr/>
        </p:nvSpPr>
        <p:spPr>
          <a:xfrm>
            <a:off x="8421624" y="3950208"/>
            <a:ext cx="3154680" cy="283464"/>
          </a:xfrm>
          <a:prstGeom prst="rect">
            <a:avLst/>
          </a:prstGeom>
          <a:solidFill>
            <a:srgbClr val="EEF3E8"/>
          </a:solidFill>
          <a:ln w="6350">
            <a:solidFill>
              <a:srgbClr val="EEF3E8">
                <a:alpha val="0"/>
              </a:srgbClr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8558784" y="4005072"/>
            <a:ext cx="2880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850" b="1" spc="115" kern="0" dirty="0">
                <a:solidFill>
                  <a:srgbClr val="44652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DRIVE · 促发展</a:t>
            </a:r>
            <a:endParaRPr lang="zh-CN" sz="850" dirty="0"/>
          </a:p>
        </p:txBody>
      </p:sp>
      <p:sp>
        <p:nvSpPr>
          <p:cNvPr id="48" name="Shape 46"/>
          <p:cNvSpPr/>
          <p:nvPr/>
        </p:nvSpPr>
        <p:spPr>
          <a:xfrm>
            <a:off x="1874520" y="4315968"/>
            <a:ext cx="3154680" cy="320040"/>
          </a:xfrm>
          <a:prstGeom prst="rect">
            <a:avLst/>
          </a:prstGeom>
          <a:solidFill>
            <a:srgbClr val="FFFFFF"/>
          </a:solidFill>
          <a:ln w="6985">
            <a:solidFill>
              <a:srgbClr val="D4D4D2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011680" y="4389120"/>
            <a:ext cx="170078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CN" altLang="en-US" sz="1020" b="1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组织 / 关键岗位分析</a:t>
            </a:r>
            <a:endParaRPr lang="zh-CN" sz="1020" dirty="0"/>
          </a:p>
        </p:txBody>
      </p:sp>
      <p:sp>
        <p:nvSpPr>
          <p:cNvPr id="50" name="Text 48"/>
          <p:cNvSpPr txBox="1"/>
          <p:nvPr/>
        </p:nvSpPr>
        <p:spPr>
          <a:xfrm>
            <a:off x="3584448" y="4389120"/>
            <a:ext cx="12984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CN" altLang="en-US" sz="850" dirty="0">
                <a:solidFill>
                  <a:srgbClr val="7373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确定优先范围</a:t>
            </a:r>
            <a:endParaRPr lang="zh-CN" sz="850" dirty="0"/>
          </a:p>
        </p:txBody>
      </p:sp>
      <p:sp>
        <p:nvSpPr>
          <p:cNvPr id="51" name="Shape 49"/>
          <p:cNvSpPr/>
          <p:nvPr/>
        </p:nvSpPr>
        <p:spPr>
          <a:xfrm>
            <a:off x="1874520" y="4709160"/>
            <a:ext cx="3154680" cy="320040"/>
          </a:xfrm>
          <a:prstGeom prst="rect">
            <a:avLst/>
          </a:prstGeom>
          <a:solidFill>
            <a:srgbClr val="FFFFFF"/>
          </a:solidFill>
          <a:ln w="6985">
            <a:solidFill>
              <a:srgbClr val="D4D4D2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2011680" y="4782312"/>
            <a:ext cx="170078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CN" altLang="en-US" sz="1020" b="1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岗位标准</a:t>
            </a:r>
            <a:endParaRPr lang="zh-CN" sz="1020" dirty="0"/>
          </a:p>
        </p:txBody>
      </p:sp>
      <p:sp>
        <p:nvSpPr>
          <p:cNvPr id="53" name="Text 51"/>
          <p:cNvSpPr txBox="1"/>
          <p:nvPr/>
        </p:nvSpPr>
        <p:spPr>
          <a:xfrm>
            <a:off x="3584448" y="4782312"/>
            <a:ext cx="12984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CN" altLang="en-US" sz="850" dirty="0">
                <a:solidFill>
                  <a:srgbClr val="7373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建立统一尺子</a:t>
            </a:r>
            <a:endParaRPr lang="zh-CN" sz="850" dirty="0"/>
          </a:p>
        </p:txBody>
      </p:sp>
      <p:sp>
        <p:nvSpPr>
          <p:cNvPr id="54" name="Shape 52"/>
          <p:cNvSpPr/>
          <p:nvPr/>
        </p:nvSpPr>
        <p:spPr>
          <a:xfrm>
            <a:off x="5148072" y="4315968"/>
            <a:ext cx="3154680" cy="320040"/>
          </a:xfrm>
          <a:prstGeom prst="rect">
            <a:avLst/>
          </a:prstGeom>
          <a:solidFill>
            <a:srgbClr val="FFFFFF"/>
          </a:solidFill>
          <a:ln w="6985">
            <a:solidFill>
              <a:srgbClr val="D4D4D2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285232" y="4389120"/>
            <a:ext cx="170078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CN" altLang="en-US" sz="1020" b="1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评鉴工具</a:t>
            </a:r>
            <a:endParaRPr lang="zh-CN" sz="1020" dirty="0"/>
          </a:p>
        </p:txBody>
      </p:sp>
      <p:sp>
        <p:nvSpPr>
          <p:cNvPr id="56" name="Text 54"/>
          <p:cNvSpPr txBox="1"/>
          <p:nvPr/>
        </p:nvSpPr>
        <p:spPr>
          <a:xfrm>
            <a:off x="6858000" y="4389120"/>
            <a:ext cx="12984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CN" altLang="en-US" sz="850" dirty="0">
                <a:solidFill>
                  <a:srgbClr val="7373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收集能力、动力、潜力</a:t>
            </a:r>
            <a:endParaRPr lang="zh-CN" sz="850" dirty="0"/>
          </a:p>
        </p:txBody>
      </p:sp>
      <p:sp>
        <p:nvSpPr>
          <p:cNvPr id="57" name="Shape 55"/>
          <p:cNvSpPr/>
          <p:nvPr/>
        </p:nvSpPr>
        <p:spPr>
          <a:xfrm>
            <a:off x="5148072" y="4709160"/>
            <a:ext cx="3154680" cy="320040"/>
          </a:xfrm>
          <a:prstGeom prst="rect">
            <a:avLst/>
          </a:prstGeom>
          <a:solidFill>
            <a:srgbClr val="FFFFFF"/>
          </a:solidFill>
          <a:ln w="6985">
            <a:solidFill>
              <a:srgbClr val="D4D4D2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5285232" y="4782312"/>
            <a:ext cx="170078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CN" altLang="en-US" sz="1020" b="1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人才盘点</a:t>
            </a:r>
            <a:endParaRPr lang="zh-CN" sz="1020" dirty="0"/>
          </a:p>
        </p:txBody>
      </p:sp>
      <p:sp>
        <p:nvSpPr>
          <p:cNvPr id="59" name="Text 57"/>
          <p:cNvSpPr txBox="1"/>
          <p:nvPr/>
        </p:nvSpPr>
        <p:spPr>
          <a:xfrm>
            <a:off x="6858000" y="4782312"/>
            <a:ext cx="12984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CN" altLang="en-US" sz="850" dirty="0">
                <a:solidFill>
                  <a:srgbClr val="7373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看清群体与个人</a:t>
            </a:r>
            <a:endParaRPr lang="zh-CN" sz="850" dirty="0"/>
          </a:p>
        </p:txBody>
      </p:sp>
      <p:sp>
        <p:nvSpPr>
          <p:cNvPr id="60" name="Shape 58"/>
          <p:cNvSpPr/>
          <p:nvPr/>
        </p:nvSpPr>
        <p:spPr>
          <a:xfrm>
            <a:off x="8421624" y="4315968"/>
            <a:ext cx="3154680" cy="320040"/>
          </a:xfrm>
          <a:prstGeom prst="rect">
            <a:avLst/>
          </a:prstGeom>
          <a:solidFill>
            <a:srgbClr val="FFFFFF"/>
          </a:solidFill>
          <a:ln w="6985">
            <a:solidFill>
              <a:srgbClr val="D4D4D2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8558784" y="4389120"/>
            <a:ext cx="170078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CN" altLang="en-US" sz="1020" b="1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人岗匹配</a:t>
            </a:r>
            <a:endParaRPr lang="zh-CN" sz="1020" dirty="0"/>
          </a:p>
        </p:txBody>
      </p:sp>
      <p:sp>
        <p:nvSpPr>
          <p:cNvPr id="62" name="Text 60"/>
          <p:cNvSpPr txBox="1"/>
          <p:nvPr/>
        </p:nvSpPr>
        <p:spPr>
          <a:xfrm>
            <a:off x="10131552" y="4389120"/>
            <a:ext cx="12984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CN" altLang="en-US" sz="850" dirty="0">
                <a:solidFill>
                  <a:srgbClr val="7373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识别差距</a:t>
            </a:r>
            <a:endParaRPr lang="zh-CN" sz="850" dirty="0"/>
          </a:p>
        </p:txBody>
      </p:sp>
      <p:sp>
        <p:nvSpPr>
          <p:cNvPr id="63" name="Shape 61"/>
          <p:cNvSpPr/>
          <p:nvPr/>
        </p:nvSpPr>
        <p:spPr>
          <a:xfrm>
            <a:off x="8421624" y="4709160"/>
            <a:ext cx="3154680" cy="320040"/>
          </a:xfrm>
          <a:prstGeom prst="rect">
            <a:avLst/>
          </a:prstGeom>
          <a:solidFill>
            <a:srgbClr val="FFFFFF"/>
          </a:solidFill>
          <a:ln w="6985">
            <a:solidFill>
              <a:srgbClr val="D4D4D2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8558784" y="4782312"/>
            <a:ext cx="170078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CN" altLang="en-US" sz="1020" b="1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个人 IDP / 组织培养</a:t>
            </a:r>
            <a:endParaRPr lang="zh-CN" sz="1020" dirty="0"/>
          </a:p>
        </p:txBody>
      </p:sp>
      <p:sp>
        <p:nvSpPr>
          <p:cNvPr id="65" name="Text 63"/>
          <p:cNvSpPr txBox="1"/>
          <p:nvPr/>
        </p:nvSpPr>
        <p:spPr>
          <a:xfrm>
            <a:off x="10131552" y="4782312"/>
            <a:ext cx="12984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CN" altLang="en-US" sz="850" dirty="0">
                <a:solidFill>
                  <a:srgbClr val="7373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把差距变成行动</a:t>
            </a:r>
            <a:endParaRPr lang="zh-CN" sz="850" dirty="0"/>
          </a:p>
        </p:txBody>
      </p:sp>
      <p:sp>
        <p:nvSpPr>
          <p:cNvPr id="66" name="Shape 64"/>
          <p:cNvSpPr/>
          <p:nvPr/>
        </p:nvSpPr>
        <p:spPr>
          <a:xfrm>
            <a:off x="5029200" y="4480560"/>
            <a:ext cx="118872" cy="0"/>
          </a:xfrm>
          <a:prstGeom prst="line">
            <a:avLst/>
          </a:prstGeom>
          <a:noFill/>
          <a:ln w="12700">
            <a:solidFill>
              <a:srgbClr val="002FA7"/>
            </a:solidFill>
            <a:prstDash val="solid"/>
            <a:tailEnd type="triangle"/>
          </a:ln>
        </p:spPr>
      </p:sp>
      <p:sp>
        <p:nvSpPr>
          <p:cNvPr id="67" name="Shape 65"/>
          <p:cNvSpPr/>
          <p:nvPr/>
        </p:nvSpPr>
        <p:spPr>
          <a:xfrm>
            <a:off x="8302752" y="4480560"/>
            <a:ext cx="118872" cy="0"/>
          </a:xfrm>
          <a:prstGeom prst="line">
            <a:avLst/>
          </a:prstGeom>
          <a:noFill/>
          <a:ln w="12700">
            <a:solidFill>
              <a:srgbClr val="002FA7"/>
            </a:solidFill>
            <a:prstDash val="solid"/>
            <a:tailEnd type="triangle"/>
          </a:ln>
        </p:spPr>
      </p:sp>
      <p:sp>
        <p:nvSpPr>
          <p:cNvPr id="68" name="Text 66"/>
          <p:cNvSpPr txBox="1"/>
          <p:nvPr/>
        </p:nvSpPr>
        <p:spPr>
          <a:xfrm>
            <a:off x="2002536" y="5385816"/>
            <a:ext cx="2880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850" b="1" spc="115" kern="0" dirty="0">
                <a:solidFill>
                  <a:srgbClr val="8B4A2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CONDUCT · 学</a:t>
            </a:r>
            <a:endParaRPr lang="zh-CN" sz="850" dirty="0"/>
          </a:p>
        </p:txBody>
      </p:sp>
      <p:sp>
        <p:nvSpPr>
          <p:cNvPr id="69" name="Shape 67"/>
          <p:cNvSpPr/>
          <p:nvPr/>
        </p:nvSpPr>
        <p:spPr>
          <a:xfrm>
            <a:off x="1874520" y="5641848"/>
            <a:ext cx="3154680" cy="329184"/>
          </a:xfrm>
          <a:prstGeom prst="rect">
            <a:avLst/>
          </a:prstGeom>
          <a:solidFill>
            <a:srgbClr val="FFFFFF"/>
          </a:solidFill>
          <a:ln w="6985">
            <a:solidFill>
              <a:srgbClr val="D4D4D2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2039112" y="5715000"/>
            <a:ext cx="2825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CN" altLang="en-US" sz="1080" b="1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在线学习</a:t>
            </a:r>
            <a:endParaRPr lang="zh-CN" sz="1080" dirty="0"/>
          </a:p>
        </p:txBody>
      </p:sp>
      <p:sp>
        <p:nvSpPr>
          <p:cNvPr id="71" name="Shape 69"/>
          <p:cNvSpPr/>
          <p:nvPr/>
        </p:nvSpPr>
        <p:spPr>
          <a:xfrm>
            <a:off x="5029200" y="5806440"/>
            <a:ext cx="118872" cy="0"/>
          </a:xfrm>
          <a:prstGeom prst="line">
            <a:avLst/>
          </a:prstGeom>
          <a:noFill/>
          <a:ln w="11430">
            <a:solidFill>
              <a:srgbClr val="8B4A20"/>
            </a:solidFill>
            <a:prstDash val="solid"/>
            <a:tailEnd type="triangle"/>
          </a:ln>
        </p:spPr>
      </p:sp>
      <p:sp>
        <p:nvSpPr>
          <p:cNvPr id="72" name="Text 70"/>
          <p:cNvSpPr txBox="1"/>
          <p:nvPr/>
        </p:nvSpPr>
        <p:spPr>
          <a:xfrm>
            <a:off x="5276088" y="5385816"/>
            <a:ext cx="2880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850" b="1" spc="115" kern="0" dirty="0">
                <a:solidFill>
                  <a:srgbClr val="8B4A2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CONSTRUCT · 习</a:t>
            </a:r>
            <a:endParaRPr lang="zh-CN" sz="850" dirty="0"/>
          </a:p>
        </p:txBody>
      </p:sp>
      <p:sp>
        <p:nvSpPr>
          <p:cNvPr id="73" name="Shape 71"/>
          <p:cNvSpPr/>
          <p:nvPr/>
        </p:nvSpPr>
        <p:spPr>
          <a:xfrm>
            <a:off x="5148072" y="5641848"/>
            <a:ext cx="3154680" cy="329184"/>
          </a:xfrm>
          <a:prstGeom prst="rect">
            <a:avLst/>
          </a:prstGeom>
          <a:solidFill>
            <a:srgbClr val="FFFFFF"/>
          </a:solidFill>
          <a:ln w="6985">
            <a:solidFill>
              <a:srgbClr val="D4D4D2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312664" y="5715000"/>
            <a:ext cx="2825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CN" altLang="en-US" sz="1080" b="1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AI 陪练</a:t>
            </a:r>
            <a:endParaRPr lang="zh-CN" sz="1080" dirty="0"/>
          </a:p>
        </p:txBody>
      </p:sp>
      <p:sp>
        <p:nvSpPr>
          <p:cNvPr id="75" name="Shape 73"/>
          <p:cNvSpPr/>
          <p:nvPr/>
        </p:nvSpPr>
        <p:spPr>
          <a:xfrm>
            <a:off x="8302752" y="5806440"/>
            <a:ext cx="118872" cy="0"/>
          </a:xfrm>
          <a:prstGeom prst="line">
            <a:avLst/>
          </a:prstGeom>
          <a:noFill/>
          <a:ln w="11430">
            <a:solidFill>
              <a:srgbClr val="8B4A20"/>
            </a:solidFill>
            <a:prstDash val="solid"/>
            <a:tailEnd type="triangle"/>
          </a:ln>
        </p:spPr>
      </p:sp>
      <p:sp>
        <p:nvSpPr>
          <p:cNvPr id="76" name="Text 74"/>
          <p:cNvSpPr txBox="1"/>
          <p:nvPr/>
        </p:nvSpPr>
        <p:spPr>
          <a:xfrm>
            <a:off x="8549640" y="5385816"/>
            <a:ext cx="2880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850" b="1" spc="115" kern="0" dirty="0">
                <a:solidFill>
                  <a:srgbClr val="8B4A2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CONVERT · 变</a:t>
            </a:r>
            <a:endParaRPr lang="zh-CN" sz="850" dirty="0"/>
          </a:p>
        </p:txBody>
      </p:sp>
      <p:sp>
        <p:nvSpPr>
          <p:cNvPr id="77" name="Shape 75"/>
          <p:cNvSpPr/>
          <p:nvPr/>
        </p:nvSpPr>
        <p:spPr>
          <a:xfrm>
            <a:off x="8421624" y="5641848"/>
            <a:ext cx="3154680" cy="329184"/>
          </a:xfrm>
          <a:prstGeom prst="rect">
            <a:avLst/>
          </a:prstGeom>
          <a:solidFill>
            <a:srgbClr val="FFFFFF"/>
          </a:solidFill>
          <a:ln w="6985">
            <a:solidFill>
              <a:srgbClr val="D4D4D2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586216" y="5715000"/>
            <a:ext cx="2825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CN" altLang="en-US" sz="1080" b="1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行动学习</a:t>
            </a:r>
            <a:endParaRPr lang="zh-CN" sz="1080" dirty="0"/>
          </a:p>
        </p:txBody>
      </p:sp>
      <p:sp>
        <p:nvSpPr>
          <p:cNvPr id="79" name="Shape 77"/>
          <p:cNvSpPr/>
          <p:nvPr/>
        </p:nvSpPr>
        <p:spPr>
          <a:xfrm>
            <a:off x="1874520" y="6025896"/>
            <a:ext cx="9720072" cy="228600"/>
          </a:xfrm>
          <a:prstGeom prst="rect">
            <a:avLst/>
          </a:prstGeom>
          <a:solidFill>
            <a:srgbClr val="F6ECE4"/>
          </a:solidFill>
          <a:ln w="6350">
            <a:solidFill>
              <a:srgbClr val="F6ECE4">
                <a:alpha val="0"/>
              </a:srgbClr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2057400" y="6053328"/>
            <a:ext cx="9354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850" b="1" spc="115" kern="0" dirty="0">
                <a:solidFill>
                  <a:srgbClr val="8B4A2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数字化培训管理 · 承接个人与组织培养任务</a:t>
            </a:r>
            <a:endParaRPr lang="zh-CN" sz="850" dirty="0"/>
          </a:p>
        </p:txBody>
      </p:sp>
      <p:sp>
        <p:nvSpPr>
          <p:cNvPr id="81" name="Shape 79"/>
          <p:cNvSpPr/>
          <p:nvPr/>
        </p:nvSpPr>
        <p:spPr>
          <a:xfrm>
            <a:off x="6693408" y="2615184"/>
            <a:ext cx="0" cy="274320"/>
          </a:xfrm>
          <a:prstGeom prst="line">
            <a:avLst/>
          </a:prstGeom>
          <a:noFill/>
          <a:ln w="13335">
            <a:solidFill>
              <a:srgbClr val="002FA7"/>
            </a:solidFill>
            <a:prstDash val="solid"/>
            <a:tailEnd type="triangle"/>
          </a:ln>
        </p:spPr>
      </p:sp>
      <p:sp>
        <p:nvSpPr>
          <p:cNvPr id="82" name="Shape 80"/>
          <p:cNvSpPr/>
          <p:nvPr/>
        </p:nvSpPr>
        <p:spPr>
          <a:xfrm>
            <a:off x="6693408" y="3849624"/>
            <a:ext cx="0" cy="100584"/>
          </a:xfrm>
          <a:prstGeom prst="line">
            <a:avLst/>
          </a:prstGeom>
          <a:noFill/>
          <a:ln w="13335">
            <a:solidFill>
              <a:srgbClr val="002FA7"/>
            </a:solidFill>
            <a:prstDash val="solid"/>
            <a:tailEnd type="triangle"/>
          </a:ln>
        </p:spPr>
      </p:sp>
      <p:sp>
        <p:nvSpPr>
          <p:cNvPr id="83" name="Shape 81"/>
          <p:cNvSpPr/>
          <p:nvPr/>
        </p:nvSpPr>
        <p:spPr>
          <a:xfrm>
            <a:off x="6693408" y="5111496"/>
            <a:ext cx="0" cy="100584"/>
          </a:xfrm>
          <a:prstGeom prst="line">
            <a:avLst/>
          </a:prstGeom>
          <a:noFill/>
          <a:ln w="13335">
            <a:solidFill>
              <a:srgbClr val="002FA7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ingFang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ingFang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时代光华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海格汽车人才发展方案 · 从岗位建模一直做到人才发展</dc:title>
  <dc:subject>海格汽车人才发展体系设计方案</dc:subject>
  <dc:creator>时代光华</dc:creator>
  <cp:lastModifiedBy>时代光华</cp:lastModifiedBy>
  <cp:revision>1</cp:revision>
  <dcterms:created xsi:type="dcterms:W3CDTF">2026-08-27T07:23:29Z</dcterms:created>
  <dcterms:modified xsi:type="dcterms:W3CDTF">2026-08-27T07:23:29Z</dcterms:modified>
</cp:coreProperties>
</file>