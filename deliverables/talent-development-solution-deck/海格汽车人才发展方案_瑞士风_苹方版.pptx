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今天我想换个讲法，直接拿海格的一轮关键岗位人才发展来讲。
我们从岗位标准怎么建开始，接着看人才盘点、人岗匹配，再到个人 IDP 和培训项目。沿着业务实际怎么做，一步一步看系统怎么接。
接下来：先看海格这一轮到底要解决什么问题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业务先圈出一批关键岗位，也明确接下来需要什么样的人。
HR 接着要回答：现有的人到了什么水平，谁更适合这些岗位，还差哪些能力。
盘点结果出来以后，每个人怎么发展、共性问题怎么安排培训，也要一起定下来。
接下来：把整轮工作拆开看，一共六步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这轮工作一共六步。前两步在岗位中心完成，先定岗位，再把岗位要求建出来。
接着进入评鉴中心，把 360、测评、考试和绩效数据收进来。
盘点结果出来后，人才中心负责看人岗差距，发展中心把差距转成个人 IDP 或培训项目。前一步做出来的数据，下一步直接用。
接下来：先进入岗位中心，把岗位标准建起来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第一步先把岗位说清楚。岗位标准不清楚，后面的测评和盘点就没有统一的判断依据。
HR 在岗位中心选中关键岗位，系统会读取岗位说明书、组织信息和现有指标，先给出一版建议。职责、任务、经历、能力、动力和潜力都会带出来，也能查看建议依据。
业务负责人来定稿。哪些能力要保留、要求到什么等级，都可以调整。确认以后，这套内容就成为这个岗位的正式标准。
接下来：岗位标准定下来以后，就可以开始收人才数据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岗位标准定下来以后，接下来把人放进来。HR 可以直接按组织和岗位选人，不需要再导一遍花名册。
能力数据可以选择已经结束的 360、考试或人才测评，绩效按照固定模板上传低、中、高三级结果。
系统按本次规则生成宫格结果，也可以在人才图谱里看人员分布和关系。业务负责人和 HR 确认后，盘点结论会回到每个人的人才档案。
接下来：有了岗位标准和个人结果，接着看人岗匹配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盘点完成以后，业务最常问的就是：这个人到底适不适合目标岗位？
先选目标岗位，系统读取岗位标准；个人这边读取最新有效的 360、考试和测评结果。岗位要求和个人现状会放在同一张雷达图和能力明细里。
如果要在几名候选人里做选择，也可以把 2 至 5 人放在一起比较。这里说明一下，完整的人岗匹配工作台目前属于海格的目标方案。
接下来：看到差距以后，马上安排个人下一步怎么发展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看到差距以后，系统接着生成个人发展安排。员工、经理和 HR 先从岗位差距和盘点结论里，选出这段时间最需要解决的问题。
接下来安排具体动作，可以是课程、培养项目、岗位实践，也可以是经理辅导。每项动作都要定负责人、完成时间和检查方式。
后续进度统一在 IDP 工作台里跟。新的评估结果出来以后，再更新到个人档案。目前原型里还没有独立的 IDP 入口，这部分属于海格的目标方案。
接下来：如果很多人出现同一个差距，就集中开培训项目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如果很多人反复出现同一个能力差距，就可以集中做培训项目。HR 可以按岗位、人才分类或 IDP 目标选择项目人群。
系统把这批人的差距汇总出来，看看哪些能力问题出现得最多。培养目标直接使用能力项和岗位要求等级。
系统可以推荐课程和项目，HR 也可以自己调整。前测、后测关联已有考试，用来比较培养前后的变化。新的能力结果会回到人才档案。
接下来：再用原型图看一下几个中心之间怎么接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这三张图不用看具体按钮，主要看数据怎么往下走。
岗位中心先把关键岗位和岗位标准定下来。这套标准会交给评鉴中心和人才中心，用来做评估、盘点和人岗判断。
盘点完成后，群体结果和个人差距继续交给发展中心。个人差距进入 IDP，多人共有的差距进入培训项目。
接下来：最后看一轮工作结束以后，每类人拿到什么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这轮工作结束后，结果会交到真正使用它的人手里。
业务负责人拿到岗位标准和人才判断；HR 可以沿着同一套数据继续做人岗匹配、个人 IDP 和培训项目。
直接经理知道员工目前差在哪里、这段时间该安排什么。员工自己也能看到岗位要求、个人差距和发展计划。
接下来：最后把这套方案留下的结果说清楚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最后，我希望这套方案能留下几个很具体的结果。每个关键岗位都有一套经过业务确认的标准，以后做评估、盘点和培养都按这套标准来。
每个人的人才档案里保留一份可以持续更新的差距。新的测评和培养结果出来以后，直接更新。
看到差距以后，要有下一步安排。个人差距进入 IDP，共性差距进入培训项目。
接下来：我的介绍先到这里，接下来可以一起讨论首期岗位和人员范围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7840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412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984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155680" y="0"/>
            <a:ext cx="0" cy="6858000"/>
          </a:xfrm>
          <a:prstGeom prst="line">
            <a:avLst/>
          </a:prstGeom>
          <a:noFill/>
          <a:ln w="4445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18120" y="1005840"/>
            <a:ext cx="50292" cy="50292"/>
          </a:xfrm>
          <a:prstGeom prst="rect">
            <a:avLst/>
          </a:prstGeom>
          <a:solidFill>
            <a:srgbClr val="FFFFFF">
              <a:alpha val="6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57032" y="1005840"/>
            <a:ext cx="50292" cy="50292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95944" y="1005840"/>
            <a:ext cx="50292" cy="50292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34856" y="1005840"/>
            <a:ext cx="50292" cy="50292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573768" y="1005840"/>
            <a:ext cx="50292" cy="50292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12680" y="1005840"/>
            <a:ext cx="50292" cy="50292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51592" y="1005840"/>
            <a:ext cx="50292" cy="50292"/>
          </a:xfrm>
          <a:prstGeom prst="rect">
            <a:avLst/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890504" y="1005840"/>
            <a:ext cx="50292" cy="50292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18120" y="1444752"/>
            <a:ext cx="50292" cy="50292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57032" y="1444752"/>
            <a:ext cx="50292" cy="50292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95944" y="1444752"/>
            <a:ext cx="50292" cy="50292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34856" y="1444752"/>
            <a:ext cx="50292" cy="50292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73768" y="1444752"/>
            <a:ext cx="50292" cy="50292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12680" y="1444752"/>
            <a:ext cx="50292" cy="50292"/>
          </a:xfrm>
          <a:prstGeom prst="rect">
            <a:avLst/>
          </a:prstGeom>
          <a:solidFill>
            <a:srgbClr val="FFFFFF">
              <a:alpha val="6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51592" y="1444752"/>
            <a:ext cx="50292" cy="50292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90504" y="1444752"/>
            <a:ext cx="50292" cy="50292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18120" y="1883664"/>
            <a:ext cx="50292" cy="50292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57032" y="1883664"/>
            <a:ext cx="50292" cy="50292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695944" y="1883664"/>
            <a:ext cx="50292" cy="50292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34856" y="1883664"/>
            <a:ext cx="50292" cy="50292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573768" y="1883664"/>
            <a:ext cx="50292" cy="50292"/>
          </a:xfrm>
          <a:prstGeom prst="rect">
            <a:avLst/>
          </a:prstGeom>
          <a:solidFill>
            <a:srgbClr val="FFFFFF">
              <a:alpha val="5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12680" y="1883664"/>
            <a:ext cx="50292" cy="50292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451592" y="1883664"/>
            <a:ext cx="50292" cy="50292"/>
          </a:xfrm>
          <a:prstGeom prst="rect">
            <a:avLst/>
          </a:prstGeom>
          <a:solidFill>
            <a:srgbClr val="FFFFFF">
              <a:alpha val="4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90504" y="1883664"/>
            <a:ext cx="50292" cy="50292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18120" y="2322576"/>
            <a:ext cx="50292" cy="50292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57032" y="2322576"/>
            <a:ext cx="50292" cy="50292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695944" y="2322576"/>
            <a:ext cx="50292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134856" y="2322576"/>
            <a:ext cx="50292" cy="50292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573768" y="2322576"/>
            <a:ext cx="50292" cy="50292"/>
          </a:xfrm>
          <a:prstGeom prst="rect">
            <a:avLst/>
          </a:prstGeom>
          <a:solidFill>
            <a:srgbClr val="FFFFFF">
              <a:alpha val="4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2322576"/>
            <a:ext cx="50292" cy="50292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451592" y="2322576"/>
            <a:ext cx="50292" cy="50292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890504" y="2322576"/>
            <a:ext cx="50292" cy="50292"/>
          </a:xfrm>
          <a:prstGeom prst="rect">
            <a:avLst/>
          </a:prstGeom>
          <a:solidFill>
            <a:srgbClr val="FFFFFF">
              <a:alpha val="2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18120" y="2761488"/>
            <a:ext cx="50292" cy="50292"/>
          </a:xfrm>
          <a:prstGeom prst="rect">
            <a:avLst/>
          </a:prstGeom>
          <a:solidFill>
            <a:srgbClr val="FFFFFF">
              <a:alpha val="1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57032" y="2761488"/>
            <a:ext cx="50292" cy="50292"/>
          </a:xfrm>
          <a:prstGeom prst="rect">
            <a:avLst/>
          </a:prstGeom>
          <a:solidFill>
            <a:srgbClr val="FFFFFF">
              <a:alpha val="5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695944" y="2761488"/>
            <a:ext cx="50292" cy="50292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134856" y="2761488"/>
            <a:ext cx="50292" cy="50292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573768" y="2761488"/>
            <a:ext cx="50292" cy="50292"/>
          </a:xfrm>
          <a:prstGeom prst="rect">
            <a:avLst/>
          </a:prstGeom>
          <a:solidFill>
            <a:srgbClr val="FFFFFF">
              <a:alpha val="3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012680" y="2761488"/>
            <a:ext cx="50292" cy="50292"/>
          </a:xfrm>
          <a:prstGeom prst="rect">
            <a:avLst/>
          </a:prstGeom>
          <a:solidFill>
            <a:srgbClr val="FFFFFF">
              <a:alpha val="2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451592" y="2761488"/>
            <a:ext cx="50292" cy="50292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0504" y="2761488"/>
            <a:ext cx="50292" cy="50292"/>
          </a:xfrm>
          <a:prstGeom prst="rect">
            <a:avLst/>
          </a:prstGeom>
          <a:solidFill>
            <a:srgbClr val="FFFFFF">
              <a:alpha val="5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818120" y="3200400"/>
            <a:ext cx="50292" cy="50292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57032" y="3200400"/>
            <a:ext cx="50292" cy="50292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695944" y="3200400"/>
            <a:ext cx="50292" cy="50292"/>
          </a:xfrm>
          <a:prstGeom prst="rect">
            <a:avLst/>
          </a:prstGeom>
          <a:solidFill>
            <a:srgbClr val="FFFFFF">
              <a:alpha val="3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134856" y="3200400"/>
            <a:ext cx="50292" cy="50292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73768" y="3200400"/>
            <a:ext cx="50292" cy="50292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012680" y="3200400"/>
            <a:ext cx="50292" cy="50292"/>
          </a:xfrm>
          <a:prstGeom prst="rect">
            <a:avLst/>
          </a:prstGeom>
          <a:solidFill>
            <a:srgbClr val="FFFFFF">
              <a:alpha val="6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451592" y="3200400"/>
            <a:ext cx="50292" cy="50292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890504" y="3200400"/>
            <a:ext cx="50292" cy="50292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818120" y="3639312"/>
            <a:ext cx="50292" cy="50292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57032" y="3639312"/>
            <a:ext cx="50292" cy="50292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695944" y="3639312"/>
            <a:ext cx="50292" cy="50292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134856" y="3639312"/>
            <a:ext cx="50292" cy="50292"/>
          </a:xfrm>
          <a:prstGeom prst="rect">
            <a:avLst/>
          </a:prstGeom>
          <a:solidFill>
            <a:srgbClr val="FFFFFF">
              <a:alpha val="2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573768" y="3639312"/>
            <a:ext cx="50292" cy="50292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012680" y="3639312"/>
            <a:ext cx="50292" cy="50292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451592" y="3639312"/>
            <a:ext cx="50292" cy="50292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890504" y="3639312"/>
            <a:ext cx="50292" cy="50292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8120" y="4078224"/>
            <a:ext cx="50292" cy="50292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57032" y="4078224"/>
            <a:ext cx="50292" cy="50292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695944" y="4078224"/>
            <a:ext cx="50292" cy="50292"/>
          </a:xfrm>
          <a:prstGeom prst="rect">
            <a:avLst/>
          </a:prstGeom>
          <a:solidFill>
            <a:srgbClr val="FFFFFF">
              <a:alpha val="6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134856" y="4078224"/>
            <a:ext cx="50292" cy="50292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573768" y="4078224"/>
            <a:ext cx="50292" cy="50292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012680" y="4078224"/>
            <a:ext cx="50292" cy="50292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451592" y="4078224"/>
            <a:ext cx="50292" cy="50292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890504" y="4078224"/>
            <a:ext cx="50292" cy="50292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4360" y="3840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海格汽车 · 人才发展方案</a:t>
            </a:r>
            <a:endParaRPr lang="zh-CN" sz="850" dirty="0"/>
          </a:p>
        </p:txBody>
      </p:sp>
      <p:sp>
        <p:nvSpPr>
          <p:cNvPr id="77" name="Text 75"/>
          <p:cNvSpPr txBox="1"/>
          <p:nvPr/>
        </p:nvSpPr>
        <p:spPr>
          <a:xfrm>
            <a:off x="9875520" y="38404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 · 26.08.27 · 01 / 11</a:t>
            </a:r>
            <a:endParaRPr lang="zh-CN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594360" y="1060704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从一轮关键岗位人才发展说起</a:t>
            </a:r>
            <a:endParaRPr lang="zh-CN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1444752"/>
            <a:ext cx="67665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从岗位标准出发</a:t>
            </a:r>
            <a:endParaRPr lang="zh-CN" sz="4900" dirty="0"/>
          </a:p>
          <a:p>
            <a:pPr algn="l" indent="0" marL="0">
              <a:buNone/>
            </a:pPr>
            <a:r>
              <a:rPr lang="zh-CN" altLang="en-US" sz="4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把盘点、匹配</a:t>
            </a:r>
            <a:endParaRPr lang="zh-CN" sz="4900" dirty="0"/>
          </a:p>
          <a:p>
            <a:pPr algn="l" indent="0" marL="0">
              <a:buNone/>
            </a:pPr>
            <a:r>
              <a:rPr lang="zh-CN" altLang="en-US" sz="4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和发展接起来</a:t>
            </a:r>
            <a:endParaRPr lang="zh-CN" sz="4900" dirty="0"/>
          </a:p>
        </p:txBody>
      </p:sp>
      <p:sp>
        <p:nvSpPr>
          <p:cNvPr id="80" name="Shape 78"/>
          <p:cNvSpPr/>
          <p:nvPr/>
        </p:nvSpPr>
        <p:spPr>
          <a:xfrm>
            <a:off x="594360" y="5303520"/>
            <a:ext cx="1100023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94360" y="550468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用一轮关键岗位人才发展，看清系统怎么用。</a:t>
            </a:r>
            <a:endParaRPr lang="zh-CN" sz="1750" dirty="0"/>
          </a:p>
        </p:txBody>
      </p:sp>
      <p:sp>
        <p:nvSpPr>
          <p:cNvPr id="82" name="Text 80"/>
          <p:cNvSpPr txBox="1"/>
          <p:nvPr/>
        </p:nvSpPr>
        <p:spPr>
          <a:xfrm>
            <a:off x="594360" y="6163056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岗位标准 · 人才盘点 · 人岗匹配 · 个人 IDP · 培训项目</a:t>
            </a:r>
            <a:endParaRPr lang="zh-CN" sz="850" dirty="0"/>
          </a:p>
        </p:txBody>
      </p:sp>
      <p:sp>
        <p:nvSpPr>
          <p:cNvPr id="83" name="Text 81"/>
          <p:cNvSpPr txBox="1"/>
          <p:nvPr/>
        </p:nvSpPr>
        <p:spPr>
          <a:xfrm>
            <a:off x="8366760" y="6163056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业务起点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海格启动一轮年度人才发展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325880"/>
            <a:ext cx="8961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海格这一轮，</a:t>
            </a:r>
            <a:endParaRPr lang="zh-CN" sz="4900" dirty="0"/>
          </a:p>
          <a:p>
            <a:pPr algn="l" indent="0" marL="0">
              <a:buNone/>
            </a:pPr>
            <a:r>
              <a:rPr lang="zh-CN" altLang="en-US" sz="4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先回答两个问题</a:t>
            </a:r>
            <a:endParaRPr lang="zh-CN" sz="49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4290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6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谁更适合关键岗位，差距怎么补。</a:t>
            </a:r>
            <a:endParaRPr lang="zh-CN" sz="4600" dirty="0"/>
          </a:p>
        </p:txBody>
      </p:sp>
      <p:sp>
        <p:nvSpPr>
          <p:cNvPr id="7" name="Shape 5"/>
          <p:cNvSpPr/>
          <p:nvPr/>
        </p:nvSpPr>
        <p:spPr>
          <a:xfrm>
            <a:off x="8458200" y="5285232"/>
            <a:ext cx="3154680" cy="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75320" y="5449824"/>
            <a:ext cx="3337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152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前面把岗位要求说清楚，</a:t>
            </a:r>
            <a:endParaRPr lang="zh-CN" sz="1520" dirty="0"/>
          </a:p>
          <a:p>
            <a:pPr algn="r" indent="0" marL="0">
              <a:buNone/>
            </a:pPr>
            <a:r>
              <a:rPr lang="zh-CN" altLang="en-US" sz="152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后面把发展动作安排下去。</a:t>
            </a:r>
            <a:endParaRPr lang="zh-CN" sz="15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业务起点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整轮工作怎么跑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88720"/>
            <a:ext cx="8686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六步走完一轮人才发展</a:t>
            </a:r>
            <a:endParaRPr lang="zh-CN" sz="3900" dirty="0"/>
          </a:p>
        </p:txBody>
      </p:sp>
      <p:sp>
        <p:nvSpPr>
          <p:cNvPr id="6" name="Shape 4"/>
          <p:cNvSpPr/>
          <p:nvPr/>
        </p:nvSpPr>
        <p:spPr>
          <a:xfrm>
            <a:off x="960120" y="3703320"/>
            <a:ext cx="10076688" cy="0"/>
          </a:xfrm>
          <a:prstGeom prst="line">
            <a:avLst/>
          </a:prstGeom>
          <a:noFill/>
          <a:ln w="17145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96112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" y="29626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246888" y="318211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定关键岗位</a:t>
            </a:r>
            <a:endParaRPr lang="zh-CN" sz="1450" dirty="0"/>
          </a:p>
        </p:txBody>
      </p:sp>
      <p:sp>
        <p:nvSpPr>
          <p:cNvPr id="10" name="Shape 8"/>
          <p:cNvSpPr/>
          <p:nvPr/>
        </p:nvSpPr>
        <p:spPr>
          <a:xfrm>
            <a:off x="2834640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23160" y="3977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2185416" y="418795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建能力模型</a:t>
            </a:r>
            <a:endParaRPr lang="zh-CN" sz="1450" dirty="0"/>
          </a:p>
        </p:txBody>
      </p:sp>
      <p:sp>
        <p:nvSpPr>
          <p:cNvPr id="13" name="Shape 11"/>
          <p:cNvSpPr/>
          <p:nvPr/>
        </p:nvSpPr>
        <p:spPr>
          <a:xfrm>
            <a:off x="4773168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61688" y="29626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4123944" y="318211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收人才数据</a:t>
            </a:r>
            <a:endParaRPr lang="zh-CN" sz="1450" dirty="0"/>
          </a:p>
        </p:txBody>
      </p:sp>
      <p:sp>
        <p:nvSpPr>
          <p:cNvPr id="16" name="Shape 14"/>
          <p:cNvSpPr/>
          <p:nvPr/>
        </p:nvSpPr>
        <p:spPr>
          <a:xfrm>
            <a:off x="6711696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3977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6062472" y="418795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做盘点匹配</a:t>
            </a:r>
            <a:endParaRPr lang="zh-CN" sz="1450" dirty="0"/>
          </a:p>
        </p:txBody>
      </p:sp>
      <p:sp>
        <p:nvSpPr>
          <p:cNvPr id="19" name="Shape 17"/>
          <p:cNvSpPr/>
          <p:nvPr/>
        </p:nvSpPr>
        <p:spPr>
          <a:xfrm>
            <a:off x="8650224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38744" y="29626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8001000" y="318211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定个人 IDP</a:t>
            </a:r>
            <a:endParaRPr lang="zh-CN" sz="1450" dirty="0"/>
          </a:p>
        </p:txBody>
      </p:sp>
      <p:sp>
        <p:nvSpPr>
          <p:cNvPr id="22" name="Shape 20"/>
          <p:cNvSpPr/>
          <p:nvPr/>
        </p:nvSpPr>
        <p:spPr>
          <a:xfrm>
            <a:off x="10588752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177272" y="3977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zh-CN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9939528" y="4187952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开培训项目</a:t>
            </a:r>
            <a:endParaRPr lang="zh-CN" sz="1450" dirty="0"/>
          </a:p>
        </p:txBody>
      </p:sp>
      <p:sp>
        <p:nvSpPr>
          <p:cNvPr id="25" name="Shape 23"/>
          <p:cNvSpPr/>
          <p:nvPr/>
        </p:nvSpPr>
        <p:spPr>
          <a:xfrm>
            <a:off x="594360" y="5102352"/>
            <a:ext cx="3429000" cy="38404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" y="5193792"/>
            <a:ext cx="3209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岗位中心 · 定标准</a:t>
            </a:r>
            <a:endParaRPr lang="zh-CN" sz="850" dirty="0"/>
          </a:p>
        </p:txBody>
      </p:sp>
      <p:sp>
        <p:nvSpPr>
          <p:cNvPr id="27" name="Shape 25"/>
          <p:cNvSpPr/>
          <p:nvPr/>
        </p:nvSpPr>
        <p:spPr>
          <a:xfrm>
            <a:off x="4160520" y="5102352"/>
            <a:ext cx="3566160" cy="38404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270248" y="5193792"/>
            <a:ext cx="3346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评鉴中心 · 看现状</a:t>
            </a:r>
            <a:endParaRPr lang="zh-CN" sz="850" dirty="0"/>
          </a:p>
        </p:txBody>
      </p:sp>
      <p:sp>
        <p:nvSpPr>
          <p:cNvPr id="29" name="Shape 27"/>
          <p:cNvSpPr/>
          <p:nvPr/>
        </p:nvSpPr>
        <p:spPr>
          <a:xfrm>
            <a:off x="7863840" y="5102352"/>
            <a:ext cx="3730752" cy="38404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73568" y="5193792"/>
            <a:ext cx="3511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人才中心 × 发展中心 · 安排后续</a:t>
            </a:r>
            <a:endParaRPr lang="zh-CN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943600"/>
            <a:ext cx="11000232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60990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前一步做出来的数据，下一步直接用。</a:t>
            </a:r>
            <a:endParaRPr lang="zh-CN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岗位中心 / 岗位胜任力建模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岗位管理 · 指标库 · 岗位标准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4300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先说清楚：</a:t>
            </a:r>
            <a:endParaRPr lang="zh-CN" sz="3700" dirty="0"/>
          </a:p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这个岗位需要什么样的人</a:t>
            </a:r>
            <a:endParaRPr lang="zh-CN" sz="3700" dirty="0"/>
          </a:p>
        </p:txBody>
      </p:sp>
      <p:sp>
        <p:nvSpPr>
          <p:cNvPr id="6" name="Shape 4"/>
          <p:cNvSpPr/>
          <p:nvPr/>
        </p:nvSpPr>
        <p:spPr>
          <a:xfrm>
            <a:off x="594360" y="3063240"/>
            <a:ext cx="3502152" cy="251460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73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ADA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选岗位</a:t>
            </a:r>
            <a:endParaRPr lang="zh-CN" sz="850" dirty="0"/>
          </a:p>
        </p:txBody>
      </p:sp>
      <p:sp>
        <p:nvSpPr>
          <p:cNvPr id="8" name="Shape 6"/>
          <p:cNvSpPr/>
          <p:nvPr/>
        </p:nvSpPr>
        <p:spPr>
          <a:xfrm>
            <a:off x="822960" y="3721608"/>
            <a:ext cx="384048" cy="5486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03250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把现有材料放进来</a:t>
            </a:r>
            <a:endParaRPr lang="zh-CN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99432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E5E5E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选中关键岗位，读取岗位说明书、组织信息和现有能力指标。</a:t>
            </a:r>
            <a:endParaRPr lang="zh-CN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30352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C8C8C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岗位中心 · 指标库</a:t>
            </a:r>
            <a:endParaRPr lang="zh-CN" sz="850" dirty="0"/>
          </a:p>
        </p:txBody>
      </p:sp>
      <p:sp>
        <p:nvSpPr>
          <p:cNvPr id="12" name="Shape 10"/>
          <p:cNvSpPr/>
          <p:nvPr/>
        </p:nvSpPr>
        <p:spPr>
          <a:xfrm>
            <a:off x="4343400" y="3063240"/>
            <a:ext cx="3502152" cy="25146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3273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ADAD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出初稿</a:t>
            </a:r>
            <a:endParaRPr lang="zh-CN" sz="850" dirty="0"/>
          </a:p>
        </p:txBody>
      </p:sp>
      <p:sp>
        <p:nvSpPr>
          <p:cNvPr id="14" name="Shape 12"/>
          <p:cNvSpPr/>
          <p:nvPr/>
        </p:nvSpPr>
        <p:spPr>
          <a:xfrm>
            <a:off x="4572000" y="3721608"/>
            <a:ext cx="384048" cy="54864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0" y="403250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系统先给一版</a:t>
            </a:r>
            <a:endParaRPr lang="zh-CN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599432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E5E5E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职责、任务、经历、能力、动力和潜力都可以查看依据。</a:t>
            </a:r>
            <a:endParaRPr lang="zh-CN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530352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C8C8C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建议 · 查看依据</a:t>
            </a:r>
            <a:endParaRPr lang="zh-CN" sz="850" dirty="0"/>
          </a:p>
        </p:txBody>
      </p:sp>
      <p:sp>
        <p:nvSpPr>
          <p:cNvPr id="18" name="Shape 16"/>
          <p:cNvSpPr/>
          <p:nvPr/>
        </p:nvSpPr>
        <p:spPr>
          <a:xfrm>
            <a:off x="8092440" y="3063240"/>
            <a:ext cx="3502152" cy="2514600"/>
          </a:xfrm>
          <a:prstGeom prst="rect">
            <a:avLst/>
          </a:prstGeom>
          <a:solidFill>
            <a:srgbClr val="FAFAF8"/>
          </a:solidFill>
          <a:ln w="6350">
            <a:solidFill>
              <a:srgbClr val="FAFAF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27355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业务定稿</a:t>
            </a:r>
            <a:endParaRPr lang="zh-CN" sz="850" dirty="0"/>
          </a:p>
        </p:txBody>
      </p:sp>
      <p:sp>
        <p:nvSpPr>
          <p:cNvPr id="20" name="Shape 18"/>
          <p:cNvSpPr/>
          <p:nvPr/>
        </p:nvSpPr>
        <p:spPr>
          <a:xfrm>
            <a:off x="8321040" y="3721608"/>
            <a:ext cx="384048" cy="54864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4032504"/>
            <a:ext cx="3044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0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调整并确认</a:t>
            </a:r>
            <a:endParaRPr lang="zh-CN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599432"/>
            <a:ext cx="3044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调整能力项和要求等级，确认后保存为岗位标准。</a:t>
            </a:r>
            <a:endParaRPr lang="zh-CN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5303520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岗位详情 · 岗位标准</a:t>
            </a:r>
            <a:endParaRPr lang="zh-CN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评鉴中心 / 人才盘点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360 评估 · 人才测评 · 考试 · 宫格盘点 · 人才图谱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15568"/>
            <a:ext cx="7498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人选和结果</a:t>
            </a:r>
            <a:endParaRPr lang="zh-CN" sz="3600" dirty="0"/>
          </a:p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直接带进盘点</a:t>
            </a:r>
            <a:endParaRPr lang="zh-CN" sz="3600" dirty="0"/>
          </a:p>
        </p:txBody>
      </p:sp>
      <p:sp>
        <p:nvSpPr>
          <p:cNvPr id="6" name="Shape 4"/>
          <p:cNvSpPr/>
          <p:nvPr/>
        </p:nvSpPr>
        <p:spPr>
          <a:xfrm>
            <a:off x="6099048" y="2816352"/>
            <a:ext cx="0" cy="3108960"/>
          </a:xfrm>
          <a:prstGeom prst="line">
            <a:avLst/>
          </a:prstGeom>
          <a:noFill/>
          <a:ln w="8890">
            <a:solidFill>
              <a:srgbClr val="D4D4D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843784"/>
            <a:ext cx="420624" cy="256032"/>
          </a:xfrm>
          <a:prstGeom prst="rect">
            <a:avLst/>
          </a:prstGeom>
          <a:solidFill>
            <a:srgbClr val="FAFAF8"/>
          </a:solidFill>
          <a:ln w="6350">
            <a:solidFill>
              <a:srgbClr val="0A0A0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88036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8803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数据进来</a:t>
            </a:r>
            <a:endParaRPr lang="zh-CN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291840"/>
            <a:ext cx="2331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选人</a:t>
            </a:r>
            <a:endParaRPr lang="zh-CN" sz="3200" dirty="0"/>
          </a:p>
          <a:p>
            <a:pPr algn="l" indent="0" marL="0">
              <a:buNone/>
            </a:pPr>
            <a:r>
              <a:rPr lang="zh-CN" altLang="en-US" sz="32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带结果</a:t>
            </a:r>
            <a:endParaRPr lang="zh-CN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319272"/>
            <a:ext cx="2560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0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HR 按组织和岗位选人，现有评鉴、绩效结果直接带进来。</a:t>
            </a:r>
            <a:endParaRPr lang="zh-CN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736592"/>
            <a:ext cx="507492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5029200"/>
            <a:ext cx="201168" cy="2286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9103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从组织和岗位中选择盘点人员</a:t>
            </a:r>
            <a:endParaRPr lang="zh-CN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5413248"/>
            <a:ext cx="201168" cy="2286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294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选择已结束的 360、考试或测评</a:t>
            </a:r>
            <a:endParaRPr lang="zh-CN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5797296"/>
            <a:ext cx="201168" cy="22860"/>
          </a:xfrm>
          <a:prstGeom prst="rect">
            <a:avLst/>
          </a:prstGeom>
          <a:solidFill>
            <a:srgbClr val="0A0A0A"/>
          </a:solidFill>
          <a:ln w="6350">
            <a:solidFill>
              <a:srgbClr val="0A0A0A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5678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上传低、中、高三级绩效</a:t>
            </a:r>
            <a:endParaRPr lang="zh-CN" sz="1250" dirty="0"/>
          </a:p>
        </p:txBody>
      </p:sp>
      <p:sp>
        <p:nvSpPr>
          <p:cNvPr id="19" name="Shape 17"/>
          <p:cNvSpPr/>
          <p:nvPr/>
        </p:nvSpPr>
        <p:spPr>
          <a:xfrm>
            <a:off x="6519672" y="2843784"/>
            <a:ext cx="420624" cy="256032"/>
          </a:xfrm>
          <a:prstGeom prst="rect">
            <a:avLst/>
          </a:prstGeom>
          <a:solidFill>
            <a:srgbClr val="FAFAF8"/>
          </a:solidFill>
          <a:ln w="6350">
            <a:solidFill>
              <a:srgbClr val="002FA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2880360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7068312" y="288036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结果出来</a:t>
            </a:r>
            <a:endParaRPr lang="zh-CN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6519672" y="3291840"/>
            <a:ext cx="23317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2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看落位</a:t>
            </a:r>
            <a:endParaRPr lang="zh-CN" sz="3200" dirty="0"/>
          </a:p>
          <a:p>
            <a:pPr algn="l" indent="0" marL="0">
              <a:buNone/>
            </a:pPr>
            <a:r>
              <a:rPr lang="zh-CN" altLang="en-US" sz="32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定结论</a:t>
            </a:r>
            <a:endParaRPr lang="zh-CN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3319272"/>
            <a:ext cx="2560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0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系统先出盘点结果，业务负责人和 HR 再一起确认。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4736592"/>
            <a:ext cx="507492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19672" y="5029200"/>
            <a:ext cx="201168" cy="2286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39712" y="49103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宫格盘点看能力与绩效落位</a:t>
            </a:r>
            <a:endParaRPr lang="zh-CN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5413248"/>
            <a:ext cx="201168" cy="2286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39712" y="52943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人才图谱看群体分布和关系</a:t>
            </a:r>
            <a:endParaRPr lang="zh-CN" sz="1250" dirty="0"/>
          </a:p>
        </p:txBody>
      </p:sp>
      <p:sp>
        <p:nvSpPr>
          <p:cNvPr id="29" name="Shape 27"/>
          <p:cNvSpPr/>
          <p:nvPr/>
        </p:nvSpPr>
        <p:spPr>
          <a:xfrm>
            <a:off x="6519672" y="5797296"/>
            <a:ext cx="201168" cy="2286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39712" y="5678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确认结果回到个人档案</a:t>
            </a:r>
            <a:endParaRPr lang="zh-CN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人才中心 × 岗位中心 / 人岗匹配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/ 11</a:t>
            </a:r>
            <a:endParaRPr lang="zh-CN" sz="850" dirty="0"/>
          </a:p>
        </p:txBody>
      </p:sp>
      <p:sp>
        <p:nvSpPr>
          <p:cNvPr id="4" name="Shape 2"/>
          <p:cNvSpPr/>
          <p:nvPr/>
        </p:nvSpPr>
        <p:spPr>
          <a:xfrm>
            <a:off x="594360" y="1051560"/>
            <a:ext cx="3794760" cy="52578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37160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岗位标准 · 人才档案 · 人才对比</a:t>
            </a:r>
            <a:endParaRPr lang="zh-CN" sz="8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96596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这个人</a:t>
            </a:r>
            <a:endParaRPr lang="zh-CN" sz="3800" dirty="0"/>
          </a:p>
          <a:p>
            <a:pPr algn="l" indent="0" marL="0">
              <a:buNone/>
            </a:pPr>
            <a:r>
              <a:rPr lang="zh-CN" altLang="en-US" sz="3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适不适合</a:t>
            </a:r>
            <a:endParaRPr lang="zh-CN" sz="3800" dirty="0"/>
          </a:p>
          <a:p>
            <a:pPr algn="l" indent="0" marL="0">
              <a:buNone/>
            </a:pPr>
            <a:r>
              <a:rPr lang="zh-CN" altLang="en-US" sz="3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目标岗位</a:t>
            </a:r>
            <a:endParaRPr lang="zh-CN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2303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dirty="0">
                <a:solidFill>
                  <a:srgbClr val="E6EC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岗位要求和个人现状放在一起，差在哪直接看。</a:t>
            </a:r>
            <a:endParaRPr lang="zh-CN" sz="1350" dirty="0"/>
          </a:p>
        </p:txBody>
      </p:sp>
      <p:sp>
        <p:nvSpPr>
          <p:cNvPr id="8" name="Shape 6"/>
          <p:cNvSpPr/>
          <p:nvPr/>
        </p:nvSpPr>
        <p:spPr>
          <a:xfrm>
            <a:off x="4736592" y="1051560"/>
            <a:ext cx="6858000" cy="148132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56632" y="125272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153912" y="12801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8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选目标岗位</a:t>
            </a:r>
            <a:endParaRPr lang="zh-CN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153912" y="1792224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系统读取这个岗位的职责、能力项和要求等级。</a:t>
            </a:r>
            <a:endParaRPr lang="zh-CN" sz="1360" dirty="0"/>
          </a:p>
        </p:txBody>
      </p:sp>
      <p:sp>
        <p:nvSpPr>
          <p:cNvPr id="12" name="Shape 10"/>
          <p:cNvSpPr/>
          <p:nvPr/>
        </p:nvSpPr>
        <p:spPr>
          <a:xfrm>
            <a:off x="4736592" y="2761488"/>
            <a:ext cx="6858000" cy="148132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6632" y="296265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6153912" y="299008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8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拿到这个人的最新结果</a:t>
            </a:r>
            <a:endParaRPr lang="zh-CN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53912" y="3502152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带入最新的 360、考试和测评；没有数据时直接显示暂无结果。</a:t>
            </a:r>
            <a:endParaRPr lang="zh-CN" sz="1360" dirty="0"/>
          </a:p>
        </p:txBody>
      </p:sp>
      <p:sp>
        <p:nvSpPr>
          <p:cNvPr id="16" name="Shape 14"/>
          <p:cNvSpPr/>
          <p:nvPr/>
        </p:nvSpPr>
        <p:spPr>
          <a:xfrm>
            <a:off x="4736592" y="4471416"/>
            <a:ext cx="6858000" cy="1481328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6632" y="467258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4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153912" y="470001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8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看匹配和差距</a:t>
            </a:r>
            <a:endParaRPr lang="zh-CN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153912" y="5212080"/>
            <a:ext cx="4983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雷达图和能力明细同时展示，也可以把 2 至 5 人放在一起比较。</a:t>
            </a:r>
            <a:endParaRPr lang="zh-CN" sz="13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人才中心 × 发展中心 / 个人 IDP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人才档案 · 人才差距 · IDP 工作台 · 课程 / 实践 / 辅导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差距确认后，</a:t>
            </a:r>
            <a:endParaRPr lang="zh-CN" sz="3600" dirty="0"/>
          </a:p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马上安排个人下一步</a:t>
            </a:r>
            <a:endParaRPr lang="zh-CN" sz="36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4937760" cy="0"/>
          </a:xfrm>
          <a:prstGeom prst="line">
            <a:avLst/>
          </a:prstGeom>
          <a:noFill/>
          <a:ln w="8890">
            <a:solidFill>
              <a:srgbClr val="0A0A0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9260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81635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选本期重点</a:t>
            </a:r>
            <a:endParaRPr lang="zh-CN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081528" y="2816352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从岗位差距和盘点结论中选出最需要解决的问题。</a:t>
            </a:r>
            <a:endParaRPr lang="zh-CN" sz="1230" dirty="0"/>
          </a:p>
        </p:txBody>
      </p:sp>
      <p:sp>
        <p:nvSpPr>
          <p:cNvPr id="10" name="Shape 8"/>
          <p:cNvSpPr/>
          <p:nvPr/>
        </p:nvSpPr>
        <p:spPr>
          <a:xfrm>
            <a:off x="594360" y="3419856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67588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56616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安排具体动作</a:t>
            </a:r>
            <a:endParaRPr lang="zh-CN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81528" y="356616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选择课程、项目、岗位实践或经理辅导。</a:t>
            </a:r>
            <a:endParaRPr lang="zh-CN" sz="1230" dirty="0"/>
          </a:p>
        </p:txBody>
      </p:sp>
      <p:sp>
        <p:nvSpPr>
          <p:cNvPr id="14" name="Shape 12"/>
          <p:cNvSpPr/>
          <p:nvPr/>
        </p:nvSpPr>
        <p:spPr>
          <a:xfrm>
            <a:off x="594360" y="4169664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4256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3159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定人和时间</a:t>
            </a:r>
            <a:endParaRPr lang="zh-CN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081528" y="4315968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一起确认负责人、完成时间和检查方式。</a:t>
            </a:r>
            <a:endParaRPr lang="zh-CN" sz="1230" dirty="0"/>
          </a:p>
        </p:txBody>
      </p:sp>
      <p:sp>
        <p:nvSpPr>
          <p:cNvPr id="18" name="Shape 16"/>
          <p:cNvSpPr/>
          <p:nvPr/>
        </p:nvSpPr>
        <p:spPr>
          <a:xfrm>
            <a:off x="594360" y="4919472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51755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506577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跟进结果</a:t>
            </a:r>
            <a:endParaRPr lang="zh-CN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081528" y="5065776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查看进度，新的评估结果再回到个人档案。</a:t>
            </a:r>
            <a:endParaRPr lang="zh-CN" sz="1230" dirty="0"/>
          </a:p>
        </p:txBody>
      </p:sp>
      <p:sp>
        <p:nvSpPr>
          <p:cNvPr id="22" name="Shape 20"/>
          <p:cNvSpPr/>
          <p:nvPr/>
        </p:nvSpPr>
        <p:spPr>
          <a:xfrm>
            <a:off x="594360" y="5669280"/>
            <a:ext cx="4937760" cy="0"/>
          </a:xfrm>
          <a:prstGeom prst="line">
            <a:avLst/>
          </a:prstGeom>
          <a:noFill/>
          <a:ln w="6350">
            <a:solidFill>
              <a:srgbClr val="D4D4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0" y="2807208"/>
            <a:ext cx="3017520" cy="3017520"/>
          </a:xfrm>
          <a:prstGeom prst="ellipse">
            <a:avLst/>
          </a:prstGeom>
          <a:solidFill>
            <a:srgbClr val="FAFAF8">
              <a:alpha val="0"/>
            </a:srgbClr>
          </a:solidFill>
          <a:ln w="10160">
            <a:solidFill>
              <a:srgbClr val="D4D4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08392" y="3200400"/>
            <a:ext cx="2231136" cy="2231136"/>
          </a:xfrm>
          <a:prstGeom prst="ellipse">
            <a:avLst/>
          </a:prstGeom>
          <a:solidFill>
            <a:srgbClr val="FAFAF8">
              <a:alpha val="0"/>
            </a:srgbClr>
          </a:solidFill>
          <a:ln w="22860">
            <a:solidFill>
              <a:srgbClr val="002FA7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8110728" y="3602736"/>
            <a:ext cx="1426464" cy="1426464"/>
          </a:xfrm>
          <a:prstGeom prst="ellipse">
            <a:avLst/>
          </a:prstGeom>
          <a:solidFill>
            <a:srgbClr val="FAFAF8">
              <a:alpha val="0"/>
            </a:srgbClr>
          </a:solidFill>
          <a:ln w="10160">
            <a:solidFill>
              <a:srgbClr val="D4D4D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0" y="3904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IDP</a:t>
            </a:r>
            <a:endParaRPr lang="zh-CN" sz="31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5171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050" b="1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 → 行动 → 跟进 → 更新</a:t>
            </a:r>
            <a:endParaRPr lang="zh-CN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发展中心 × 培训平台 / 培训项目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岗位地图 · 学习方案 · 培训项目 · 前测与后测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7498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多人都缺同一项能力，</a:t>
            </a:r>
            <a:endParaRPr lang="zh-CN" sz="3600" dirty="0"/>
          </a:p>
          <a:p>
            <a:pPr algn="l" indent="0" marL="0">
              <a:buNone/>
            </a:pPr>
            <a:r>
              <a:rPr lang="zh-CN" altLang="en-US" sz="36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就围绕它开培训项目</a:t>
            </a:r>
            <a:endParaRPr lang="zh-CN" sz="3600" dirty="0"/>
          </a:p>
        </p:txBody>
      </p:sp>
      <p:sp>
        <p:nvSpPr>
          <p:cNvPr id="6" name="Shape 4"/>
          <p:cNvSpPr/>
          <p:nvPr/>
        </p:nvSpPr>
        <p:spPr>
          <a:xfrm>
            <a:off x="594360" y="2770632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95528" y="2935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07792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选岗位和人群</a:t>
            </a:r>
            <a:endParaRPr lang="zh-CN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1307592" y="33284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项目范围</a:t>
            </a:r>
            <a:endParaRPr lang="zh-CN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307592" y="3621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按岗位、人才分类或 IDP 目标选人。</a:t>
            </a:r>
            <a:endParaRPr lang="zh-CN" sz="1230" dirty="0"/>
          </a:p>
        </p:txBody>
      </p:sp>
      <p:sp>
        <p:nvSpPr>
          <p:cNvPr id="11" name="Shape 9"/>
          <p:cNvSpPr/>
          <p:nvPr/>
        </p:nvSpPr>
        <p:spPr>
          <a:xfrm>
            <a:off x="4338828" y="2770632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9996" y="2935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5052060" y="2907792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汇总共性差距</a:t>
            </a:r>
            <a:endParaRPr lang="zh-CN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052060" y="33284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能力差距</a:t>
            </a:r>
            <a:endParaRPr lang="zh-CN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052060" y="3621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看看哪些能力问题出现得最多。</a:t>
            </a:r>
            <a:endParaRPr lang="zh-CN" sz="1230" dirty="0"/>
          </a:p>
        </p:txBody>
      </p:sp>
      <p:sp>
        <p:nvSpPr>
          <p:cNvPr id="16" name="Shape 14"/>
          <p:cNvSpPr/>
          <p:nvPr/>
        </p:nvSpPr>
        <p:spPr>
          <a:xfrm>
            <a:off x="8083296" y="2770632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84464" y="2935224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907792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定培养目标</a:t>
            </a:r>
            <a:endParaRPr lang="zh-CN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8796528" y="332841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能力目标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362102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要补什么能力、补到什么等级，直接写清楚。</a:t>
            </a:r>
            <a:endParaRPr lang="zh-CN" sz="1230" dirty="0"/>
          </a:p>
        </p:txBody>
      </p:sp>
      <p:sp>
        <p:nvSpPr>
          <p:cNvPr id="21" name="Shape 19"/>
          <p:cNvSpPr/>
          <p:nvPr/>
        </p:nvSpPr>
        <p:spPr>
          <a:xfrm>
            <a:off x="8083296" y="4434840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84464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zh-CN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796528" y="4572000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配课程和项目</a:t>
            </a:r>
            <a:endParaRPr lang="zh-CN" sz="15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4992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学习方案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8796528" y="52852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系统先给建议，HR 可以增删、调整。</a:t>
            </a:r>
            <a:endParaRPr lang="zh-CN" sz="1230" dirty="0"/>
          </a:p>
        </p:txBody>
      </p:sp>
      <p:sp>
        <p:nvSpPr>
          <p:cNvPr id="26" name="Shape 24"/>
          <p:cNvSpPr/>
          <p:nvPr/>
        </p:nvSpPr>
        <p:spPr>
          <a:xfrm>
            <a:off x="4338828" y="4434840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39996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5052060" y="4572000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接前测和后测</a:t>
            </a:r>
            <a:endParaRPr lang="zh-CN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5052060" y="4992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效果评估</a:t>
            </a:r>
            <a:endParaRPr lang="zh-CN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5052060" y="52852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关联已有考试，看培养前后的变化。</a:t>
            </a:r>
            <a:endParaRPr lang="zh-CN" sz="1230" dirty="0"/>
          </a:p>
        </p:txBody>
      </p:sp>
      <p:sp>
        <p:nvSpPr>
          <p:cNvPr id="31" name="Shape 29"/>
          <p:cNvSpPr/>
          <p:nvPr/>
        </p:nvSpPr>
        <p:spPr>
          <a:xfrm>
            <a:off x="594360" y="4434840"/>
            <a:ext cx="3511296" cy="1408176"/>
          </a:xfrm>
          <a:prstGeom prst="rect">
            <a:avLst/>
          </a:prstGeom>
          <a:solidFill>
            <a:srgbClr val="FAFAF8"/>
          </a:solidFill>
          <a:ln w="6350">
            <a:solidFill>
              <a:srgbClr val="D4D4D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5528" y="4599432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zh-CN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307592" y="4572000"/>
            <a:ext cx="2596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结果回到个人</a:t>
            </a:r>
            <a:endParaRPr lang="zh-CN" sz="1550" dirty="0"/>
          </a:p>
        </p:txBody>
      </p:sp>
      <p:sp>
        <p:nvSpPr>
          <p:cNvPr id="34" name="Text 32"/>
          <p:cNvSpPr txBox="1"/>
          <p:nvPr/>
        </p:nvSpPr>
        <p:spPr>
          <a:xfrm>
            <a:off x="1307592" y="4992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人才档案</a:t>
            </a:r>
            <a:endParaRPr lang="zh-CN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307592" y="528523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结果回到人才档案，下次匹配和盘点继续用。</a:t>
            </a:r>
            <a:endParaRPr lang="zh-CN" sz="1230" dirty="0"/>
          </a:p>
        </p:txBody>
      </p:sp>
      <p:sp>
        <p:nvSpPr>
          <p:cNvPr id="36" name="Shape 34"/>
          <p:cNvSpPr/>
          <p:nvPr/>
        </p:nvSpPr>
        <p:spPr>
          <a:xfrm>
            <a:off x="4133088" y="3465576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877556" y="3465576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1521440" y="4206240"/>
            <a:ext cx="0" cy="201168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4133088" y="5129784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7877556" y="5129784"/>
            <a:ext cx="178308" cy="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  <a:headEnd type="triangle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· 模块设计 / 原型怎么串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B9B9B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412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8A8A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界面只做定位，重点看数据怎么往下走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24712"/>
            <a:ext cx="102412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这一步做完，下一步直接接着用</a:t>
            </a:r>
            <a:endParaRPr lang="zh-CN" sz="35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3493008" cy="1856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岗位中心关键区域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020824"/>
            <a:ext cx="3383280" cy="1691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96849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8B8B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岗位中心</a:t>
            </a:r>
            <a:endParaRPr lang="zh-CN" sz="850" dirty="0"/>
          </a:p>
        </p:txBody>
      </p:sp>
      <p:sp>
        <p:nvSpPr>
          <p:cNvPr id="9" name="Shape 6"/>
          <p:cNvSpPr/>
          <p:nvPr/>
        </p:nvSpPr>
        <p:spPr>
          <a:xfrm>
            <a:off x="594360" y="4315968"/>
            <a:ext cx="3493008" cy="1417320"/>
          </a:xfrm>
          <a:prstGeom prst="rect">
            <a:avLst/>
          </a:prstGeom>
          <a:solidFill>
            <a:srgbClr val="232323"/>
          </a:solidFill>
          <a:ln w="6350">
            <a:solidFill>
              <a:srgbClr val="232323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4498848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9A9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定清楚</a:t>
            </a:r>
            <a:endParaRPr lang="zh-CN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828032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岗位与标准</a:t>
            </a:r>
            <a:endParaRPr lang="zh-CN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2852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D5D5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关键岗位定清楚，岗位要求定下来。</a:t>
            </a:r>
            <a:endParaRPr lang="zh-CN" sz="1230" dirty="0"/>
          </a:p>
        </p:txBody>
      </p:sp>
      <p:sp>
        <p:nvSpPr>
          <p:cNvPr id="13" name="Shape 10"/>
          <p:cNvSpPr/>
          <p:nvPr/>
        </p:nvSpPr>
        <p:spPr>
          <a:xfrm>
            <a:off x="4114800" y="5010912"/>
            <a:ext cx="205740" cy="0"/>
          </a:xfrm>
          <a:prstGeom prst="line">
            <a:avLst/>
          </a:prstGeom>
          <a:noFill/>
          <a:ln w="19050">
            <a:solidFill>
              <a:srgbClr val="5B7BF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47972" y="1965960"/>
            <a:ext cx="3493008" cy="1856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评鉴中心 × 人才中心关键区域截图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2836" y="2020824"/>
            <a:ext cx="3383280" cy="16916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347972" y="396849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8B8B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评鉴中心 × 人才中心</a:t>
            </a:r>
            <a:endParaRPr lang="zh-CN" sz="850" dirty="0"/>
          </a:p>
        </p:txBody>
      </p:sp>
      <p:sp>
        <p:nvSpPr>
          <p:cNvPr id="17" name="Shape 13"/>
          <p:cNvSpPr/>
          <p:nvPr/>
        </p:nvSpPr>
        <p:spPr>
          <a:xfrm>
            <a:off x="4347972" y="4315968"/>
            <a:ext cx="3493008" cy="1417320"/>
          </a:xfrm>
          <a:prstGeom prst="rect">
            <a:avLst/>
          </a:prstGeom>
          <a:solidFill>
            <a:srgbClr val="232323"/>
          </a:solidFill>
          <a:ln w="6350">
            <a:solidFill>
              <a:srgbClr val="232323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30852" y="4498848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9A9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看明白</a:t>
            </a:r>
            <a:endParaRPr lang="zh-CN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4530852" y="4828032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人才与差距</a:t>
            </a:r>
            <a:endParaRPr lang="zh-CN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30852" y="52852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D5D5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评鉴、绩效和人员信息放在一起看。</a:t>
            </a:r>
            <a:endParaRPr lang="zh-CN" sz="1230" dirty="0"/>
          </a:p>
        </p:txBody>
      </p:sp>
      <p:sp>
        <p:nvSpPr>
          <p:cNvPr id="21" name="Shape 17"/>
          <p:cNvSpPr/>
          <p:nvPr/>
        </p:nvSpPr>
        <p:spPr>
          <a:xfrm>
            <a:off x="7868412" y="5010912"/>
            <a:ext cx="205740" cy="0"/>
          </a:xfrm>
          <a:prstGeom prst="line">
            <a:avLst/>
          </a:prstGeom>
          <a:noFill/>
          <a:ln w="19050">
            <a:solidFill>
              <a:srgbClr val="5B7BFF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8101584" y="1965960"/>
            <a:ext cx="3493008" cy="1856232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发展中心关键区域截图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2020824"/>
            <a:ext cx="3383280" cy="1691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101584" y="3968496"/>
            <a:ext cx="3493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B8B8B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发展中心</a:t>
            </a:r>
            <a:endParaRPr lang="zh-CN" sz="850" dirty="0"/>
          </a:p>
        </p:txBody>
      </p:sp>
      <p:sp>
        <p:nvSpPr>
          <p:cNvPr id="25" name="Shape 20"/>
          <p:cNvSpPr/>
          <p:nvPr/>
        </p:nvSpPr>
        <p:spPr>
          <a:xfrm>
            <a:off x="8101584" y="4315968"/>
            <a:ext cx="3493008" cy="1417320"/>
          </a:xfrm>
          <a:prstGeom prst="rect">
            <a:avLst/>
          </a:prstGeom>
          <a:solidFill>
            <a:srgbClr val="232323"/>
          </a:solidFill>
          <a:ln w="6350">
            <a:solidFill>
              <a:srgbClr val="232323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284464" y="4498848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A9A9A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做下去</a:t>
            </a:r>
            <a:endParaRPr lang="zh-CN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8284464" y="4828032"/>
            <a:ext cx="31272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IDP 与培训</a:t>
            </a:r>
            <a:endParaRPr lang="zh-CN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8284464" y="5285232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D5D5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个人差距进 IDP，共性差距进培训项目。</a:t>
            </a:r>
            <a:endParaRPr lang="zh-CN" sz="12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· 一轮做完 / 谁拿到什么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96112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结果直接交到使用的人手里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7635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一轮工作结束，</a:t>
            </a:r>
            <a:endParaRPr lang="zh-CN" sz="3700" dirty="0"/>
          </a:p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每个人都有能继续用的结果</a:t>
            </a:r>
            <a:endParaRPr lang="zh-CN" sz="3700" dirty="0"/>
          </a:p>
        </p:txBody>
      </p:sp>
      <p:sp>
        <p:nvSpPr>
          <p:cNvPr id="6" name="Shape 4"/>
          <p:cNvSpPr/>
          <p:nvPr/>
        </p:nvSpPr>
        <p:spPr>
          <a:xfrm>
            <a:off x="594360" y="2651760"/>
            <a:ext cx="1920240" cy="0"/>
          </a:xfrm>
          <a:prstGeom prst="line">
            <a:avLst/>
          </a:prstGeom>
          <a:noFill/>
          <a:ln w="21590">
            <a:solidFill>
              <a:srgbClr val="002FA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01 / 业务负责人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用人有依据</a:t>
            </a:r>
            <a:endParaRPr lang="zh-CN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拿到关键岗位标准、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盘点结论和人岗差距。</a:t>
            </a:r>
            <a:endParaRPr lang="zh-CN" sz="1260" dirty="0"/>
          </a:p>
        </p:txBody>
      </p:sp>
      <p:sp>
        <p:nvSpPr>
          <p:cNvPr id="10" name="Shape 8"/>
          <p:cNvSpPr/>
          <p:nvPr/>
        </p:nvSpPr>
        <p:spPr>
          <a:xfrm>
            <a:off x="3346704" y="2971800"/>
            <a:ext cx="0" cy="283464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47872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02 / HR 与人才发展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547872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后续工作接得上</a:t>
            </a:r>
            <a:endParaRPr lang="zh-CN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3547872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建模、评估、盘点、IDP 和培训，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用的是同一套数据。</a:t>
            </a:r>
            <a:endParaRPr lang="zh-CN" sz="1260" dirty="0"/>
          </a:p>
        </p:txBody>
      </p:sp>
      <p:sp>
        <p:nvSpPr>
          <p:cNvPr id="14" name="Shape 12"/>
          <p:cNvSpPr/>
          <p:nvPr/>
        </p:nvSpPr>
        <p:spPr>
          <a:xfrm>
            <a:off x="6099048" y="2971800"/>
            <a:ext cx="0" cy="283464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0216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03 / 直接经理</a:t>
            </a:r>
            <a:endParaRPr lang="zh-CN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00216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知道怎么带人</a:t>
            </a:r>
            <a:endParaRPr lang="zh-CN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6300216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知道员工差在哪、这期做什么、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什么时候完成。</a:t>
            </a:r>
            <a:endParaRPr lang="zh-CN" sz="1260" dirty="0"/>
          </a:p>
        </p:txBody>
      </p:sp>
      <p:sp>
        <p:nvSpPr>
          <p:cNvPr id="18" name="Shape 16"/>
          <p:cNvSpPr/>
          <p:nvPr/>
        </p:nvSpPr>
        <p:spPr>
          <a:xfrm>
            <a:off x="8851392" y="2971800"/>
            <a:ext cx="0" cy="283464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0" y="3017520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04 / 员工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3767328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1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知道下一步怎么走</a:t>
            </a:r>
            <a:endParaRPr lang="zh-CN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4983480"/>
            <a:ext cx="2368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清楚岗位要求、个人差距</a:t>
            </a:r>
            <a:endParaRPr lang="zh-CN" sz="1260" dirty="0"/>
          </a:p>
          <a:p>
            <a:pPr algn="l" indent="0" marL="0">
              <a:buNone/>
            </a:pPr>
            <a:r>
              <a:rPr lang="zh-CN" altLang="en-US" sz="126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和自己的发展安排。</a:t>
            </a:r>
            <a:endParaRPr lang="zh-CN" sz="12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9048" cy="68580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82296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8408" y="82296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82296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1368" y="82296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82296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24328" y="82296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35808" y="822960"/>
            <a:ext cx="41148" cy="41148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822960"/>
            <a:ext cx="41148" cy="41148"/>
          </a:xfrm>
          <a:prstGeom prst="rect">
            <a:avLst/>
          </a:prstGeom>
          <a:solidFill>
            <a:srgbClr val="FFFFFF">
              <a:alpha val="1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123444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123444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888" y="123444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01368" y="123444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12848" y="1234440"/>
            <a:ext cx="41148" cy="41148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4328" y="123444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5808" y="123444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7288" y="123444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64592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164592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89888" y="164592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01368" y="164592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12848" y="164592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4328" y="164592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5808" y="164592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164592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05740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408" y="205740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89888" y="205740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1368" y="205740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12848" y="205740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4328" y="205740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2057400"/>
            <a:ext cx="41148" cy="41148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47288" y="205740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246888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8408" y="246888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89888" y="246888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01368" y="246888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12848" y="246888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24328" y="246888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5808" y="246888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246888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288036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8408" y="2880360"/>
            <a:ext cx="41148" cy="41148"/>
          </a:xfrm>
          <a:prstGeom prst="rect">
            <a:avLst/>
          </a:prstGeom>
          <a:solidFill>
            <a:srgbClr val="FFFFFF">
              <a:alpha val="1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89888" y="288036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1368" y="288036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12848" y="288036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24328" y="288036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5808" y="288036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47288" y="288036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291840"/>
            <a:ext cx="41148" cy="41148"/>
          </a:xfrm>
          <a:prstGeom prst="rect">
            <a:avLst/>
          </a:prstGeom>
          <a:solidFill>
            <a:srgbClr val="FFFFFF">
              <a:alpha val="4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8408" y="3291840"/>
            <a:ext cx="41148" cy="41148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89888" y="329184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01368" y="329184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12848" y="329184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24328" y="329184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35808" y="329184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447288" y="329184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3703320"/>
            <a:ext cx="41148" cy="41148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8408" y="3703320"/>
            <a:ext cx="41148" cy="41148"/>
          </a:xfrm>
          <a:prstGeom prst="rect">
            <a:avLst/>
          </a:prstGeom>
          <a:solidFill>
            <a:srgbClr val="FFFFFF">
              <a:alpha val="2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89888" y="370332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1368" y="3703320"/>
            <a:ext cx="41148" cy="41148"/>
          </a:xfrm>
          <a:prstGeom prst="rect">
            <a:avLst/>
          </a:prstGeom>
          <a:solidFill>
            <a:srgbClr val="FFFFFF">
              <a:alpha val="1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12848" y="370332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24328" y="370332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35808" y="370332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447288" y="370332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2920" y="3840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 / 11</a:t>
            </a:r>
            <a:endParaRPr lang="zh-CN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4663440" y="384048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CLOSING</a:t>
            </a:r>
            <a:endParaRPr lang="zh-CN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12344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海格汽车人才发展</a:t>
            </a:r>
            <a:endParaRPr lang="zh-CN" sz="850" dirty="0"/>
          </a:p>
        </p:txBody>
      </p:sp>
      <p:sp>
        <p:nvSpPr>
          <p:cNvPr id="70" name="Text 68"/>
          <p:cNvSpPr txBox="1"/>
          <p:nvPr/>
        </p:nvSpPr>
        <p:spPr>
          <a:xfrm>
            <a:off x="502920" y="187452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岗位有标准</a:t>
            </a:r>
            <a:endParaRPr lang="zh-CN" sz="4200" dirty="0"/>
          </a:p>
          <a:p>
            <a:pPr algn="l" indent="0" marL="0">
              <a:buNone/>
            </a:pPr>
            <a:r>
              <a:rPr lang="zh-CN" alt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人才有差距</a:t>
            </a:r>
            <a:endParaRPr lang="zh-CN" sz="4200" dirty="0"/>
          </a:p>
          <a:p>
            <a:pPr algn="l" indent="0" marL="0">
              <a:buNone/>
            </a:pPr>
            <a:r>
              <a:rPr lang="zh-CN" altLang="en-US" sz="42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后续有安排</a:t>
            </a:r>
            <a:endParaRPr lang="zh-CN" sz="4200" dirty="0"/>
          </a:p>
        </p:txBody>
      </p:sp>
      <p:sp>
        <p:nvSpPr>
          <p:cNvPr id="71" name="Text 69"/>
          <p:cNvSpPr txBox="1"/>
          <p:nvPr/>
        </p:nvSpPr>
        <p:spPr>
          <a:xfrm>
            <a:off x="502920" y="51206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dirty="0">
                <a:solidFill>
                  <a:srgbClr val="E6EC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这轮留下的结果，下一轮还能直接用。</a:t>
            </a:r>
            <a:endParaRPr lang="zh-CN" sz="1450" dirty="0"/>
          </a:p>
        </p:txBody>
      </p:sp>
      <p:sp>
        <p:nvSpPr>
          <p:cNvPr id="72" name="Shape 70"/>
          <p:cNvSpPr/>
          <p:nvPr/>
        </p:nvSpPr>
        <p:spPr>
          <a:xfrm>
            <a:off x="502920" y="5989320"/>
            <a:ext cx="5074920" cy="0"/>
          </a:xfrm>
          <a:prstGeom prst="line">
            <a:avLst/>
          </a:prstGeom>
          <a:noFill/>
          <a:ln w="571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02920" y="61722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DCE4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时代光华 · 人才发展解决方案</a:t>
            </a:r>
            <a:endParaRPr lang="zh-CN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6565392" y="5029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落到系统里</a:t>
            </a:r>
            <a:endParaRPr lang="zh-CN" sz="850" dirty="0"/>
          </a:p>
        </p:txBody>
      </p:sp>
      <p:sp>
        <p:nvSpPr>
          <p:cNvPr id="75" name="Text 73"/>
          <p:cNvSpPr txBox="1"/>
          <p:nvPr/>
        </p:nvSpPr>
        <p:spPr>
          <a:xfrm>
            <a:off x="10607040" y="5029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条</a:t>
            </a:r>
            <a:endParaRPr lang="zh-CN" sz="850" dirty="0"/>
          </a:p>
        </p:txBody>
      </p:sp>
      <p:sp>
        <p:nvSpPr>
          <p:cNvPr id="76" name="Shape 74"/>
          <p:cNvSpPr/>
          <p:nvPr/>
        </p:nvSpPr>
        <p:spPr>
          <a:xfrm>
            <a:off x="6565392" y="1298448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565392" y="1527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zh-CN" sz="2900" dirty="0"/>
          </a:p>
        </p:txBody>
      </p:sp>
      <p:sp>
        <p:nvSpPr>
          <p:cNvPr id="78" name="Text 76"/>
          <p:cNvSpPr txBox="1"/>
          <p:nvPr/>
        </p:nvSpPr>
        <p:spPr>
          <a:xfrm>
            <a:off x="7680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一个岗位，一套标准</a:t>
            </a:r>
            <a:endParaRPr lang="zh-CN" sz="1700" dirty="0"/>
          </a:p>
        </p:txBody>
      </p:sp>
      <p:sp>
        <p:nvSpPr>
          <p:cNvPr id="79" name="Text 77"/>
          <p:cNvSpPr txBox="1"/>
          <p:nvPr/>
        </p:nvSpPr>
        <p:spPr>
          <a:xfrm>
            <a:off x="7680960" y="204825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职责、评估和学习都落到具体岗位上。</a:t>
            </a:r>
            <a:endParaRPr lang="zh-CN" sz="1230" dirty="0"/>
          </a:p>
        </p:txBody>
      </p:sp>
      <p:sp>
        <p:nvSpPr>
          <p:cNvPr id="80" name="Shape 78"/>
          <p:cNvSpPr/>
          <p:nvPr/>
        </p:nvSpPr>
        <p:spPr>
          <a:xfrm>
            <a:off x="6565392" y="2807208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565392" y="303580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zh-CN" sz="2900" dirty="0"/>
          </a:p>
        </p:txBody>
      </p:sp>
      <p:sp>
        <p:nvSpPr>
          <p:cNvPr id="82" name="Text 80"/>
          <p:cNvSpPr txBox="1"/>
          <p:nvPr/>
        </p:nvSpPr>
        <p:spPr>
          <a:xfrm>
            <a:off x="7680960" y="30632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0A0A0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一个人，一张会更新的差距清单</a:t>
            </a:r>
            <a:endParaRPr lang="zh-CN" sz="1700" dirty="0"/>
          </a:p>
        </p:txBody>
      </p:sp>
      <p:sp>
        <p:nvSpPr>
          <p:cNvPr id="83" name="Text 81"/>
          <p:cNvSpPr txBox="1"/>
          <p:nvPr/>
        </p:nvSpPr>
        <p:spPr>
          <a:xfrm>
            <a:off x="7680960" y="355701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岗位要求、个人结果和盘点结论放在一起看。</a:t>
            </a:r>
            <a:endParaRPr lang="zh-CN" sz="1230" dirty="0"/>
          </a:p>
        </p:txBody>
      </p:sp>
      <p:sp>
        <p:nvSpPr>
          <p:cNvPr id="84" name="Shape 82"/>
          <p:cNvSpPr/>
          <p:nvPr/>
        </p:nvSpPr>
        <p:spPr>
          <a:xfrm>
            <a:off x="6565392" y="4315968"/>
            <a:ext cx="5029200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65392" y="454456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zh-CN" sz="2900" dirty="0"/>
          </a:p>
        </p:txBody>
      </p:sp>
      <p:sp>
        <p:nvSpPr>
          <p:cNvPr id="86" name="Text 84"/>
          <p:cNvSpPr txBox="1"/>
          <p:nvPr/>
        </p:nvSpPr>
        <p:spPr>
          <a:xfrm>
            <a:off x="7680960" y="45720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002F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差在哪，下一步就怎么安排</a:t>
            </a:r>
            <a:endParaRPr lang="zh-CN" sz="1700" dirty="0"/>
          </a:p>
        </p:txBody>
      </p:sp>
      <p:sp>
        <p:nvSpPr>
          <p:cNvPr id="87" name="Text 85"/>
          <p:cNvSpPr txBox="1"/>
          <p:nvPr/>
        </p:nvSpPr>
        <p:spPr>
          <a:xfrm>
            <a:off x="7680960" y="5065776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5252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个人差距进 IDP，共性差距进培训项目。</a:t>
            </a:r>
            <a:endParaRPr lang="zh-CN" sz="1230" dirty="0"/>
          </a:p>
        </p:txBody>
      </p:sp>
      <p:sp>
        <p:nvSpPr>
          <p:cNvPr id="88" name="Text 86"/>
          <p:cNvSpPr txBox="1"/>
          <p:nvPr/>
        </p:nvSpPr>
        <p:spPr>
          <a:xfrm>
            <a:off x="8595360" y="62179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20" kern="0" dirty="0">
                <a:solidFill>
                  <a:srgbClr val="7373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时代光华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海格汽车人才发展方案 · 从岗位建模一直做到人才发展</dc:title>
  <dc:subject>海格汽车人才发展体系设计方案</dc:subject>
  <dc:creator>时代光华</dc:creator>
  <cp:lastModifiedBy>时代光华</cp:lastModifiedBy>
  <cp:revision>1</cp:revision>
  <dcterms:created xsi:type="dcterms:W3CDTF">2026-08-27T07:23:29Z</dcterms:created>
  <dcterms:modified xsi:type="dcterms:W3CDTF">2026-08-27T07:23:29Z</dcterms:modified>
</cp:coreProperties>
</file>