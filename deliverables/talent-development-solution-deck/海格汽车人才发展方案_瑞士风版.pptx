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18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客户问的是时代光华怎么做人才发展。我们的回答先从组织和关键岗位开始，再进入岗位标准、人才盘点、人岗匹配和发展安排。
今天不按系统菜单逐个介绍，直接沿着一轮业务工作往下讲。
接下来：先看人才发展为什么要从组织分析开始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我们先从 OD 开始。系统先看组织结构、岗位分布和关键岗位，帮助业务判断这一轮人才发展先做哪里。
组织分析不需要讲得很学术。它解决的是两个实际问题：组织上哪里需要调整，哪些岗位最值得优先投入。
范围确定以后，再进入 TD，开始建岗位标准和盘点人才。
接下来：看完整的一轮人才发展怎么跑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一轮人才发展可以拆成六步。先从组织分析里找到关键岗位，再建岗位标准。
标准定下来后，用 360、考试、人才测评和绩效收集人才数据。接着做人才盘点和人岗匹配。
最后把个人差距变成个人发展安排，把多人共有的差距变成组织培养项目。
接下来：先看岗位标准是怎么建出来的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岗位标准是整套人才发展的尺子。我们把它分成任职和资格两部分。任职回答岗位做什么，包含职责和任务；资格回答凭什么胜任，包含经历、能力、动力和潜力。
系统读取岗位说明书、组织信息和已有指标，先生成一版初稿。业务负责人可以删改内容、调整要求等级，确认后保存。
这套标准会继续用于评鉴、盘点、人岗匹配和培养。
接下来：标准有了，下一步准备人才数据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岗位标准定下来以后，要把人才数据准备好。能力表现可以来自 360，知识和技能结果可以来自考试，动力和潜力可以来自人才测评。人员信息、岗位经历和绩效一起带进来。
系统按本次项目选人、选择已完成的评鉴结果，再进入盘点。这样不需要每次重新整理多张表。
接下来：数据准备好以后，用两种方式做人才盘点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平台提供两种盘点方法。宫格盘点常用九宫格，用能力和绩效看每个人落在哪里，适合做名单校准和用人讨论。
人才图谱把人员、绩效、能力、动力和潜力放在一起，适合看群体分布、变量关系和 A/B/C/D 分组。
两种方法解决的问题不同，可以按这次盘点的目的来选。
接下来：盘点结果出来后，再看人和目标岗位是否匹配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人岗匹配把岗位要求和人的现状放到一起。先选目标岗位，系统读取这套岗位标准，再带入个人最新的评鉴和盘点结果。
页面既看整体匹配，也看每一项差距。业务需要在几名候选人里做选择时，可以把 2 至 5 人放在一起比较。
最后要回答的是谁更合适、差在哪里、下一步补什么。
接下来：个人差距确认后，直接形成个人发展安排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个人差距确认后，系统形成个人发展安排。先选这段时间最需要解决的问题，再安排课程、项目、岗位实践或经理辅导。
每项动作都写清负责人、时间和检查方式。员工、经理和 HR 在同一个地方跟进。
新的评估结果出来以后，继续更新个人档案，下一次匹配和盘点可以直接用。
接下来：多人出现同一问题时，转成组织培养计划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如果很多人都有同一个能力问题，就不需要每个人单独做一套。系统先汇总共性差距，再按岗位确定培养目标。
发展中心把课程、项目和岗位实践关联到岗位学习计划，培训平台负责执行。前测、后测和新的评估结果再回到人才档案。
这样组织发展和个人发展是两条清楚的路径：共性问题做组织培养，个人问题进个人发展计划。
接下来：最后把所有模块串成一条数据链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整套方案能串起来，关键是前一步的结果会被下一步直接使用。组织分析确定范围，岗位标准确定判断尺子，评鉴结果进入人才盘点。
盘点和人岗匹配看清群体与个人差距，发展中心据此安排个人和组织培养。培养后的结果继续更新人才档案。
这样下一轮不需要从头再收数据。
接下来：收住这套方案最终解决的三个问题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这套方案最后解决三件事。第一，先知道哪些岗位最值得投入。第二，用同一套标准看清哪些人才更合适、差在哪里。第三，把差距变成个人发展安排或组织培养。
客户如果要继续往下讨论，我们可以从首期组织范围、关键岗位和盘点人群开始。
接下来：进入首期范围和项目安排讨论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3175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79792" y="0"/>
            <a:ext cx="0" cy="6858000"/>
          </a:xfrm>
          <a:prstGeom prst="line">
            <a:avLst/>
          </a:prstGeom>
          <a:noFill/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18704" y="0"/>
            <a:ext cx="0" cy="6858000"/>
          </a:xfrm>
          <a:prstGeom prst="line">
            <a:avLst/>
          </a:prstGeom>
          <a:noFill/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0"/>
            <a:ext cx="0" cy="6858000"/>
          </a:xfrm>
          <a:prstGeom prst="line">
            <a:avLst/>
          </a:prstGeom>
          <a:noFill/>
          <a:ln w="31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31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31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74352" y="0"/>
            <a:ext cx="0" cy="6858000"/>
          </a:xfrm>
          <a:prstGeom prst="line">
            <a:avLst/>
          </a:prstGeom>
          <a:noFill/>
          <a:ln w="31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13264" y="0"/>
            <a:ext cx="0" cy="6858000"/>
          </a:xfrm>
          <a:prstGeom prst="line">
            <a:avLst/>
          </a:prstGeom>
          <a:noFill/>
          <a:ln w="31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52176" y="0"/>
            <a:ext cx="0" cy="6858000"/>
          </a:xfrm>
          <a:prstGeom prst="line">
            <a:avLst/>
          </a:prstGeom>
          <a:noFill/>
          <a:ln w="31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91088" y="0"/>
            <a:ext cx="0" cy="6858000"/>
          </a:xfrm>
          <a:prstGeom prst="line">
            <a:avLst/>
          </a:prstGeom>
          <a:noFill/>
          <a:ln w="31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31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1005840"/>
            <a:ext cx="45720" cy="45720"/>
          </a:xfrm>
          <a:prstGeom prst="rect">
            <a:avLst/>
          </a:prstGeom>
          <a:solidFill>
            <a:srgbClr val="FFFFFF">
              <a:alpha val="5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57032" y="1005840"/>
            <a:ext cx="45720" cy="45720"/>
          </a:xfrm>
          <a:prstGeom prst="rect">
            <a:avLst/>
          </a:prstGeom>
          <a:solidFill>
            <a:srgbClr val="FFFFFF">
              <a:alpha val="5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95944" y="1005840"/>
            <a:ext cx="45720" cy="45720"/>
          </a:xfrm>
          <a:prstGeom prst="rect">
            <a:avLst/>
          </a:prstGeom>
          <a:solidFill>
            <a:srgbClr val="FFFFFF">
              <a:alpha val="4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34856" y="1005840"/>
            <a:ext cx="45720" cy="45720"/>
          </a:xfrm>
          <a:prstGeom prst="rect">
            <a:avLst/>
          </a:prstGeom>
          <a:solidFill>
            <a:srgbClr val="FFFFFF">
              <a:alpha val="3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73768" y="1005840"/>
            <a:ext cx="45720" cy="45720"/>
          </a:xfrm>
          <a:prstGeom prst="rect">
            <a:avLst/>
          </a:prstGeom>
          <a:solidFill>
            <a:srgbClr val="FFFFFF">
              <a:alpha val="3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12680" y="1005840"/>
            <a:ext cx="45720" cy="45720"/>
          </a:xfrm>
          <a:prstGeom prst="rect">
            <a:avLst/>
          </a:prstGeom>
          <a:solidFill>
            <a:srgbClr val="FFFFFF">
              <a:alpha val="2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51592" y="1005840"/>
            <a:ext cx="45720" cy="45720"/>
          </a:xfrm>
          <a:prstGeom prst="rect">
            <a:avLst/>
          </a:prstGeom>
          <a:solidFill>
            <a:srgbClr val="FFFFFF">
              <a:alpha val="5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90504" y="1005840"/>
            <a:ext cx="45720" cy="45720"/>
          </a:xfrm>
          <a:prstGeom prst="rect">
            <a:avLst/>
          </a:prstGeom>
          <a:solidFill>
            <a:srgbClr val="FFFFFF">
              <a:alpha val="4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1444752"/>
            <a:ext cx="45720" cy="45720"/>
          </a:xfrm>
          <a:prstGeom prst="rect">
            <a:avLst/>
          </a:prstGeom>
          <a:solidFill>
            <a:srgbClr val="FFFFFF">
              <a:alpha val="4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57032" y="1444752"/>
            <a:ext cx="4572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95944" y="1444752"/>
            <a:ext cx="45720" cy="45720"/>
          </a:xfrm>
          <a:prstGeom prst="rect">
            <a:avLst/>
          </a:prstGeom>
          <a:solidFill>
            <a:srgbClr val="FFFFFF">
              <a:alpha val="3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34856" y="1444752"/>
            <a:ext cx="45720" cy="45720"/>
          </a:xfrm>
          <a:prstGeom prst="rect">
            <a:avLst/>
          </a:prstGeom>
          <a:solidFill>
            <a:srgbClr val="FFFFFF">
              <a:alpha val="2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3768" y="1444752"/>
            <a:ext cx="45720" cy="45720"/>
          </a:xfrm>
          <a:prstGeom prst="rect">
            <a:avLst/>
          </a:prstGeom>
          <a:solidFill>
            <a:srgbClr val="FFFFFF">
              <a:alpha val="1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12680" y="1444752"/>
            <a:ext cx="45720" cy="45720"/>
          </a:xfrm>
          <a:prstGeom prst="rect">
            <a:avLst/>
          </a:prstGeom>
          <a:solidFill>
            <a:srgbClr val="FFFFFF">
              <a:alpha val="5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51592" y="1444752"/>
            <a:ext cx="45720" cy="45720"/>
          </a:xfrm>
          <a:prstGeom prst="rect">
            <a:avLst/>
          </a:prstGeom>
          <a:solidFill>
            <a:srgbClr val="FFFFFF">
              <a:alpha val="4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90504" y="1444752"/>
            <a:ext cx="45720" cy="45720"/>
          </a:xfrm>
          <a:prstGeom prst="rect">
            <a:avLst/>
          </a:prstGeom>
          <a:solidFill>
            <a:srgbClr val="FFFFFF">
              <a:alpha val="3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1883664"/>
            <a:ext cx="45720" cy="45720"/>
          </a:xfrm>
          <a:prstGeom prst="rect">
            <a:avLst/>
          </a:prstGeom>
          <a:solidFill>
            <a:srgbClr val="FFFFFF">
              <a:alpha val="3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57032" y="1883664"/>
            <a:ext cx="45720" cy="45720"/>
          </a:xfrm>
          <a:prstGeom prst="rect">
            <a:avLst/>
          </a:prstGeom>
          <a:solidFill>
            <a:srgbClr val="FFFFFF">
              <a:alpha val="2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95944" y="1883664"/>
            <a:ext cx="45720" cy="45720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34856" y="1883664"/>
            <a:ext cx="45720" cy="45720"/>
          </a:xfrm>
          <a:prstGeom prst="rect">
            <a:avLst/>
          </a:prstGeom>
          <a:solidFill>
            <a:srgbClr val="FFFFFF">
              <a:alpha val="5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73768" y="1883664"/>
            <a:ext cx="45720" cy="45720"/>
          </a:xfrm>
          <a:prstGeom prst="rect">
            <a:avLst/>
          </a:prstGeom>
          <a:solidFill>
            <a:srgbClr val="FFFFFF">
              <a:alpha val="4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12680" y="1883664"/>
            <a:ext cx="45720" cy="45720"/>
          </a:xfrm>
          <a:prstGeom prst="rect">
            <a:avLst/>
          </a:prstGeom>
          <a:solidFill>
            <a:srgbClr val="FFFFFF">
              <a:alpha val="4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51592" y="1883664"/>
            <a:ext cx="45720" cy="45720"/>
          </a:xfrm>
          <a:prstGeom prst="rect">
            <a:avLst/>
          </a:prstGeom>
          <a:solidFill>
            <a:srgbClr val="FFFFFF">
              <a:alpha val="3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90504" y="1883664"/>
            <a:ext cx="45720" cy="45720"/>
          </a:xfrm>
          <a:prstGeom prst="rect">
            <a:avLst/>
          </a:prstGeom>
          <a:solidFill>
            <a:srgbClr val="FFFFFF">
              <a:alpha val="2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18120" y="2322576"/>
            <a:ext cx="45720" cy="45720"/>
          </a:xfrm>
          <a:prstGeom prst="rect">
            <a:avLst/>
          </a:prstGeom>
          <a:solidFill>
            <a:srgbClr val="FFFFFF">
              <a:alpha val="2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57032" y="2322576"/>
            <a:ext cx="45720" cy="45720"/>
          </a:xfrm>
          <a:prstGeom prst="rect">
            <a:avLst/>
          </a:prstGeom>
          <a:solidFill>
            <a:srgbClr val="FFFFFF">
              <a:alpha val="5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95944" y="2322576"/>
            <a:ext cx="45720" cy="45720"/>
          </a:xfrm>
          <a:prstGeom prst="rect">
            <a:avLst/>
          </a:prstGeom>
          <a:solidFill>
            <a:srgbClr val="FFFFFF">
              <a:alpha val="5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34856" y="2322576"/>
            <a:ext cx="45720" cy="45720"/>
          </a:xfrm>
          <a:prstGeom prst="rect">
            <a:avLst/>
          </a:prstGeom>
          <a:solidFill>
            <a:srgbClr val="FFFFFF">
              <a:alpha val="4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73768" y="2322576"/>
            <a:ext cx="45720" cy="45720"/>
          </a:xfrm>
          <a:prstGeom prst="rect">
            <a:avLst/>
          </a:prstGeom>
          <a:solidFill>
            <a:srgbClr val="FFFFFF">
              <a:alpha val="3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12680" y="2322576"/>
            <a:ext cx="45720" cy="45720"/>
          </a:xfrm>
          <a:prstGeom prst="rect">
            <a:avLst/>
          </a:prstGeom>
          <a:solidFill>
            <a:srgbClr val="FFFFFF">
              <a:alpha val="3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51592" y="2322576"/>
            <a:ext cx="45720" cy="45720"/>
          </a:xfrm>
          <a:prstGeom prst="rect">
            <a:avLst/>
          </a:prstGeom>
          <a:solidFill>
            <a:srgbClr val="FFFFFF">
              <a:alpha val="2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90504" y="2322576"/>
            <a:ext cx="45720" cy="45720"/>
          </a:xfrm>
          <a:prstGeom prst="rect">
            <a:avLst/>
          </a:prstGeom>
          <a:solidFill>
            <a:srgbClr val="FFFFFF">
              <a:alpha val="5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18120" y="2761488"/>
            <a:ext cx="45720" cy="45720"/>
          </a:xfrm>
          <a:prstGeom prst="rect">
            <a:avLst/>
          </a:prstGeom>
          <a:solidFill>
            <a:srgbClr val="FFFFFF">
              <a:alpha val="5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57032" y="2761488"/>
            <a:ext cx="45720" cy="45720"/>
          </a:xfrm>
          <a:prstGeom prst="rect">
            <a:avLst/>
          </a:prstGeom>
          <a:solidFill>
            <a:srgbClr val="FFFFFF">
              <a:alpha val="4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95944" y="2761488"/>
            <a:ext cx="4572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34856" y="2761488"/>
            <a:ext cx="45720" cy="45720"/>
          </a:xfrm>
          <a:prstGeom prst="rect">
            <a:avLst/>
          </a:prstGeom>
          <a:solidFill>
            <a:srgbClr val="FFFFFF">
              <a:alpha val="3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73768" y="2761488"/>
            <a:ext cx="45720" cy="45720"/>
          </a:xfrm>
          <a:prstGeom prst="rect">
            <a:avLst/>
          </a:prstGeom>
          <a:solidFill>
            <a:srgbClr val="FFFFFF">
              <a:alpha val="2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12680" y="2761488"/>
            <a:ext cx="45720" cy="45720"/>
          </a:xfrm>
          <a:prstGeom prst="rect">
            <a:avLst/>
          </a:prstGeom>
          <a:solidFill>
            <a:srgbClr val="FFFFFF">
              <a:alpha val="1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51592" y="2761488"/>
            <a:ext cx="45720" cy="45720"/>
          </a:xfrm>
          <a:prstGeom prst="rect">
            <a:avLst/>
          </a:prstGeom>
          <a:solidFill>
            <a:srgbClr val="FFFFFF">
              <a:alpha val="5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890504" y="2761488"/>
            <a:ext cx="45720" cy="45720"/>
          </a:xfrm>
          <a:prstGeom prst="rect">
            <a:avLst/>
          </a:prstGeom>
          <a:solidFill>
            <a:srgbClr val="FFFFFF">
              <a:alpha val="4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18120" y="3200400"/>
            <a:ext cx="45720" cy="45720"/>
          </a:xfrm>
          <a:prstGeom prst="rect">
            <a:avLst/>
          </a:prstGeom>
          <a:solidFill>
            <a:srgbClr val="FFFFFF">
              <a:alpha val="4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57032" y="3200400"/>
            <a:ext cx="45720" cy="45720"/>
          </a:xfrm>
          <a:prstGeom prst="rect">
            <a:avLst/>
          </a:prstGeom>
          <a:solidFill>
            <a:srgbClr val="FFFFFF">
              <a:alpha val="3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95944" y="3200400"/>
            <a:ext cx="45720" cy="45720"/>
          </a:xfrm>
          <a:prstGeom prst="rect">
            <a:avLst/>
          </a:prstGeom>
          <a:solidFill>
            <a:srgbClr val="FFFFFF">
              <a:alpha val="2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34856" y="3200400"/>
            <a:ext cx="45720" cy="45720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73768" y="3200400"/>
            <a:ext cx="45720" cy="45720"/>
          </a:xfrm>
          <a:prstGeom prst="rect">
            <a:avLst/>
          </a:prstGeom>
          <a:solidFill>
            <a:srgbClr val="FFFFFF">
              <a:alpha val="5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12680" y="3200400"/>
            <a:ext cx="45720" cy="45720"/>
          </a:xfrm>
          <a:prstGeom prst="rect">
            <a:avLst/>
          </a:prstGeom>
          <a:solidFill>
            <a:srgbClr val="FFFFFF">
              <a:alpha val="4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51592" y="3200400"/>
            <a:ext cx="45720" cy="45720"/>
          </a:xfrm>
          <a:prstGeom prst="rect">
            <a:avLst/>
          </a:prstGeom>
          <a:solidFill>
            <a:srgbClr val="FFFFFF">
              <a:alpha val="4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890504" y="3200400"/>
            <a:ext cx="45720" cy="45720"/>
          </a:xfrm>
          <a:prstGeom prst="rect">
            <a:avLst/>
          </a:prstGeom>
          <a:solidFill>
            <a:srgbClr val="FFFFFF">
              <a:alpha val="3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18120" y="3639312"/>
            <a:ext cx="45720" cy="45720"/>
          </a:xfrm>
          <a:prstGeom prst="rect">
            <a:avLst/>
          </a:prstGeom>
          <a:solidFill>
            <a:srgbClr val="FFFFFF">
              <a:alpha val="3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57032" y="3639312"/>
            <a:ext cx="45720" cy="45720"/>
          </a:xfrm>
          <a:prstGeom prst="rect">
            <a:avLst/>
          </a:prstGeom>
          <a:solidFill>
            <a:srgbClr val="FFFFFF">
              <a:alpha val="2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95944" y="3639312"/>
            <a:ext cx="45720" cy="45720"/>
          </a:xfrm>
          <a:prstGeom prst="rect">
            <a:avLst/>
          </a:prstGeom>
          <a:solidFill>
            <a:srgbClr val="FFFFFF">
              <a:alpha val="5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34856" y="3639312"/>
            <a:ext cx="45720" cy="45720"/>
          </a:xfrm>
          <a:prstGeom prst="rect">
            <a:avLst/>
          </a:prstGeom>
          <a:solidFill>
            <a:srgbClr val="FFFFFF">
              <a:alpha val="5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73768" y="3639312"/>
            <a:ext cx="45720" cy="45720"/>
          </a:xfrm>
          <a:prstGeom prst="rect">
            <a:avLst/>
          </a:prstGeom>
          <a:solidFill>
            <a:srgbClr val="FFFFFF">
              <a:alpha val="4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12680" y="3639312"/>
            <a:ext cx="45720" cy="45720"/>
          </a:xfrm>
          <a:prstGeom prst="rect">
            <a:avLst/>
          </a:prstGeom>
          <a:solidFill>
            <a:srgbClr val="FFFFFF">
              <a:alpha val="3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51592" y="3639312"/>
            <a:ext cx="45720" cy="45720"/>
          </a:xfrm>
          <a:prstGeom prst="rect">
            <a:avLst/>
          </a:prstGeom>
          <a:solidFill>
            <a:srgbClr val="FFFFFF">
              <a:alpha val="3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890504" y="3639312"/>
            <a:ext cx="45720" cy="45720"/>
          </a:xfrm>
          <a:prstGeom prst="rect">
            <a:avLst/>
          </a:prstGeom>
          <a:solidFill>
            <a:srgbClr val="FFFFFF">
              <a:alpha val="2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18120" y="4078224"/>
            <a:ext cx="45720" cy="45720"/>
          </a:xfrm>
          <a:prstGeom prst="rect">
            <a:avLst/>
          </a:prstGeom>
          <a:solidFill>
            <a:srgbClr val="FFFFFF">
              <a:alpha val="2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57032" y="4078224"/>
            <a:ext cx="45720" cy="45720"/>
          </a:xfrm>
          <a:prstGeom prst="rect">
            <a:avLst/>
          </a:prstGeom>
          <a:solidFill>
            <a:srgbClr val="FFFFFF">
              <a:alpha val="5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95944" y="4078224"/>
            <a:ext cx="45720" cy="45720"/>
          </a:xfrm>
          <a:prstGeom prst="rect">
            <a:avLst/>
          </a:prstGeom>
          <a:solidFill>
            <a:srgbClr val="FFFFFF">
              <a:alpha val="4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34856" y="4078224"/>
            <a:ext cx="4572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573768" y="4078224"/>
            <a:ext cx="45720" cy="45720"/>
          </a:xfrm>
          <a:prstGeom prst="rect">
            <a:avLst/>
          </a:prstGeom>
          <a:solidFill>
            <a:srgbClr val="FFFFFF">
              <a:alpha val="3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012680" y="4078224"/>
            <a:ext cx="45720" cy="45720"/>
          </a:xfrm>
          <a:prstGeom prst="rect">
            <a:avLst/>
          </a:prstGeom>
          <a:solidFill>
            <a:srgbClr val="FFFFFF">
              <a:alpha val="2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451592" y="4078224"/>
            <a:ext cx="45720" cy="45720"/>
          </a:xfrm>
          <a:prstGeom prst="rect">
            <a:avLst/>
          </a:prstGeom>
          <a:solidFill>
            <a:srgbClr val="FFFFFF">
              <a:alpha val="1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890504" y="4078224"/>
            <a:ext cx="45720" cy="45720"/>
          </a:xfrm>
          <a:prstGeom prst="rect">
            <a:avLst/>
          </a:prstGeom>
          <a:solidFill>
            <a:srgbClr val="FFFFFF">
              <a:alpha val="5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94360" y="38404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海格汽车 · 人才发展方案</a:t>
            </a:r>
            <a:endParaRPr lang="zh-CN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9646920" y="3840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SS · 26.08.28 · 01 / 12</a:t>
            </a:r>
            <a:endParaRPr lang="zh-CN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594360" y="10515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时代光华人才发展体系</a:t>
            </a:r>
            <a:endParaRPr lang="zh-CN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594360" y="1572768"/>
            <a:ext cx="6446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从组织宏观视角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开展企业人才发展</a:t>
            </a:r>
            <a:endParaRPr lang="zh-CN" sz="4800" dirty="0"/>
          </a:p>
        </p:txBody>
      </p:sp>
      <p:sp>
        <p:nvSpPr>
          <p:cNvPr id="81" name="Shape 79"/>
          <p:cNvSpPr/>
          <p:nvPr/>
        </p:nvSpPr>
        <p:spPr>
          <a:xfrm>
            <a:off x="594360" y="5102352"/>
            <a:ext cx="11000232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94360" y="53400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从组织和关键岗位出发，把标准、盘点、匹配和培养接起来。</a:t>
            </a:r>
            <a:endParaRPr lang="zh-CN" sz="1750" dirty="0"/>
          </a:p>
        </p:txBody>
      </p:sp>
      <p:sp>
        <p:nvSpPr>
          <p:cNvPr id="83" name="Text 81"/>
          <p:cNvSpPr txBox="1"/>
          <p:nvPr/>
        </p:nvSpPr>
        <p:spPr>
          <a:xfrm>
            <a:off x="594360" y="61447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组织分析 · 岗位标准 · 人才盘点 · 人岗匹配 · 发展计划</a:t>
            </a:r>
            <a:endParaRPr lang="zh-CN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8366760" y="614476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时代光华 · TALENT DEVELOPMENT</a:t>
            </a:r>
            <a:endParaRPr lang="zh-CN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· 组织视角 / OD 是人才发展的起点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先看组织，再决定人才工作从哪里开始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212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1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人才发展，先从</a:t>
            </a:r>
            <a:endParaRPr lang="zh-CN" sz="3100" dirty="0"/>
          </a:p>
          <a:p>
            <a:pPr algn="l" indent="0" marL="0">
              <a:buNone/>
            </a:pPr>
            <a:r>
              <a:rPr lang="zh-CN" altLang="en-US" sz="31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组织问题开始</a:t>
            </a:r>
            <a:endParaRPr lang="zh-CN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8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组织结构是否合理、哪些岗位最关键，先把这两件事看清楚。</a:t>
            </a:r>
            <a:endParaRPr lang="zh-CN" sz="138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974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6151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看组织结构</a:t>
            </a:r>
            <a:endParaRPr lang="zh-CN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151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8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部门、层级和岗位分布有没有明显问题。</a:t>
            </a:r>
            <a:endParaRPr lang="zh-CN" sz="1180" dirty="0"/>
          </a:p>
        </p:txBody>
      </p:sp>
      <p:sp>
        <p:nvSpPr>
          <p:cNvPr id="10" name="Shape 8"/>
          <p:cNvSpPr/>
          <p:nvPr/>
        </p:nvSpPr>
        <p:spPr>
          <a:xfrm>
            <a:off x="594360" y="3145536"/>
            <a:ext cx="502920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10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32841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诊断关键岗位</a:t>
            </a:r>
            <a:endParaRPr lang="zh-CN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32841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8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哪些岗位直接影响当前业务，要先做。</a:t>
            </a:r>
            <a:endParaRPr lang="zh-CN" sz="1180" dirty="0"/>
          </a:p>
        </p:txBody>
      </p:sp>
      <p:sp>
        <p:nvSpPr>
          <p:cNvPr id="14" name="Shape 12"/>
          <p:cNvSpPr/>
          <p:nvPr/>
        </p:nvSpPr>
        <p:spPr>
          <a:xfrm>
            <a:off x="594360" y="3858768"/>
            <a:ext cx="502920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1239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0416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确定优先范围</a:t>
            </a:r>
            <a:endParaRPr lang="zh-CN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0416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8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把有限精力放在最需要的人和岗位上。</a:t>
            </a:r>
            <a:endParaRPr lang="zh-CN" sz="1180" dirty="0"/>
          </a:p>
        </p:txBody>
      </p:sp>
      <p:sp>
        <p:nvSpPr>
          <p:cNvPr id="18" name="Shape 16"/>
          <p:cNvSpPr/>
          <p:nvPr/>
        </p:nvSpPr>
        <p:spPr>
          <a:xfrm>
            <a:off x="594360" y="4572000"/>
            <a:ext cx="502920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48371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zh-CN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754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进入人才发展</a:t>
            </a:r>
            <a:endParaRPr lang="zh-CN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8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再开始建标准、盘点和培养。</a:t>
            </a:r>
            <a:endParaRPr lang="zh-CN" sz="1180" dirty="0"/>
          </a:p>
        </p:txBody>
      </p:sp>
      <p:sp>
        <p:nvSpPr>
          <p:cNvPr id="22" name="Shape 20"/>
          <p:cNvSpPr/>
          <p:nvPr/>
        </p:nvSpPr>
        <p:spPr>
          <a:xfrm>
            <a:off x="594360" y="5285232"/>
            <a:ext cx="5029200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1115568"/>
            <a:ext cx="5605272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B9B9B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190488" y="1316736"/>
            <a:ext cx="5202936" cy="3986784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0488" y="5303520"/>
            <a:ext cx="5202936" cy="-3986784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0216" y="1426464"/>
            <a:ext cx="2148840" cy="310896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9944" y="15087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业务截图占位</a:t>
            </a:r>
            <a:endParaRPr lang="zh-CN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2926080"/>
            <a:ext cx="4599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组织结构分析 / 关键岗位诊断页</a:t>
            </a:r>
            <a:endParaRPr lang="zh-CN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493008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替换为对应业务页面截图</a:t>
            </a:r>
            <a:endParaRPr lang="zh-CN" sz="1080" dirty="0"/>
          </a:p>
        </p:txBody>
      </p:sp>
      <p:sp>
        <p:nvSpPr>
          <p:cNvPr id="30" name="Shape 28"/>
          <p:cNvSpPr/>
          <p:nvPr/>
        </p:nvSpPr>
        <p:spPr>
          <a:xfrm>
            <a:off x="594360" y="5806440"/>
            <a:ext cx="2596896" cy="502920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" y="59161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BD · 业务发展</a:t>
            </a:r>
            <a:endParaRPr lang="zh-CN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892808" y="587959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业务方向</a:t>
            </a:r>
            <a:endParaRPr lang="zh-CN" sz="980" dirty="0"/>
          </a:p>
        </p:txBody>
      </p:sp>
      <p:sp>
        <p:nvSpPr>
          <p:cNvPr id="33" name="Shape 31"/>
          <p:cNvSpPr/>
          <p:nvPr/>
        </p:nvSpPr>
        <p:spPr>
          <a:xfrm>
            <a:off x="3346704" y="5806440"/>
            <a:ext cx="2596896" cy="502920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0" y="59161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OD · 组织发展</a:t>
            </a:r>
            <a:endParaRPr lang="zh-CN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645152" y="587959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zh-CN" altLang="en-US" sz="98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组织与关键岗位</a:t>
            </a:r>
            <a:endParaRPr lang="zh-CN" sz="980" dirty="0"/>
          </a:p>
        </p:txBody>
      </p:sp>
      <p:sp>
        <p:nvSpPr>
          <p:cNvPr id="36" name="Shape 34"/>
          <p:cNvSpPr/>
          <p:nvPr/>
        </p:nvSpPr>
        <p:spPr>
          <a:xfrm>
            <a:off x="6099048" y="5806440"/>
            <a:ext cx="2596896" cy="502920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27064" y="59161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TD · 人才发展</a:t>
            </a:r>
            <a:endParaRPr lang="zh-CN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7397496" y="587959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标准、盘点与发展</a:t>
            </a:r>
            <a:endParaRPr lang="zh-CN" sz="980" dirty="0"/>
          </a:p>
        </p:txBody>
      </p:sp>
      <p:sp>
        <p:nvSpPr>
          <p:cNvPr id="39" name="Shape 37"/>
          <p:cNvSpPr/>
          <p:nvPr/>
        </p:nvSpPr>
        <p:spPr>
          <a:xfrm>
            <a:off x="8851392" y="5806440"/>
            <a:ext cx="2596896" cy="502920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979408" y="59161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LD · 学习发展</a:t>
            </a:r>
            <a:endParaRPr lang="zh-CN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0149840" y="587959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学习与培养动作</a:t>
            </a:r>
            <a:endParaRPr lang="zh-CN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· 一轮人才发展 / 业务路线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从关键岗位一直做到发展安排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88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六步走完一轮人才发展</a:t>
            </a:r>
            <a:endParaRPr lang="zh-CN" sz="3900" dirty="0"/>
          </a:p>
        </p:txBody>
      </p:sp>
      <p:sp>
        <p:nvSpPr>
          <p:cNvPr id="6" name="Shape 4"/>
          <p:cNvSpPr/>
          <p:nvPr/>
        </p:nvSpPr>
        <p:spPr>
          <a:xfrm>
            <a:off x="941832" y="3703320"/>
            <a:ext cx="10104120" cy="0"/>
          </a:xfrm>
          <a:prstGeom prst="line">
            <a:avLst/>
          </a:prstGeom>
          <a:noFill/>
          <a:ln w="17145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7824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" y="28529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73736" y="312724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2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定关键岗位</a:t>
            </a:r>
            <a:endParaRPr lang="zh-CN" sz="1420" dirty="0"/>
          </a:p>
        </p:txBody>
      </p:sp>
      <p:sp>
        <p:nvSpPr>
          <p:cNvPr id="10" name="Text 8"/>
          <p:cNvSpPr txBox="1"/>
          <p:nvPr/>
        </p:nvSpPr>
        <p:spPr>
          <a:xfrm>
            <a:off x="283464" y="343814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组织分析</a:t>
            </a:r>
            <a:endParaRPr lang="zh-CN" sz="850" dirty="0"/>
          </a:p>
        </p:txBody>
      </p:sp>
      <p:sp>
        <p:nvSpPr>
          <p:cNvPr id="11" name="Shape 9"/>
          <p:cNvSpPr/>
          <p:nvPr/>
        </p:nvSpPr>
        <p:spPr>
          <a:xfrm>
            <a:off x="2825496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40864" y="3959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121408" y="422452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2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建岗位标准</a:t>
            </a:r>
            <a:endParaRPr lang="zh-CN" sz="1420" dirty="0"/>
          </a:p>
        </p:txBody>
      </p:sp>
      <p:sp>
        <p:nvSpPr>
          <p:cNvPr id="14" name="Text 12"/>
          <p:cNvSpPr txBox="1"/>
          <p:nvPr/>
        </p:nvSpPr>
        <p:spPr>
          <a:xfrm>
            <a:off x="2231136" y="45628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岗位中心</a:t>
            </a:r>
            <a:endParaRPr lang="zh-CN" sz="850" dirty="0"/>
          </a:p>
        </p:txBody>
      </p:sp>
      <p:sp>
        <p:nvSpPr>
          <p:cNvPr id="15" name="Shape 13"/>
          <p:cNvSpPr/>
          <p:nvPr/>
        </p:nvSpPr>
        <p:spPr>
          <a:xfrm>
            <a:off x="4773168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88536" y="28529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12724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2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收人才数据</a:t>
            </a:r>
            <a:endParaRPr lang="zh-CN" sz="1420" dirty="0"/>
          </a:p>
        </p:txBody>
      </p:sp>
      <p:sp>
        <p:nvSpPr>
          <p:cNvPr id="18" name="Text 16"/>
          <p:cNvSpPr txBox="1"/>
          <p:nvPr/>
        </p:nvSpPr>
        <p:spPr>
          <a:xfrm>
            <a:off x="4178808" y="343814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评鉴中心</a:t>
            </a:r>
            <a:endParaRPr lang="zh-CN" sz="850" dirty="0"/>
          </a:p>
        </p:txBody>
      </p:sp>
      <p:sp>
        <p:nvSpPr>
          <p:cNvPr id="19" name="Shape 17"/>
          <p:cNvSpPr/>
          <p:nvPr/>
        </p:nvSpPr>
        <p:spPr>
          <a:xfrm>
            <a:off x="6720840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6208" y="3959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zh-CN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016752" y="422452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2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做人才盘点</a:t>
            </a:r>
            <a:endParaRPr lang="zh-CN" sz="142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45628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人才中心</a:t>
            </a:r>
            <a:endParaRPr lang="zh-CN" sz="850" dirty="0"/>
          </a:p>
        </p:txBody>
      </p:sp>
      <p:sp>
        <p:nvSpPr>
          <p:cNvPr id="23" name="Shape 21"/>
          <p:cNvSpPr/>
          <p:nvPr/>
        </p:nvSpPr>
        <p:spPr>
          <a:xfrm>
            <a:off x="8668512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28529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zh-CN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964424" y="312724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2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看人岗差距</a:t>
            </a:r>
            <a:endParaRPr lang="zh-CN" sz="1420" dirty="0"/>
          </a:p>
        </p:txBody>
      </p:sp>
      <p:sp>
        <p:nvSpPr>
          <p:cNvPr id="26" name="Text 24"/>
          <p:cNvSpPr txBox="1"/>
          <p:nvPr/>
        </p:nvSpPr>
        <p:spPr>
          <a:xfrm>
            <a:off x="8074152" y="343814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人才中心</a:t>
            </a:r>
            <a:endParaRPr lang="zh-CN" sz="850" dirty="0"/>
          </a:p>
        </p:txBody>
      </p:sp>
      <p:sp>
        <p:nvSpPr>
          <p:cNvPr id="27" name="Shape 25"/>
          <p:cNvSpPr/>
          <p:nvPr/>
        </p:nvSpPr>
        <p:spPr>
          <a:xfrm>
            <a:off x="10616184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31552" y="3959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</a:t>
            </a:r>
            <a:endParaRPr lang="zh-CN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9912096" y="422452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2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安排培养发展</a:t>
            </a:r>
            <a:endParaRPr lang="zh-CN" sz="1420" dirty="0"/>
          </a:p>
        </p:txBody>
      </p:sp>
      <p:sp>
        <p:nvSpPr>
          <p:cNvPr id="30" name="Text 28"/>
          <p:cNvSpPr txBox="1"/>
          <p:nvPr/>
        </p:nvSpPr>
        <p:spPr>
          <a:xfrm>
            <a:off x="10021824" y="456285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发展中心</a:t>
            </a:r>
            <a:endParaRPr lang="zh-CN" sz="850" dirty="0"/>
          </a:p>
        </p:txBody>
      </p:sp>
      <p:sp>
        <p:nvSpPr>
          <p:cNvPr id="31" name="Shape 29"/>
          <p:cNvSpPr/>
          <p:nvPr/>
        </p:nvSpPr>
        <p:spPr>
          <a:xfrm>
            <a:off x="594360" y="5394960"/>
            <a:ext cx="11000232" cy="502920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" y="55321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岗位标准给评鉴定尺子，盘点结果给匹配和培养定方向。</a:t>
            </a:r>
            <a:endParaRPr lang="zh-CN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555040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前一步的结果，下一步直接用</a:t>
            </a:r>
            <a:endParaRPr lang="zh-CN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· 岗位中心 / 建立统一的人才标准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岗位标准讲清楚，后面才有同一把尺子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7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先把岗位标准讲清楚</a:t>
            </a:r>
            <a:endParaRPr lang="zh-CN" sz="3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9222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岗位标准分成任职和资格两部分，系统先给初稿，业务再确认。</a:t>
            </a:r>
            <a:endParaRPr lang="zh-CN" sz="1430" dirty="0"/>
          </a:p>
        </p:txBody>
      </p:sp>
      <p:sp>
        <p:nvSpPr>
          <p:cNvPr id="7" name="Shape 5"/>
          <p:cNvSpPr/>
          <p:nvPr/>
        </p:nvSpPr>
        <p:spPr>
          <a:xfrm>
            <a:off x="594360" y="2423160"/>
            <a:ext cx="2423160" cy="2011680"/>
          </a:xfrm>
          <a:prstGeom prst="rect">
            <a:avLst/>
          </a:prstGeom>
          <a:solidFill>
            <a:srgbClr val="171717"/>
          </a:solidFill>
          <a:ln w="635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791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CFCFC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任职 · 做什么</a:t>
            </a:r>
            <a:endParaRPr lang="zh-CN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906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职责</a:t>
            </a:r>
            <a:endParaRPr lang="zh-CN" sz="2900" dirty="0"/>
          </a:p>
          <a:p>
            <a:pPr algn="l" indent="0" marL="0">
              <a:buNone/>
            </a:pPr>
            <a:r>
              <a:rPr lang="zh-CN" altLang="en-US" sz="29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任务</a:t>
            </a:r>
            <a:endParaRPr lang="zh-CN" sz="2900" dirty="0"/>
          </a:p>
        </p:txBody>
      </p:sp>
      <p:sp>
        <p:nvSpPr>
          <p:cNvPr id="10" name="Shape 8"/>
          <p:cNvSpPr/>
          <p:nvPr/>
        </p:nvSpPr>
        <p:spPr>
          <a:xfrm>
            <a:off x="3246120" y="2423160"/>
            <a:ext cx="2423160" cy="2011680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26791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资格 · 凭什么胜任</a:t>
            </a:r>
            <a:endParaRPr lang="zh-CN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054096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经历 · 能力</a:t>
            </a:r>
            <a:endParaRPr lang="zh-CN" sz="2500" dirty="0"/>
          </a:p>
          <a:p>
            <a:pPr algn="l" indent="0" marL="0">
              <a:buNone/>
            </a:pPr>
            <a:r>
              <a:rPr lang="zh-CN" altLang="en-US" sz="2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动力 · 潜力</a:t>
            </a:r>
            <a:endParaRPr lang="zh-CN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828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736592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读取岗位材料</a:t>
            </a:r>
            <a:endParaRPr lang="zh-CN" sz="123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074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说明书、组织资料</a:t>
            </a:r>
            <a:endParaRPr lang="zh-CN" sz="980" dirty="0"/>
          </a:p>
        </p:txBody>
      </p:sp>
      <p:sp>
        <p:nvSpPr>
          <p:cNvPr id="16" name="Shape 14"/>
          <p:cNvSpPr/>
          <p:nvPr/>
        </p:nvSpPr>
        <p:spPr>
          <a:xfrm>
            <a:off x="2130552" y="4901184"/>
            <a:ext cx="182880" cy="0"/>
          </a:xfrm>
          <a:prstGeom prst="line">
            <a:avLst/>
          </a:prstGeom>
          <a:noFill/>
          <a:ln w="1270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295144" y="4828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706624" y="4736592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生成标准初稿</a:t>
            </a:r>
            <a:endParaRPr lang="zh-CN" sz="1230" dirty="0"/>
          </a:p>
        </p:txBody>
      </p:sp>
      <p:sp>
        <p:nvSpPr>
          <p:cNvPr id="19" name="Text 17"/>
          <p:cNvSpPr txBox="1"/>
          <p:nvPr/>
        </p:nvSpPr>
        <p:spPr>
          <a:xfrm>
            <a:off x="2706624" y="5074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内容和等级都可调整</a:t>
            </a:r>
            <a:endParaRPr lang="zh-CN" sz="980" dirty="0"/>
          </a:p>
        </p:txBody>
      </p:sp>
      <p:sp>
        <p:nvSpPr>
          <p:cNvPr id="20" name="Shape 18"/>
          <p:cNvSpPr/>
          <p:nvPr/>
        </p:nvSpPr>
        <p:spPr>
          <a:xfrm>
            <a:off x="3831336" y="4901184"/>
            <a:ext cx="182880" cy="0"/>
          </a:xfrm>
          <a:prstGeom prst="line">
            <a:avLst/>
          </a:prstGeom>
          <a:noFill/>
          <a:ln w="1270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995928" y="48280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407408" y="4736592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业务确认保存</a:t>
            </a:r>
            <a:endParaRPr lang="zh-CN" sz="1230" dirty="0"/>
          </a:p>
        </p:txBody>
      </p:sp>
      <p:sp>
        <p:nvSpPr>
          <p:cNvPr id="23" name="Text 21"/>
          <p:cNvSpPr txBox="1"/>
          <p:nvPr/>
        </p:nvSpPr>
        <p:spPr>
          <a:xfrm>
            <a:off x="4407408" y="5074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成为评鉴和培养依据</a:t>
            </a:r>
            <a:endParaRPr lang="zh-CN" sz="980" dirty="0"/>
          </a:p>
        </p:txBody>
      </p:sp>
      <p:sp>
        <p:nvSpPr>
          <p:cNvPr id="24" name="Shape 22"/>
          <p:cNvSpPr/>
          <p:nvPr/>
        </p:nvSpPr>
        <p:spPr>
          <a:xfrm>
            <a:off x="5989320" y="1078992"/>
            <a:ext cx="5605272" cy="4828032"/>
          </a:xfrm>
          <a:prstGeom prst="rect">
            <a:avLst/>
          </a:prstGeom>
          <a:solidFill>
            <a:srgbClr val="FFFFFF"/>
          </a:solidFill>
          <a:ln w="15240">
            <a:solidFill>
              <a:srgbClr val="B9B9B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190488" y="1280160"/>
            <a:ext cx="5202936" cy="4425696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88" y="5705856"/>
            <a:ext cx="5202936" cy="-4425696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0216" y="1389888"/>
            <a:ext cx="2148840" cy="310896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9944" y="14721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业务截图占位</a:t>
            </a:r>
            <a:endParaRPr lang="zh-CN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108960"/>
            <a:ext cx="4599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岗位中心 · 岗位标准配置页</a:t>
            </a:r>
            <a:endParaRPr lang="zh-CN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3675888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替换为对应业务页面截图</a:t>
            </a:r>
            <a:endParaRPr lang="zh-CN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· 评鉴中心 / 准备人才数据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盘点结果是否可信，先看数据是否准备好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515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盘点前，先把人才</a:t>
            </a:r>
            <a:endParaRPr lang="zh-CN" sz="3000" dirty="0"/>
          </a:p>
          <a:p>
            <a:pPr algn="l" indent="0" marL="0">
              <a:buNone/>
            </a:pPr>
            <a:r>
              <a:rPr lang="zh-CN" altLang="en-US" sz="3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数据准备好</a:t>
            </a:r>
            <a:endParaRPr lang="zh-CN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2011680" cy="530352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4688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360 评估</a:t>
            </a:r>
            <a:endParaRPr lang="zh-CN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16352" y="2450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看日常工作中的能力表现</a:t>
            </a:r>
            <a:endParaRPr lang="zh-CN" sz="1220" dirty="0"/>
          </a:p>
        </p:txBody>
      </p:sp>
      <p:sp>
        <p:nvSpPr>
          <p:cNvPr id="9" name="Shape 7"/>
          <p:cNvSpPr/>
          <p:nvPr/>
        </p:nvSpPr>
        <p:spPr>
          <a:xfrm>
            <a:off x="594360" y="3044952"/>
            <a:ext cx="2011680" cy="530352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31821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考试</a:t>
            </a:r>
            <a:endParaRPr lang="zh-CN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3163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看相关知识和技能结果</a:t>
            </a:r>
            <a:endParaRPr lang="zh-CN" sz="1220" dirty="0"/>
          </a:p>
        </p:txBody>
      </p:sp>
      <p:sp>
        <p:nvSpPr>
          <p:cNvPr id="12" name="Shape 10"/>
          <p:cNvSpPr/>
          <p:nvPr/>
        </p:nvSpPr>
        <p:spPr>
          <a:xfrm>
            <a:off x="594360" y="3758184"/>
            <a:ext cx="2011680" cy="530352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8953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人才测评</a:t>
            </a:r>
            <a:endParaRPr lang="zh-CN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816352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看动力、潜力等特征</a:t>
            </a:r>
            <a:endParaRPr lang="zh-CN" sz="1220" dirty="0"/>
          </a:p>
        </p:txBody>
      </p:sp>
      <p:sp>
        <p:nvSpPr>
          <p:cNvPr id="15" name="Shape 13"/>
          <p:cNvSpPr/>
          <p:nvPr/>
        </p:nvSpPr>
        <p:spPr>
          <a:xfrm>
            <a:off x="594360" y="4471416"/>
            <a:ext cx="2011680" cy="530352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6085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人员与绩效</a:t>
            </a:r>
            <a:endParaRPr lang="zh-CN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816352" y="4590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补齐岗位、经历和绩效信息</a:t>
            </a:r>
            <a:endParaRPr lang="zh-CN" sz="1220" dirty="0"/>
          </a:p>
        </p:txBody>
      </p:sp>
      <p:sp>
        <p:nvSpPr>
          <p:cNvPr id="18" name="Shape 16"/>
          <p:cNvSpPr/>
          <p:nvPr/>
        </p:nvSpPr>
        <p:spPr>
          <a:xfrm>
            <a:off x="594360" y="5413248"/>
            <a:ext cx="5074920" cy="502920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550408"/>
            <a:ext cx="4681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系统按项目选人、选工具、带入结果，减少重复导表和手工拼数据。</a:t>
            </a:r>
            <a:endParaRPr lang="zh-CN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1078992"/>
            <a:ext cx="5605272" cy="4828032"/>
          </a:xfrm>
          <a:prstGeom prst="rect">
            <a:avLst/>
          </a:prstGeom>
          <a:solidFill>
            <a:srgbClr val="FFFFFF"/>
          </a:solidFill>
          <a:ln w="15240">
            <a:solidFill>
              <a:srgbClr val="B9B9B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190488" y="1280160"/>
            <a:ext cx="5202936" cy="4425696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5705856"/>
            <a:ext cx="5202936" cy="-4425696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0216" y="1389888"/>
            <a:ext cx="2148840" cy="310896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9944" y="14721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业务截图占位</a:t>
            </a:r>
            <a:endParaRPr lang="zh-CN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108960"/>
            <a:ext cx="4599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评鉴中心 · 项目与评鉴工具页</a:t>
            </a:r>
            <a:endParaRPr lang="zh-CN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675888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替换为对应业务页面截图</a:t>
            </a:r>
            <a:endParaRPr lang="zh-CN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· 人才中心 / 两种人才盘点方法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一个看人员落位，一个看群体规律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7043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6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宫格看落位，人才图谱看规律</a:t>
            </a:r>
            <a:endParaRPr lang="zh-CN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75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24712" y="18745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宫格盘点（常用九宫格）</a:t>
            </a:r>
            <a:endParaRPr lang="zh-CN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234086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80" dirty="0">
                <a:solidFill>
                  <a:srgbClr val="CFCFC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用能力和绩效把人员放进宫格，方便业务与 HR 校准名单、讨论用人。</a:t>
            </a:r>
            <a:endParaRPr lang="zh-CN" sz="1180" dirty="0"/>
          </a:p>
        </p:txBody>
      </p:sp>
      <p:sp>
        <p:nvSpPr>
          <p:cNvPr id="9" name="Shape 7"/>
          <p:cNvSpPr/>
          <p:nvPr/>
        </p:nvSpPr>
        <p:spPr>
          <a:xfrm>
            <a:off x="594360" y="2999232"/>
            <a:ext cx="5394960" cy="2834640"/>
          </a:xfrm>
          <a:prstGeom prst="rect">
            <a:avLst/>
          </a:prstGeom>
          <a:solidFill>
            <a:srgbClr val="202020"/>
          </a:solidFill>
          <a:ln w="15240">
            <a:solidFill>
              <a:srgbClr val="75757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95528" y="3200400"/>
            <a:ext cx="4992624" cy="2432304"/>
          </a:xfrm>
          <a:prstGeom prst="line">
            <a:avLst/>
          </a:prstGeom>
          <a:noFill/>
          <a:ln w="5715">
            <a:solidFill>
              <a:srgbClr val="7575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5632704"/>
            <a:ext cx="4992624" cy="-2432304"/>
          </a:xfrm>
          <a:prstGeom prst="line">
            <a:avLst/>
          </a:prstGeom>
          <a:noFill/>
          <a:ln w="5715">
            <a:solidFill>
              <a:srgbClr val="7575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3310128"/>
            <a:ext cx="2148840" cy="31089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4984" y="3392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业务截图占位</a:t>
            </a:r>
            <a:endParaRPr lang="zh-CN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03250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人才盘点 · 宫格结果页</a:t>
            </a:r>
            <a:endParaRPr lang="zh-CN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5994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dirty="0">
                <a:solidFill>
                  <a:srgbClr val="BDBDB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替换为盘点结果页截图</a:t>
            </a:r>
            <a:endParaRPr lang="zh-CN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1975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8745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人才图谱盘点</a:t>
            </a:r>
            <a:endParaRPr lang="zh-CN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34086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80" dirty="0">
                <a:solidFill>
                  <a:srgbClr val="CFCFC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把人员、绩效、能力、动力和潜力放在一起，看分布、关系和 A/B/C/D 分组。</a:t>
            </a:r>
            <a:endParaRPr lang="zh-CN" sz="1180" dirty="0"/>
          </a:p>
        </p:txBody>
      </p:sp>
      <p:sp>
        <p:nvSpPr>
          <p:cNvPr id="19" name="Shape 17"/>
          <p:cNvSpPr/>
          <p:nvPr/>
        </p:nvSpPr>
        <p:spPr>
          <a:xfrm>
            <a:off x="6190488" y="2999232"/>
            <a:ext cx="5394960" cy="2834640"/>
          </a:xfrm>
          <a:prstGeom prst="rect">
            <a:avLst/>
          </a:prstGeom>
          <a:solidFill>
            <a:srgbClr val="202020"/>
          </a:solidFill>
          <a:ln w="15240">
            <a:solidFill>
              <a:srgbClr val="75757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391656" y="3200400"/>
            <a:ext cx="4992624" cy="2432304"/>
          </a:xfrm>
          <a:prstGeom prst="line">
            <a:avLst/>
          </a:prstGeom>
          <a:noFill/>
          <a:ln w="5715">
            <a:solidFill>
              <a:srgbClr val="7575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1656" y="5632704"/>
            <a:ext cx="4992624" cy="-2432304"/>
          </a:xfrm>
          <a:prstGeom prst="line">
            <a:avLst/>
          </a:prstGeom>
          <a:noFill/>
          <a:ln w="5715">
            <a:solidFill>
              <a:srgbClr val="7575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01384" y="3310128"/>
            <a:ext cx="2148840" cy="31089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11112" y="3392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业务截图占位</a:t>
            </a:r>
            <a:endParaRPr lang="zh-CN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693408" y="403250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人才盘点 · 人才图谱页</a:t>
            </a:r>
            <a:endParaRPr lang="zh-CN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693408" y="45994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dirty="0">
                <a:solidFill>
                  <a:srgbClr val="BDBDB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替换为盘点结果页截图</a:t>
            </a:r>
            <a:endParaRPr lang="zh-CN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· 人才中心 × 岗位中心 / 人岗匹配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08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把岗位要求和人的现状放在一起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60704"/>
            <a:ext cx="5257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这个人，适不适合</a:t>
            </a:r>
            <a:endParaRPr lang="zh-CN" sz="3000" dirty="0"/>
          </a:p>
          <a:p>
            <a:pPr algn="l" indent="0" marL="0">
              <a:buNone/>
            </a:pPr>
            <a:r>
              <a:rPr lang="zh-CN" altLang="en-US" sz="30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目标岗位</a:t>
            </a:r>
            <a:endParaRPr lang="zh-CN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4800600" cy="804672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20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67712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选目标岗位</a:t>
            </a:r>
            <a:endParaRPr lang="zh-CN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267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读取岗位职责、资格项和要求等级。</a:t>
            </a:r>
            <a:endParaRPr lang="zh-CN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172968"/>
            <a:ext cx="4800600" cy="804672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101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20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291840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带入个人结果</a:t>
            </a:r>
            <a:endParaRPr lang="zh-CN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读取最新评鉴、盘点和人才档案数据。</a:t>
            </a:r>
            <a:endParaRPr lang="zh-CN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197096"/>
            <a:ext cx="4800600" cy="804672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3342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20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315968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看匹配和差距</a:t>
            </a:r>
            <a:endParaRPr lang="zh-CN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4315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雷达和明细一起看；可比较 2–5 人。</a:t>
            </a:r>
            <a:endParaRPr lang="zh-CN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54406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业务最后看到的，不只是一个分数。更重要的是：哪里符合，哪里还有差距，接下来该补什么。</a:t>
            </a:r>
            <a:endParaRPr lang="zh-CN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1078992"/>
            <a:ext cx="5605272" cy="4828032"/>
          </a:xfrm>
          <a:prstGeom prst="rect">
            <a:avLst/>
          </a:prstGeom>
          <a:solidFill>
            <a:srgbClr val="FFFFFF"/>
          </a:solidFill>
          <a:ln w="15240">
            <a:solidFill>
              <a:srgbClr val="B9B9B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190488" y="1280160"/>
            <a:ext cx="5202936" cy="4425696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5705856"/>
            <a:ext cx="5202936" cy="-4425696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0216" y="1389888"/>
            <a:ext cx="2148840" cy="310896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9944" y="14721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业务截图占位</a:t>
            </a:r>
            <a:endParaRPr lang="zh-CN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108960"/>
            <a:ext cx="4599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人才中心 · 人岗匹配 / 人才对比页</a:t>
            </a:r>
            <a:endParaRPr lang="zh-CN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675888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替换为对应业务页面截图</a:t>
            </a:r>
            <a:endParaRPr lang="zh-CN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 · 发展中心 / 个人发展计划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09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基于人才差距生成个人发展安排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33856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个人有差距，</a:t>
            </a:r>
            <a:endParaRPr lang="zh-CN" sz="2900" dirty="0"/>
          </a:p>
          <a:p>
            <a:pPr algn="l" indent="0" marL="0">
              <a:buNone/>
            </a:pPr>
            <a:r>
              <a:rPr lang="zh-CN" altLang="en-US" sz="2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就形成个人发展安排</a:t>
            </a:r>
            <a:endParaRPr lang="zh-CN" sz="29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0" cy="297180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2231136"/>
            <a:ext cx="164592" cy="164592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21854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581912" y="208483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选本期重点</a:t>
            </a:r>
            <a:endParaRPr lang="zh-CN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08483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4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从岗位差距和盘点结论里选最需要解决的问题。</a:t>
            </a:r>
            <a:endParaRPr lang="zh-CN" sz="1140" dirty="0"/>
          </a:p>
        </p:txBody>
      </p:sp>
      <p:sp>
        <p:nvSpPr>
          <p:cNvPr id="11" name="Shape 9"/>
          <p:cNvSpPr/>
          <p:nvPr/>
        </p:nvSpPr>
        <p:spPr>
          <a:xfrm>
            <a:off x="694944" y="3054096"/>
            <a:ext cx="164592" cy="164592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3272" y="30083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581912" y="290779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安排发展动作</a:t>
            </a:r>
            <a:endParaRPr lang="zh-CN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90779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4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课程、项目、岗位实践、经理辅导都可使用。</a:t>
            </a:r>
            <a:endParaRPr lang="zh-CN" sz="1140" dirty="0"/>
          </a:p>
        </p:txBody>
      </p:sp>
      <p:sp>
        <p:nvSpPr>
          <p:cNvPr id="15" name="Shape 13"/>
          <p:cNvSpPr/>
          <p:nvPr/>
        </p:nvSpPr>
        <p:spPr>
          <a:xfrm>
            <a:off x="694944" y="3877056"/>
            <a:ext cx="164592" cy="164592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3272" y="38313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581912" y="373075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定人和时间</a:t>
            </a:r>
            <a:endParaRPr lang="zh-CN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73075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4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写清负责人、完成时间和检查方式。</a:t>
            </a:r>
            <a:endParaRPr lang="zh-CN" sz="1140" dirty="0"/>
          </a:p>
        </p:txBody>
      </p:sp>
      <p:sp>
        <p:nvSpPr>
          <p:cNvPr id="19" name="Shape 17"/>
          <p:cNvSpPr/>
          <p:nvPr/>
        </p:nvSpPr>
        <p:spPr>
          <a:xfrm>
            <a:off x="694944" y="4700016"/>
            <a:ext cx="164592" cy="164592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65429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zh-CN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581912" y="455371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跟进结果</a:t>
            </a:r>
            <a:endParaRPr lang="zh-CN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455371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4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进度和新评估结果继续回到个人档案。</a:t>
            </a:r>
            <a:endParaRPr lang="zh-CN" sz="1140" dirty="0"/>
          </a:p>
        </p:txBody>
      </p:sp>
      <p:sp>
        <p:nvSpPr>
          <p:cNvPr id="23" name="Shape 21"/>
          <p:cNvSpPr/>
          <p:nvPr/>
        </p:nvSpPr>
        <p:spPr>
          <a:xfrm>
            <a:off x="5989320" y="1078992"/>
            <a:ext cx="5605272" cy="4828032"/>
          </a:xfrm>
          <a:prstGeom prst="rect">
            <a:avLst/>
          </a:prstGeom>
          <a:solidFill>
            <a:srgbClr val="FFFFFF"/>
          </a:solidFill>
          <a:ln w="15240">
            <a:solidFill>
              <a:srgbClr val="B9B9B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190488" y="1280160"/>
            <a:ext cx="5202936" cy="4425696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0488" y="5705856"/>
            <a:ext cx="5202936" cy="-4425696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0216" y="1389888"/>
            <a:ext cx="2148840" cy="310896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9944" y="14721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业务截图占位</a:t>
            </a:r>
            <a:endParaRPr lang="zh-CN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108960"/>
            <a:ext cx="4599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发展中心 · 个人发展计划（IDP）页</a:t>
            </a:r>
            <a:endParaRPr lang="zh-CN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675888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替换为对应业务页面截图</a:t>
            </a:r>
            <a:endParaRPr lang="zh-CN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08 · 发展中心 × 培训平台 / 组织培养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共性差距进入岗位学习计划和培训项目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15568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多人都有同一个问题，</a:t>
            </a:r>
            <a:endParaRPr lang="zh-CN" sz="2900" dirty="0"/>
          </a:p>
          <a:p>
            <a:pPr algn="l" indent="0" marL="0">
              <a:buNone/>
            </a:pPr>
            <a:r>
              <a:rPr lang="zh-CN" altLang="en-US" sz="2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就做组织培养</a:t>
            </a:r>
            <a:endParaRPr lang="zh-CN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1152144" cy="1499616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23500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66090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汇总共性</a:t>
            </a:r>
            <a:endParaRPr lang="zh-CN" sz="1280" dirty="0"/>
          </a:p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差距</a:t>
            </a:r>
            <a:endParaRPr lang="zh-CN" sz="128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1821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1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看高频能力差距</a:t>
            </a:r>
            <a:endParaRPr lang="zh-CN" sz="910" dirty="0"/>
          </a:p>
        </p:txBody>
      </p:sp>
      <p:sp>
        <p:nvSpPr>
          <p:cNvPr id="10" name="Shape 8"/>
          <p:cNvSpPr/>
          <p:nvPr/>
        </p:nvSpPr>
        <p:spPr>
          <a:xfrm>
            <a:off x="1755648" y="2871216"/>
            <a:ext cx="192024" cy="0"/>
          </a:xfrm>
          <a:prstGeom prst="line">
            <a:avLst/>
          </a:prstGeom>
          <a:noFill/>
          <a:ln w="1270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47672" y="2148840"/>
            <a:ext cx="1152144" cy="14996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93976" y="23500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093976" y="266090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定岗位</a:t>
            </a:r>
            <a:endParaRPr lang="zh-CN" sz="1280" dirty="0"/>
          </a:p>
          <a:p>
            <a:pPr algn="l" indent="0" marL="0">
              <a:buNone/>
            </a:pPr>
            <a:r>
              <a:rPr lang="zh-CN" altLang="en-US" sz="128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培养目标</a:t>
            </a:r>
            <a:endParaRPr lang="zh-CN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2093976" y="31821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1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明确能力项和目标等级</a:t>
            </a:r>
            <a:endParaRPr lang="zh-CN" sz="910" dirty="0"/>
          </a:p>
        </p:txBody>
      </p:sp>
      <p:sp>
        <p:nvSpPr>
          <p:cNvPr id="15" name="Shape 13"/>
          <p:cNvSpPr/>
          <p:nvPr/>
        </p:nvSpPr>
        <p:spPr>
          <a:xfrm>
            <a:off x="3108960" y="2871216"/>
            <a:ext cx="192024" cy="0"/>
          </a:xfrm>
          <a:prstGeom prst="line">
            <a:avLst/>
          </a:prstGeom>
          <a:noFill/>
          <a:ln w="1270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00984" y="2148840"/>
            <a:ext cx="1152144" cy="1499616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47288" y="23500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266090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关联学习</a:t>
            </a:r>
            <a:endParaRPr lang="zh-CN" sz="1280" dirty="0"/>
          </a:p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endParaRPr lang="zh-CN" sz="1280" dirty="0"/>
          </a:p>
        </p:txBody>
      </p:sp>
      <p:sp>
        <p:nvSpPr>
          <p:cNvPr id="19" name="Text 17"/>
          <p:cNvSpPr txBox="1"/>
          <p:nvPr/>
        </p:nvSpPr>
        <p:spPr>
          <a:xfrm>
            <a:off x="3447288" y="31821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1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配置课程、项目和实践</a:t>
            </a:r>
            <a:endParaRPr lang="zh-CN" sz="910" dirty="0"/>
          </a:p>
        </p:txBody>
      </p:sp>
      <p:sp>
        <p:nvSpPr>
          <p:cNvPr id="20" name="Shape 18"/>
          <p:cNvSpPr/>
          <p:nvPr/>
        </p:nvSpPr>
        <p:spPr>
          <a:xfrm>
            <a:off x="4462272" y="2871216"/>
            <a:ext cx="192024" cy="0"/>
          </a:xfrm>
          <a:prstGeom prst="line">
            <a:avLst/>
          </a:prstGeom>
          <a:noFill/>
          <a:ln w="1270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54296" y="2148840"/>
            <a:ext cx="1152144" cy="1499616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23500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zh-CN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266090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跟前后</a:t>
            </a:r>
            <a:endParaRPr lang="zh-CN" sz="1280" dirty="0"/>
          </a:p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变化</a:t>
            </a:r>
            <a:endParaRPr lang="zh-CN" sz="128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1821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1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结果回到人才档案</a:t>
            </a:r>
            <a:endParaRPr lang="zh-CN" sz="910" dirty="0"/>
          </a:p>
        </p:txBody>
      </p:sp>
      <p:sp>
        <p:nvSpPr>
          <p:cNvPr id="25" name="Shape 23"/>
          <p:cNvSpPr/>
          <p:nvPr/>
        </p:nvSpPr>
        <p:spPr>
          <a:xfrm>
            <a:off x="594360" y="4069080"/>
            <a:ext cx="5212080" cy="1078992"/>
          </a:xfrm>
          <a:prstGeom prst="rect">
            <a:avLst/>
          </a:prstGeom>
          <a:solidFill>
            <a:srgbClr val="171717"/>
          </a:solidFill>
          <a:ln w="635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42793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BFBFB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组织发展</a:t>
            </a:r>
            <a:endParaRPr lang="zh-CN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60857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岗位下面关联学习计划和培训项目</a:t>
            </a:r>
            <a:endParaRPr lang="zh-CN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42793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50" b="1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个人发展</a:t>
            </a:r>
            <a:endParaRPr lang="zh-CN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46085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2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个人差距进入 IDP</a:t>
            </a:r>
            <a:endParaRPr lang="zh-CN" sz="1220" dirty="0"/>
          </a:p>
        </p:txBody>
      </p:sp>
      <p:sp>
        <p:nvSpPr>
          <p:cNvPr id="30" name="Shape 28"/>
          <p:cNvSpPr/>
          <p:nvPr/>
        </p:nvSpPr>
        <p:spPr>
          <a:xfrm>
            <a:off x="5989320" y="1078992"/>
            <a:ext cx="5605272" cy="4828032"/>
          </a:xfrm>
          <a:prstGeom prst="rect">
            <a:avLst/>
          </a:prstGeom>
          <a:solidFill>
            <a:srgbClr val="FFFFFF"/>
          </a:solidFill>
          <a:ln w="15240">
            <a:solidFill>
              <a:srgbClr val="B9B9B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190488" y="1280160"/>
            <a:ext cx="5202936" cy="4425696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0488" y="5705856"/>
            <a:ext cx="5202936" cy="-4425696"/>
          </a:xfrm>
          <a:prstGeom prst="line">
            <a:avLst/>
          </a:prstGeom>
          <a:noFill/>
          <a:ln w="5715">
            <a:solidFill>
              <a:srgbClr val="B9B9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0216" y="1389888"/>
            <a:ext cx="2148840" cy="310896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9944" y="14721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业务截图占位</a:t>
            </a:r>
            <a:endParaRPr lang="zh-CN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3108960"/>
            <a:ext cx="4599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发展中心 · 岗位学习计划 / 培训项目页</a:t>
            </a:r>
            <a:endParaRPr lang="zh-CN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3675888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替换为对应业务页面截图</a:t>
            </a:r>
            <a:endParaRPr lang="zh-CN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09 · 模块串联 / 前一步结果给下一步使用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11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岗位中心 · 评鉴中心 · 人才中心 · 发展中心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88720"/>
            <a:ext cx="8961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前一步做完，下一步直接接着用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1344168" cy="1389888"/>
          </a:xfrm>
          <a:prstGeom prst="rect">
            <a:avLst/>
          </a:prstGeom>
          <a:solidFill>
            <a:srgbClr val="252525"/>
          </a:solidFill>
          <a:ln w="10160">
            <a:solidFill>
              <a:srgbClr val="5E5E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29260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33192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3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组织分析</a:t>
            </a:r>
            <a:endParaRPr lang="zh-CN" sz="133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定范围</a:t>
            </a:r>
            <a:endParaRPr lang="zh-CN" sz="980" dirty="0"/>
          </a:p>
        </p:txBody>
      </p:sp>
      <p:sp>
        <p:nvSpPr>
          <p:cNvPr id="10" name="Shape 8"/>
          <p:cNvSpPr/>
          <p:nvPr/>
        </p:nvSpPr>
        <p:spPr>
          <a:xfrm>
            <a:off x="1947672" y="3438144"/>
            <a:ext cx="237744" cy="0"/>
          </a:xfrm>
          <a:prstGeom prst="line">
            <a:avLst/>
          </a:prstGeom>
          <a:noFill/>
          <a:ln w="12700">
            <a:solidFill>
              <a:srgbClr val="DCE4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03704" y="2743200"/>
            <a:ext cx="1344168" cy="1389888"/>
          </a:xfrm>
          <a:prstGeom prst="rect">
            <a:avLst/>
          </a:prstGeom>
          <a:solidFill>
            <a:srgbClr val="252525"/>
          </a:solidFill>
          <a:ln w="10160">
            <a:solidFill>
              <a:srgbClr val="5E5E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50008" y="29260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350008" y="33192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3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岗位标准</a:t>
            </a:r>
            <a:endParaRPr lang="zh-CN" sz="1330" dirty="0"/>
          </a:p>
        </p:txBody>
      </p:sp>
      <p:sp>
        <p:nvSpPr>
          <p:cNvPr id="14" name="Text 12"/>
          <p:cNvSpPr txBox="1"/>
          <p:nvPr/>
        </p:nvSpPr>
        <p:spPr>
          <a:xfrm>
            <a:off x="2350008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定尺子</a:t>
            </a:r>
            <a:endParaRPr lang="zh-CN" sz="980" dirty="0"/>
          </a:p>
        </p:txBody>
      </p:sp>
      <p:sp>
        <p:nvSpPr>
          <p:cNvPr id="15" name="Shape 13"/>
          <p:cNvSpPr/>
          <p:nvPr/>
        </p:nvSpPr>
        <p:spPr>
          <a:xfrm>
            <a:off x="3557016" y="3438144"/>
            <a:ext cx="237744" cy="0"/>
          </a:xfrm>
          <a:prstGeom prst="line">
            <a:avLst/>
          </a:prstGeom>
          <a:noFill/>
          <a:ln w="12700">
            <a:solidFill>
              <a:srgbClr val="DCE4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13048" y="2743200"/>
            <a:ext cx="1344168" cy="1389888"/>
          </a:xfrm>
          <a:prstGeom prst="rect">
            <a:avLst/>
          </a:prstGeom>
          <a:solidFill>
            <a:srgbClr val="252525"/>
          </a:solidFill>
          <a:ln w="10160">
            <a:solidFill>
              <a:srgbClr val="5E5E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59352" y="29260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959352" y="33192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3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评鉴结果</a:t>
            </a:r>
            <a:endParaRPr lang="zh-CN" sz="1330" dirty="0"/>
          </a:p>
        </p:txBody>
      </p:sp>
      <p:sp>
        <p:nvSpPr>
          <p:cNvPr id="19" name="Text 17"/>
          <p:cNvSpPr txBox="1"/>
          <p:nvPr/>
        </p:nvSpPr>
        <p:spPr>
          <a:xfrm>
            <a:off x="3959352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收数据</a:t>
            </a:r>
            <a:endParaRPr lang="zh-CN" sz="980" dirty="0"/>
          </a:p>
        </p:txBody>
      </p:sp>
      <p:sp>
        <p:nvSpPr>
          <p:cNvPr id="20" name="Shape 18"/>
          <p:cNvSpPr/>
          <p:nvPr/>
        </p:nvSpPr>
        <p:spPr>
          <a:xfrm>
            <a:off x="5166360" y="3438144"/>
            <a:ext cx="237744" cy="0"/>
          </a:xfrm>
          <a:prstGeom prst="line">
            <a:avLst/>
          </a:prstGeom>
          <a:noFill/>
          <a:ln w="12700">
            <a:solidFill>
              <a:srgbClr val="DCE4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22392" y="2743200"/>
            <a:ext cx="1344168" cy="1389888"/>
          </a:xfrm>
          <a:prstGeom prst="rect">
            <a:avLst/>
          </a:prstGeom>
          <a:solidFill>
            <a:srgbClr val="252525"/>
          </a:solidFill>
          <a:ln w="10160">
            <a:solidFill>
              <a:srgbClr val="5E5E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68696" y="29260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zh-CN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568696" y="33192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3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人才盘点</a:t>
            </a:r>
            <a:endParaRPr lang="zh-CN" sz="1330" dirty="0"/>
          </a:p>
        </p:txBody>
      </p:sp>
      <p:sp>
        <p:nvSpPr>
          <p:cNvPr id="24" name="Text 22"/>
          <p:cNvSpPr txBox="1"/>
          <p:nvPr/>
        </p:nvSpPr>
        <p:spPr>
          <a:xfrm>
            <a:off x="5568696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看群体</a:t>
            </a:r>
            <a:endParaRPr lang="zh-CN" sz="980" dirty="0"/>
          </a:p>
        </p:txBody>
      </p:sp>
      <p:sp>
        <p:nvSpPr>
          <p:cNvPr id="25" name="Shape 23"/>
          <p:cNvSpPr/>
          <p:nvPr/>
        </p:nvSpPr>
        <p:spPr>
          <a:xfrm>
            <a:off x="6775704" y="3438144"/>
            <a:ext cx="237744" cy="0"/>
          </a:xfrm>
          <a:prstGeom prst="line">
            <a:avLst/>
          </a:prstGeom>
          <a:noFill/>
          <a:ln w="12700">
            <a:solidFill>
              <a:srgbClr val="DCE4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31736" y="2743200"/>
            <a:ext cx="1344168" cy="1389888"/>
          </a:xfrm>
          <a:prstGeom prst="rect">
            <a:avLst/>
          </a:prstGeom>
          <a:solidFill>
            <a:srgbClr val="252525"/>
          </a:solidFill>
          <a:ln w="10160">
            <a:solidFill>
              <a:srgbClr val="5E5E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78040" y="29260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zh-CN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3192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3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人岗匹配</a:t>
            </a:r>
            <a:endParaRPr lang="zh-CN" sz="133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看个人</a:t>
            </a:r>
            <a:endParaRPr lang="zh-CN" sz="980" dirty="0"/>
          </a:p>
        </p:txBody>
      </p:sp>
      <p:sp>
        <p:nvSpPr>
          <p:cNvPr id="30" name="Shape 28"/>
          <p:cNvSpPr/>
          <p:nvPr/>
        </p:nvSpPr>
        <p:spPr>
          <a:xfrm>
            <a:off x="8385048" y="3438144"/>
            <a:ext cx="237744" cy="0"/>
          </a:xfrm>
          <a:prstGeom prst="line">
            <a:avLst/>
          </a:prstGeom>
          <a:noFill/>
          <a:ln w="12700">
            <a:solidFill>
              <a:srgbClr val="DCE4F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641080" y="2743200"/>
            <a:ext cx="1344168" cy="1389888"/>
          </a:xfrm>
          <a:prstGeom prst="rect">
            <a:avLst/>
          </a:prstGeom>
          <a:solidFill>
            <a:srgbClr val="002FA7"/>
          </a:solidFill>
          <a:ln w="1016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87384" y="29260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</a:t>
            </a:r>
            <a:endParaRPr lang="zh-CN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787384" y="33192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3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发展计划</a:t>
            </a:r>
            <a:endParaRPr lang="zh-CN" sz="1330" dirty="0"/>
          </a:p>
        </p:txBody>
      </p:sp>
      <p:sp>
        <p:nvSpPr>
          <p:cNvPr id="34" name="Text 32"/>
          <p:cNvSpPr txBox="1"/>
          <p:nvPr/>
        </p:nvSpPr>
        <p:spPr>
          <a:xfrm>
            <a:off x="8787384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排动作</a:t>
            </a:r>
            <a:endParaRPr lang="zh-CN" sz="980" dirty="0"/>
          </a:p>
        </p:txBody>
      </p:sp>
      <p:sp>
        <p:nvSpPr>
          <p:cNvPr id="35" name="Shape 33"/>
          <p:cNvSpPr/>
          <p:nvPr/>
        </p:nvSpPr>
        <p:spPr>
          <a:xfrm>
            <a:off x="9994392" y="3438144"/>
            <a:ext cx="237744" cy="0"/>
          </a:xfrm>
          <a:prstGeom prst="line">
            <a:avLst/>
          </a:prstGeom>
          <a:noFill/>
          <a:ln w="12700">
            <a:solidFill>
              <a:srgbClr val="DCE4F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250424" y="2743200"/>
            <a:ext cx="1344168" cy="1389888"/>
          </a:xfrm>
          <a:prstGeom prst="rect">
            <a:avLst/>
          </a:prstGeom>
          <a:solidFill>
            <a:srgbClr val="252525"/>
          </a:solidFill>
          <a:ln w="10160">
            <a:solidFill>
              <a:srgbClr val="5E5E5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396728" y="29260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</a:t>
            </a:r>
            <a:endParaRPr lang="zh-CN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0396728" y="33192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3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结果更新</a:t>
            </a:r>
            <a:endParaRPr lang="zh-CN" sz="1330" dirty="0"/>
          </a:p>
        </p:txBody>
      </p:sp>
      <p:sp>
        <p:nvSpPr>
          <p:cNvPr id="39" name="Text 37"/>
          <p:cNvSpPr txBox="1"/>
          <p:nvPr/>
        </p:nvSpPr>
        <p:spPr>
          <a:xfrm>
            <a:off x="10396728" y="37307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98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再使用</a:t>
            </a:r>
            <a:endParaRPr lang="zh-CN" sz="980" dirty="0"/>
          </a:p>
        </p:txBody>
      </p:sp>
      <p:sp>
        <p:nvSpPr>
          <p:cNvPr id="40" name="Shape 38"/>
          <p:cNvSpPr/>
          <p:nvPr/>
        </p:nvSpPr>
        <p:spPr>
          <a:xfrm>
            <a:off x="594360" y="4800600"/>
            <a:ext cx="11000232" cy="0"/>
          </a:xfrm>
          <a:prstGeom prst="line">
            <a:avLst/>
          </a:prstGeom>
          <a:noFill/>
          <a:ln w="8890">
            <a:solidFill>
              <a:srgbClr val="4A4A4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4360" y="5102352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20" dirty="0">
                <a:solidFill>
                  <a:srgbClr val="D0D0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岗位标准不用重复建，人才数据不用反复拼，培养结果也不会留在另一个系统里。</a:t>
            </a:r>
            <a:endParaRPr lang="zh-CN" sz="1420" dirty="0"/>
          </a:p>
        </p:txBody>
      </p:sp>
      <p:sp>
        <p:nvSpPr>
          <p:cNvPr id="42" name="Text 40"/>
          <p:cNvSpPr txBox="1"/>
          <p:nvPr/>
        </p:nvSpPr>
        <p:spPr>
          <a:xfrm>
            <a:off x="7973568" y="58064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一轮做完，下一轮从最新结果继续</a:t>
            </a:r>
            <a:endParaRPr lang="zh-CN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9904" cy="6858000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822960"/>
            <a:ext cx="41148" cy="41148"/>
          </a:xfrm>
          <a:prstGeom prst="rect">
            <a:avLst/>
          </a:prstGeom>
          <a:solidFill>
            <a:srgbClr val="FFFFFF">
              <a:alpha val="5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" y="822960"/>
            <a:ext cx="41148" cy="41148"/>
          </a:xfrm>
          <a:prstGeom prst="rect">
            <a:avLst/>
          </a:prstGeom>
          <a:solidFill>
            <a:srgbClr val="FFFFFF">
              <a:alpha val="4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822960"/>
            <a:ext cx="41148" cy="41148"/>
          </a:xfrm>
          <a:prstGeom prst="rect">
            <a:avLst/>
          </a:prstGeom>
          <a:solidFill>
            <a:srgbClr val="FFFFFF">
              <a:alpha val="4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1368" y="822960"/>
            <a:ext cx="41148" cy="41148"/>
          </a:xfrm>
          <a:prstGeom prst="rect">
            <a:avLst/>
          </a:prstGeom>
          <a:solidFill>
            <a:srgbClr val="FFFFFF">
              <a:alpha val="3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12848" y="822960"/>
            <a:ext cx="41148" cy="41148"/>
          </a:xfrm>
          <a:prstGeom prst="rect">
            <a:avLst/>
          </a:prstGeom>
          <a:solidFill>
            <a:srgbClr val="FFFFFF">
              <a:alpha val="3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24328" y="822960"/>
            <a:ext cx="41148" cy="41148"/>
          </a:xfrm>
          <a:prstGeom prst="rect">
            <a:avLst/>
          </a:prstGeom>
          <a:solidFill>
            <a:srgbClr val="FFFFFF">
              <a:alpha val="2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35808" y="822960"/>
            <a:ext cx="41148" cy="41148"/>
          </a:xfrm>
          <a:prstGeom prst="rect">
            <a:avLst/>
          </a:prstGeom>
          <a:solidFill>
            <a:srgbClr val="FFFFFF">
              <a:alpha val="2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822960"/>
            <a:ext cx="41148" cy="41148"/>
          </a:xfrm>
          <a:prstGeom prst="rect">
            <a:avLst/>
          </a:prstGeom>
          <a:solidFill>
            <a:srgbClr val="FFFFFF">
              <a:alpha val="5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234440"/>
            <a:ext cx="41148" cy="41148"/>
          </a:xfrm>
          <a:prstGeom prst="rect">
            <a:avLst/>
          </a:prstGeom>
          <a:solidFill>
            <a:srgbClr val="FFFFFF">
              <a:alpha val="4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1234440"/>
            <a:ext cx="41148" cy="41148"/>
          </a:xfrm>
          <a:prstGeom prst="rect">
            <a:avLst/>
          </a:prstGeom>
          <a:solidFill>
            <a:srgbClr val="FFFFFF">
              <a:alpha val="3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9888" y="1234440"/>
            <a:ext cx="41148" cy="41148"/>
          </a:xfrm>
          <a:prstGeom prst="rect">
            <a:avLst/>
          </a:prstGeom>
          <a:solidFill>
            <a:srgbClr val="FFFFFF">
              <a:alpha val="3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01368" y="1234440"/>
            <a:ext cx="41148" cy="41148"/>
          </a:xfrm>
          <a:prstGeom prst="rect">
            <a:avLst/>
          </a:prstGeom>
          <a:solidFill>
            <a:srgbClr val="FFFFFF">
              <a:alpha val="2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12848" y="1234440"/>
            <a:ext cx="41148" cy="41148"/>
          </a:xfrm>
          <a:prstGeom prst="rect">
            <a:avLst/>
          </a:prstGeom>
          <a:solidFill>
            <a:srgbClr val="FFFFFF">
              <a:alpha val="2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4328" y="1234440"/>
            <a:ext cx="41148" cy="41148"/>
          </a:xfrm>
          <a:prstGeom prst="rect">
            <a:avLst/>
          </a:prstGeom>
          <a:solidFill>
            <a:srgbClr val="FFFFFF">
              <a:alpha val="5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35808" y="1234440"/>
            <a:ext cx="41148" cy="41148"/>
          </a:xfrm>
          <a:prstGeom prst="rect">
            <a:avLst/>
          </a:prstGeom>
          <a:solidFill>
            <a:srgbClr val="FFFFFF">
              <a:alpha val="4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47288" y="1234440"/>
            <a:ext cx="41148" cy="41148"/>
          </a:xfrm>
          <a:prstGeom prst="rect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1645920"/>
            <a:ext cx="41148" cy="41148"/>
          </a:xfrm>
          <a:prstGeom prst="rect">
            <a:avLst/>
          </a:prstGeom>
          <a:solidFill>
            <a:srgbClr val="FFFFFF">
              <a:alpha val="2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1645920"/>
            <a:ext cx="41148" cy="41148"/>
          </a:xfrm>
          <a:prstGeom prst="rect">
            <a:avLst/>
          </a:prstGeom>
          <a:solidFill>
            <a:srgbClr val="FFFFFF">
              <a:alpha val="2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89888" y="1645920"/>
            <a:ext cx="41148" cy="41148"/>
          </a:xfrm>
          <a:prstGeom prst="rect">
            <a:avLst/>
          </a:prstGeom>
          <a:solidFill>
            <a:srgbClr val="FFFFFF">
              <a:alpha val="5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01368" y="1645920"/>
            <a:ext cx="41148" cy="41148"/>
          </a:xfrm>
          <a:prstGeom prst="rect">
            <a:avLst/>
          </a:prstGeom>
          <a:solidFill>
            <a:srgbClr val="FFFFFF">
              <a:alpha val="4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12848" y="1645920"/>
            <a:ext cx="41148" cy="41148"/>
          </a:xfrm>
          <a:prstGeom prst="rect">
            <a:avLst/>
          </a:prstGeom>
          <a:solidFill>
            <a:srgbClr val="FFFFFF">
              <a:alpha val="4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4328" y="1645920"/>
            <a:ext cx="41148" cy="41148"/>
          </a:xfrm>
          <a:prstGeom prst="rect">
            <a:avLst/>
          </a:prstGeom>
          <a:solidFill>
            <a:srgbClr val="FFFFFF">
              <a:alpha val="3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5808" y="1645920"/>
            <a:ext cx="41148" cy="41148"/>
          </a:xfrm>
          <a:prstGeom prst="rect">
            <a:avLst/>
          </a:prstGeom>
          <a:solidFill>
            <a:srgbClr val="FFFFFF">
              <a:alpha val="3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7288" y="1645920"/>
            <a:ext cx="41148" cy="41148"/>
          </a:xfrm>
          <a:prstGeom prst="rect">
            <a:avLst/>
          </a:prstGeom>
          <a:solidFill>
            <a:srgbClr val="FFFFFF">
              <a:alpha val="2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2057400"/>
            <a:ext cx="41148" cy="41148"/>
          </a:xfrm>
          <a:prstGeom prst="rect">
            <a:avLst/>
          </a:prstGeom>
          <a:solidFill>
            <a:srgbClr val="FFFFFF">
              <a:alpha val="4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" y="2057400"/>
            <a:ext cx="41148" cy="41148"/>
          </a:xfrm>
          <a:prstGeom prst="rect">
            <a:avLst/>
          </a:prstGeom>
          <a:solidFill>
            <a:srgbClr val="FFFFFF">
              <a:alpha val="4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89888" y="2057400"/>
            <a:ext cx="41148" cy="41148"/>
          </a:xfrm>
          <a:prstGeom prst="rect">
            <a:avLst/>
          </a:prstGeom>
          <a:solidFill>
            <a:srgbClr val="FFFFFF">
              <a:alpha val="3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01368" y="2057400"/>
            <a:ext cx="41148" cy="41148"/>
          </a:xfrm>
          <a:prstGeom prst="rect">
            <a:avLst/>
          </a:prstGeom>
          <a:solidFill>
            <a:srgbClr val="FFFFFF">
              <a:alpha val="3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12848" y="2057400"/>
            <a:ext cx="41148" cy="41148"/>
          </a:xfrm>
          <a:prstGeom prst="rect">
            <a:avLst/>
          </a:prstGeom>
          <a:solidFill>
            <a:srgbClr val="FFFFFF">
              <a:alpha val="2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24328" y="2057400"/>
            <a:ext cx="41148" cy="41148"/>
          </a:xfrm>
          <a:prstGeom prst="rect">
            <a:avLst/>
          </a:prstGeom>
          <a:solidFill>
            <a:srgbClr val="FFFFFF">
              <a:alpha val="2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5808" y="2057400"/>
            <a:ext cx="41148" cy="41148"/>
          </a:xfrm>
          <a:prstGeom prst="rect">
            <a:avLst/>
          </a:prstGeom>
          <a:solidFill>
            <a:srgbClr val="FFFFFF">
              <a:alpha val="5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47288" y="2057400"/>
            <a:ext cx="41148" cy="41148"/>
          </a:xfrm>
          <a:prstGeom prst="rect">
            <a:avLst/>
          </a:prstGeom>
          <a:solidFill>
            <a:srgbClr val="FFFFFF">
              <a:alpha val="4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2468880"/>
            <a:ext cx="41148" cy="41148"/>
          </a:xfrm>
          <a:prstGeom prst="rect">
            <a:avLst/>
          </a:prstGeom>
          <a:solidFill>
            <a:srgbClr val="FFFFFF">
              <a:alpha val="3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8408" y="2468880"/>
            <a:ext cx="41148" cy="41148"/>
          </a:xfrm>
          <a:prstGeom prst="rect">
            <a:avLst/>
          </a:prstGeom>
          <a:solidFill>
            <a:srgbClr val="FFFFFF">
              <a:alpha val="3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89888" y="2468880"/>
            <a:ext cx="41148" cy="41148"/>
          </a:xfrm>
          <a:prstGeom prst="rect">
            <a:avLst/>
          </a:prstGeom>
          <a:solidFill>
            <a:srgbClr val="FFFFFF">
              <a:alpha val="2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01368" y="2468880"/>
            <a:ext cx="41148" cy="41148"/>
          </a:xfrm>
          <a:prstGeom prst="rect">
            <a:avLst/>
          </a:prstGeom>
          <a:solidFill>
            <a:srgbClr val="FFFFFF">
              <a:alpha val="2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12848" y="2468880"/>
            <a:ext cx="41148" cy="41148"/>
          </a:xfrm>
          <a:prstGeom prst="rect">
            <a:avLst/>
          </a:prstGeom>
          <a:solidFill>
            <a:srgbClr val="FFFFFF">
              <a:alpha val="5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24328" y="2468880"/>
            <a:ext cx="41148" cy="41148"/>
          </a:xfrm>
          <a:prstGeom prst="rect">
            <a:avLst/>
          </a:prstGeom>
          <a:solidFill>
            <a:srgbClr val="FFFFFF">
              <a:alpha val="4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35808" y="2468880"/>
            <a:ext cx="41148" cy="41148"/>
          </a:xfrm>
          <a:prstGeom prst="rect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47288" y="2468880"/>
            <a:ext cx="41148" cy="41148"/>
          </a:xfrm>
          <a:prstGeom prst="rect">
            <a:avLst/>
          </a:prstGeom>
          <a:solidFill>
            <a:srgbClr val="FFFFFF">
              <a:alpha val="3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2880360"/>
            <a:ext cx="41148" cy="41148"/>
          </a:xfrm>
          <a:prstGeom prst="rect">
            <a:avLst/>
          </a:prstGeom>
          <a:solidFill>
            <a:srgbClr val="FFFFFF">
              <a:alpha val="2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8408" y="2880360"/>
            <a:ext cx="41148" cy="41148"/>
          </a:xfrm>
          <a:prstGeom prst="rect">
            <a:avLst/>
          </a:prstGeom>
          <a:solidFill>
            <a:srgbClr val="FFFFFF">
              <a:alpha val="5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89888" y="2880360"/>
            <a:ext cx="41148" cy="41148"/>
          </a:xfrm>
          <a:prstGeom prst="rect">
            <a:avLst/>
          </a:prstGeom>
          <a:solidFill>
            <a:srgbClr val="FFFFFF">
              <a:alpha val="4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01368" y="2880360"/>
            <a:ext cx="41148" cy="41148"/>
          </a:xfrm>
          <a:prstGeom prst="rect">
            <a:avLst/>
          </a:prstGeom>
          <a:solidFill>
            <a:srgbClr val="FFFFFF">
              <a:alpha val="4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12848" y="2880360"/>
            <a:ext cx="41148" cy="41148"/>
          </a:xfrm>
          <a:prstGeom prst="rect">
            <a:avLst/>
          </a:prstGeom>
          <a:solidFill>
            <a:srgbClr val="FFFFFF">
              <a:alpha val="3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24328" y="2880360"/>
            <a:ext cx="41148" cy="41148"/>
          </a:xfrm>
          <a:prstGeom prst="rect">
            <a:avLst/>
          </a:prstGeom>
          <a:solidFill>
            <a:srgbClr val="FFFFFF">
              <a:alpha val="3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35808" y="2880360"/>
            <a:ext cx="41148" cy="41148"/>
          </a:xfrm>
          <a:prstGeom prst="rect">
            <a:avLst/>
          </a:prstGeom>
          <a:solidFill>
            <a:srgbClr val="FFFFFF">
              <a:alpha val="2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47288" y="2880360"/>
            <a:ext cx="41148" cy="41148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" y="3291840"/>
            <a:ext cx="41148" cy="41148"/>
          </a:xfrm>
          <a:prstGeom prst="rect">
            <a:avLst/>
          </a:prstGeom>
          <a:solidFill>
            <a:srgbClr val="FFFFFF">
              <a:alpha val="4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8408" y="3291840"/>
            <a:ext cx="41148" cy="41148"/>
          </a:xfrm>
          <a:prstGeom prst="rect">
            <a:avLst/>
          </a:prstGeom>
          <a:solidFill>
            <a:srgbClr val="FFFFFF">
              <a:alpha val="3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89888" y="3291840"/>
            <a:ext cx="41148" cy="41148"/>
          </a:xfrm>
          <a:prstGeom prst="rect">
            <a:avLst/>
          </a:prstGeom>
          <a:solidFill>
            <a:srgbClr val="FFFFFF">
              <a:alpha val="3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01368" y="3291840"/>
            <a:ext cx="41148" cy="41148"/>
          </a:xfrm>
          <a:prstGeom prst="rect">
            <a:avLst/>
          </a:prstGeom>
          <a:solidFill>
            <a:srgbClr val="FFFFFF">
              <a:alpha val="2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12848" y="3291840"/>
            <a:ext cx="41148" cy="41148"/>
          </a:xfrm>
          <a:prstGeom prst="rect">
            <a:avLst/>
          </a:prstGeom>
          <a:solidFill>
            <a:srgbClr val="FFFFFF">
              <a:alpha val="2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24328" y="3291840"/>
            <a:ext cx="41148" cy="41148"/>
          </a:xfrm>
          <a:prstGeom prst="rect">
            <a:avLst/>
          </a:prstGeom>
          <a:solidFill>
            <a:srgbClr val="FFFFFF">
              <a:alpha val="5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35808" y="3291840"/>
            <a:ext cx="41148" cy="41148"/>
          </a:xfrm>
          <a:prstGeom prst="rect">
            <a:avLst/>
          </a:prstGeom>
          <a:solidFill>
            <a:srgbClr val="FFFFFF">
              <a:alpha val="4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47288" y="3291840"/>
            <a:ext cx="41148" cy="41148"/>
          </a:xfrm>
          <a:prstGeom prst="rect">
            <a:avLst/>
          </a:prstGeom>
          <a:solidFill>
            <a:srgbClr val="FFFFFF">
              <a:alpha val="4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6928" y="3703320"/>
            <a:ext cx="41148" cy="41148"/>
          </a:xfrm>
          <a:prstGeom prst="rect">
            <a:avLst/>
          </a:prstGeom>
          <a:solidFill>
            <a:srgbClr val="FFFFFF">
              <a:alpha val="3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8408" y="3703320"/>
            <a:ext cx="41148" cy="41148"/>
          </a:xfrm>
          <a:prstGeom prst="rect">
            <a:avLst/>
          </a:prstGeom>
          <a:solidFill>
            <a:srgbClr val="FFFFFF">
              <a:alpha val="2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89888" y="3703320"/>
            <a:ext cx="41148" cy="41148"/>
          </a:xfrm>
          <a:prstGeom prst="rect">
            <a:avLst/>
          </a:prstGeom>
          <a:solidFill>
            <a:srgbClr val="FFFFFF">
              <a:alpha val="2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01368" y="3703320"/>
            <a:ext cx="41148" cy="41148"/>
          </a:xfrm>
          <a:prstGeom prst="rect">
            <a:avLst/>
          </a:prstGeom>
          <a:solidFill>
            <a:srgbClr val="FFFFFF">
              <a:alpha val="5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12848" y="3703320"/>
            <a:ext cx="41148" cy="41148"/>
          </a:xfrm>
          <a:prstGeom prst="rect">
            <a:avLst/>
          </a:prstGeom>
          <a:solidFill>
            <a:srgbClr val="FFFFFF">
              <a:alpha val="4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24328" y="3703320"/>
            <a:ext cx="41148" cy="41148"/>
          </a:xfrm>
          <a:prstGeom prst="rect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35808" y="3703320"/>
            <a:ext cx="41148" cy="41148"/>
          </a:xfrm>
          <a:prstGeom prst="rect">
            <a:avLst/>
          </a:prstGeom>
          <a:solidFill>
            <a:srgbClr val="FFFFFF">
              <a:alpha val="3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47288" y="3703320"/>
            <a:ext cx="41148" cy="41148"/>
          </a:xfrm>
          <a:prstGeom prst="rect">
            <a:avLst/>
          </a:prstGeom>
          <a:solidFill>
            <a:srgbClr val="FFFFFF">
              <a:alpha val="3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02920" y="3840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12 / 12</a:t>
            </a:r>
            <a:endParaRPr lang="zh-CN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502920" y="12344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海格汽车人才发展</a:t>
            </a:r>
            <a:endParaRPr lang="zh-CN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502920" y="182880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1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从组织到岗位</a:t>
            </a:r>
            <a:endParaRPr lang="zh-CN" sz="4100" dirty="0"/>
          </a:p>
          <a:p>
            <a:pPr algn="l" indent="0" marL="0">
              <a:buNone/>
            </a:pPr>
            <a:r>
              <a:rPr lang="zh-CN" altLang="en-US" sz="41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从岗位到人</a:t>
            </a:r>
            <a:endParaRPr lang="zh-CN" sz="4100" dirty="0"/>
          </a:p>
          <a:p>
            <a:pPr algn="l" indent="0" marL="0">
              <a:buNone/>
            </a:pPr>
            <a:r>
              <a:rPr lang="zh-CN" altLang="en-US" sz="41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再把发展做下去</a:t>
            </a:r>
            <a:endParaRPr lang="zh-CN" sz="4100" dirty="0"/>
          </a:p>
        </p:txBody>
      </p:sp>
      <p:sp>
        <p:nvSpPr>
          <p:cNvPr id="70" name="Text 68"/>
          <p:cNvSpPr txBox="1"/>
          <p:nvPr/>
        </p:nvSpPr>
        <p:spPr>
          <a:xfrm>
            <a:off x="502920" y="51206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3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这就是时代光华开展人才发展的完整路径。</a:t>
            </a:r>
            <a:endParaRPr lang="zh-CN" sz="1430" dirty="0"/>
          </a:p>
        </p:txBody>
      </p:sp>
      <p:sp>
        <p:nvSpPr>
          <p:cNvPr id="71" name="Shape 69"/>
          <p:cNvSpPr/>
          <p:nvPr/>
        </p:nvSpPr>
        <p:spPr>
          <a:xfrm>
            <a:off x="502920" y="5989320"/>
            <a:ext cx="5074920" cy="0"/>
          </a:xfrm>
          <a:prstGeom prst="line">
            <a:avLst/>
          </a:prstGeom>
          <a:noFill/>
          <a:ln w="5715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02920" y="61722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时代光华 · 人才发展解决方案</a:t>
            </a:r>
            <a:endParaRPr lang="zh-CN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6565392" y="5029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最后解决三件事</a:t>
            </a:r>
            <a:endParaRPr lang="zh-CN" sz="850" dirty="0"/>
          </a:p>
        </p:txBody>
      </p:sp>
      <p:sp>
        <p:nvSpPr>
          <p:cNvPr id="74" name="Shape 72"/>
          <p:cNvSpPr/>
          <p:nvPr/>
        </p:nvSpPr>
        <p:spPr>
          <a:xfrm>
            <a:off x="6565392" y="1325880"/>
            <a:ext cx="502920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565392" y="154533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2900" dirty="0"/>
          </a:p>
        </p:txBody>
      </p:sp>
      <p:sp>
        <p:nvSpPr>
          <p:cNvPr id="76" name="Text 74"/>
          <p:cNvSpPr txBox="1"/>
          <p:nvPr/>
        </p:nvSpPr>
        <p:spPr>
          <a:xfrm>
            <a:off x="7680960" y="15727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聚焦哪些岗位</a:t>
            </a:r>
            <a:endParaRPr lang="zh-CN" sz="1700" dirty="0"/>
          </a:p>
        </p:txBody>
      </p:sp>
      <p:sp>
        <p:nvSpPr>
          <p:cNvPr id="77" name="Text 75"/>
          <p:cNvSpPr txBox="1"/>
          <p:nvPr/>
        </p:nvSpPr>
        <p:spPr>
          <a:xfrm>
            <a:off x="7680960" y="20574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1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从组织分析和关键岗位诊断开始，先把范围定准。</a:t>
            </a:r>
            <a:endParaRPr lang="zh-CN" sz="1210" dirty="0"/>
          </a:p>
        </p:txBody>
      </p:sp>
      <p:sp>
        <p:nvSpPr>
          <p:cNvPr id="78" name="Shape 76"/>
          <p:cNvSpPr/>
          <p:nvPr/>
        </p:nvSpPr>
        <p:spPr>
          <a:xfrm>
            <a:off x="6565392" y="2834640"/>
            <a:ext cx="502920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565392" y="305409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2900" dirty="0"/>
          </a:p>
        </p:txBody>
      </p:sp>
      <p:sp>
        <p:nvSpPr>
          <p:cNvPr id="80" name="Text 78"/>
          <p:cNvSpPr txBox="1"/>
          <p:nvPr/>
        </p:nvSpPr>
        <p:spPr>
          <a:xfrm>
            <a:off x="7680960" y="308152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看清哪些人才</a:t>
            </a:r>
            <a:endParaRPr lang="zh-CN" sz="1700" dirty="0"/>
          </a:p>
        </p:txBody>
      </p:sp>
      <p:sp>
        <p:nvSpPr>
          <p:cNvPr id="81" name="Text 79"/>
          <p:cNvSpPr txBox="1"/>
          <p:nvPr/>
        </p:nvSpPr>
        <p:spPr>
          <a:xfrm>
            <a:off x="7680960" y="35661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1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用岗位标准、评鉴和盘点，看清人才现状与差距。</a:t>
            </a:r>
            <a:endParaRPr lang="zh-CN" sz="1210" dirty="0"/>
          </a:p>
        </p:txBody>
      </p:sp>
      <p:sp>
        <p:nvSpPr>
          <p:cNvPr id="82" name="Shape 80"/>
          <p:cNvSpPr/>
          <p:nvPr/>
        </p:nvSpPr>
        <p:spPr>
          <a:xfrm>
            <a:off x="6565392" y="4343400"/>
            <a:ext cx="5029200" cy="0"/>
          </a:xfrm>
          <a:prstGeom prst="line">
            <a:avLst/>
          </a:prstGeom>
          <a:noFill/>
          <a:ln w="15240">
            <a:solidFill>
              <a:srgbClr val="002FA7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565392" y="456285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2900" dirty="0"/>
          </a:p>
        </p:txBody>
      </p:sp>
      <p:sp>
        <p:nvSpPr>
          <p:cNvPr id="84" name="Text 82"/>
          <p:cNvSpPr txBox="1"/>
          <p:nvPr/>
        </p:nvSpPr>
        <p:spPr>
          <a:xfrm>
            <a:off x="7680960" y="45902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安排下一步发展</a:t>
            </a:r>
            <a:endParaRPr lang="zh-CN" sz="1700" dirty="0"/>
          </a:p>
        </p:txBody>
      </p:sp>
      <p:sp>
        <p:nvSpPr>
          <p:cNvPr id="85" name="Text 83"/>
          <p:cNvSpPr txBox="1"/>
          <p:nvPr/>
        </p:nvSpPr>
        <p:spPr>
          <a:xfrm>
            <a:off x="7680960" y="50749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1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个人差距进发展计划，共性差距进组织培养。</a:t>
            </a:r>
            <a:endParaRPr lang="zh-CN" sz="1210" dirty="0"/>
          </a:p>
        </p:txBody>
      </p:sp>
      <p:sp>
        <p:nvSpPr>
          <p:cNvPr id="86" name="Text 84"/>
          <p:cNvSpPr txBox="1"/>
          <p:nvPr/>
        </p:nvSpPr>
        <p:spPr>
          <a:xfrm>
            <a:off x="8458200" y="62179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时代光华 · TALENT DEVELOPMENT</a:t>
            </a:r>
            <a:endParaRPr lang="zh-CN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00 · 全局视图 / BD × OD × TD × LD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从业务战略到组织、人才与学习的一体化链路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人才发展全局视图</a:t>
            </a:r>
            <a:endParaRPr lang="zh-CN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179576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战略定方向，组织定环境，人才定对象，学习定行动。</a:t>
            </a:r>
            <a:endParaRPr lang="zh-CN" sz="1230" dirty="0"/>
          </a:p>
        </p:txBody>
      </p:sp>
      <p:sp>
        <p:nvSpPr>
          <p:cNvPr id="7" name="Shape 5"/>
          <p:cNvSpPr/>
          <p:nvPr/>
        </p:nvSpPr>
        <p:spPr>
          <a:xfrm>
            <a:off x="594360" y="1792224"/>
            <a:ext cx="1078992" cy="987552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9751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BD</a:t>
            </a:r>
            <a:endParaRPr lang="zh-CN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27685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3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业务发展</a:t>
            </a:r>
            <a:endParaRPr lang="zh-CN" sz="1130" dirty="0"/>
          </a:p>
        </p:txBody>
      </p:sp>
      <p:sp>
        <p:nvSpPr>
          <p:cNvPr id="10" name="Shape 8"/>
          <p:cNvSpPr/>
          <p:nvPr/>
        </p:nvSpPr>
        <p:spPr>
          <a:xfrm>
            <a:off x="594360" y="2871216"/>
            <a:ext cx="1078992" cy="987552"/>
          </a:xfrm>
          <a:prstGeom prst="rect">
            <a:avLst/>
          </a:prstGeom>
          <a:solidFill>
            <a:srgbClr val="E7F1F0"/>
          </a:solidFill>
          <a:ln w="6350">
            <a:solidFill>
              <a:srgbClr val="E7F1F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30540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155E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OD</a:t>
            </a:r>
            <a:endParaRPr lang="zh-CN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33558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30" b="1" dirty="0">
                <a:solidFill>
                  <a:srgbClr val="155E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组织发展</a:t>
            </a:r>
            <a:endParaRPr lang="zh-CN" sz="1130" dirty="0"/>
          </a:p>
        </p:txBody>
      </p:sp>
      <p:sp>
        <p:nvSpPr>
          <p:cNvPr id="13" name="Shape 11"/>
          <p:cNvSpPr/>
          <p:nvPr/>
        </p:nvSpPr>
        <p:spPr>
          <a:xfrm>
            <a:off x="594360" y="3950208"/>
            <a:ext cx="1078992" cy="1170432"/>
          </a:xfrm>
          <a:prstGeom prst="rect">
            <a:avLst/>
          </a:prstGeom>
          <a:solidFill>
            <a:srgbClr val="EEF3E8"/>
          </a:solidFill>
          <a:ln w="6350">
            <a:solidFill>
              <a:srgbClr val="EEF3E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13308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4465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TD</a:t>
            </a:r>
            <a:endParaRPr lang="zh-CN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44348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30" b="1" dirty="0">
                <a:solidFill>
                  <a:srgbClr val="4465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人才发展</a:t>
            </a:r>
            <a:endParaRPr lang="zh-CN" sz="1130" dirty="0"/>
          </a:p>
        </p:txBody>
      </p:sp>
      <p:sp>
        <p:nvSpPr>
          <p:cNvPr id="16" name="Shape 14"/>
          <p:cNvSpPr/>
          <p:nvPr/>
        </p:nvSpPr>
        <p:spPr>
          <a:xfrm>
            <a:off x="594360" y="5212080"/>
            <a:ext cx="1078992" cy="987552"/>
          </a:xfrm>
          <a:prstGeom prst="rect">
            <a:avLst/>
          </a:prstGeom>
          <a:solidFill>
            <a:srgbClr val="F6ECE4"/>
          </a:solidFill>
          <a:ln w="6350">
            <a:solidFill>
              <a:srgbClr val="F6ECE4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39496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8B4A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LD</a:t>
            </a:r>
            <a:endParaRPr lang="zh-CN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56967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30" b="1" dirty="0">
                <a:solidFill>
                  <a:srgbClr val="8B4A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学习发展</a:t>
            </a:r>
            <a:endParaRPr lang="zh-CN" sz="1130" dirty="0"/>
          </a:p>
        </p:txBody>
      </p:sp>
      <p:sp>
        <p:nvSpPr>
          <p:cNvPr id="19" name="Shape 17"/>
          <p:cNvSpPr/>
          <p:nvPr/>
        </p:nvSpPr>
        <p:spPr>
          <a:xfrm>
            <a:off x="1874520" y="1792224"/>
            <a:ext cx="9720072" cy="98755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03120" y="199339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542032" y="19293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业务盘点</a:t>
            </a:r>
            <a:endParaRPr lang="zh-CN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19476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看清现状</a:t>
            </a:r>
            <a:endParaRPr lang="zh-CN" sz="1020" dirty="0"/>
          </a:p>
        </p:txBody>
      </p:sp>
      <p:sp>
        <p:nvSpPr>
          <p:cNvPr id="23" name="Shape 21"/>
          <p:cNvSpPr/>
          <p:nvPr/>
        </p:nvSpPr>
        <p:spPr>
          <a:xfrm>
            <a:off x="4873752" y="2267712"/>
            <a:ext cx="283464" cy="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257800" y="199339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696712" y="19293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战略规划</a:t>
            </a:r>
            <a:endParaRPr lang="zh-CN" sz="132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19476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明确方向</a:t>
            </a:r>
            <a:endParaRPr lang="zh-CN" sz="1020" dirty="0"/>
          </a:p>
        </p:txBody>
      </p:sp>
      <p:sp>
        <p:nvSpPr>
          <p:cNvPr id="27" name="Shape 25"/>
          <p:cNvSpPr/>
          <p:nvPr/>
        </p:nvSpPr>
        <p:spPr>
          <a:xfrm>
            <a:off x="8028432" y="2267712"/>
            <a:ext cx="283464" cy="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412480" y="199339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851392" y="19293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战略解码</a:t>
            </a:r>
            <a:endParaRPr lang="zh-CN" sz="132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19476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2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转为组织任务</a:t>
            </a:r>
            <a:endParaRPr lang="zh-CN" sz="1020" dirty="0"/>
          </a:p>
        </p:txBody>
      </p:sp>
      <p:sp>
        <p:nvSpPr>
          <p:cNvPr id="31" name="Shape 29"/>
          <p:cNvSpPr/>
          <p:nvPr/>
        </p:nvSpPr>
        <p:spPr>
          <a:xfrm>
            <a:off x="2103120" y="2395728"/>
            <a:ext cx="9262872" cy="201168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58568" y="2423160"/>
            <a:ext cx="8951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业务方向向下解码，组织与人才发展反向支撑业务结果</a:t>
            </a:r>
            <a:endParaRPr lang="zh-CN" sz="850" dirty="0"/>
          </a:p>
        </p:txBody>
      </p:sp>
      <p:sp>
        <p:nvSpPr>
          <p:cNvPr id="33" name="Shape 31"/>
          <p:cNvSpPr/>
          <p:nvPr/>
        </p:nvSpPr>
        <p:spPr>
          <a:xfrm>
            <a:off x="1874520" y="2871216"/>
            <a:ext cx="3154680" cy="98755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75688" y="312724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组织结构与机制</a:t>
            </a:r>
            <a:endParaRPr lang="zh-CN" sz="1320" dirty="0"/>
          </a:p>
        </p:txBody>
      </p:sp>
      <p:sp>
        <p:nvSpPr>
          <p:cNvPr id="35" name="Text 33"/>
          <p:cNvSpPr txBox="1"/>
          <p:nvPr/>
        </p:nvSpPr>
        <p:spPr>
          <a:xfrm>
            <a:off x="2075688" y="3465576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STRUCTURE</a:t>
            </a:r>
            <a:endParaRPr lang="zh-CN" sz="850" dirty="0"/>
          </a:p>
        </p:txBody>
      </p:sp>
      <p:sp>
        <p:nvSpPr>
          <p:cNvPr id="36" name="Shape 34"/>
          <p:cNvSpPr/>
          <p:nvPr/>
        </p:nvSpPr>
        <p:spPr>
          <a:xfrm>
            <a:off x="5148072" y="2871216"/>
            <a:ext cx="3154680" cy="987552"/>
          </a:xfrm>
          <a:prstGeom prst="rect">
            <a:avLst/>
          </a:prstGeom>
          <a:solidFill>
            <a:srgbClr val="E8EDFF"/>
          </a:solidFill>
          <a:ln w="12700">
            <a:solidFill>
              <a:srgbClr val="002FA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49240" y="312724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目标与绩效</a:t>
            </a:r>
            <a:endParaRPr lang="zh-CN" sz="1320" dirty="0"/>
          </a:p>
        </p:txBody>
      </p:sp>
      <p:sp>
        <p:nvSpPr>
          <p:cNvPr id="38" name="Text 36"/>
          <p:cNvSpPr txBox="1"/>
          <p:nvPr/>
        </p:nvSpPr>
        <p:spPr>
          <a:xfrm>
            <a:off x="5349240" y="3465576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OBJECT</a:t>
            </a:r>
            <a:endParaRPr lang="zh-CN" sz="850" dirty="0"/>
          </a:p>
        </p:txBody>
      </p:sp>
      <p:sp>
        <p:nvSpPr>
          <p:cNvPr id="39" name="Shape 37"/>
          <p:cNvSpPr/>
          <p:nvPr/>
        </p:nvSpPr>
        <p:spPr>
          <a:xfrm>
            <a:off x="8421624" y="2871216"/>
            <a:ext cx="3154680" cy="987552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22792" y="312724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文化与氛围</a:t>
            </a:r>
            <a:endParaRPr lang="zh-CN" sz="1320" dirty="0"/>
          </a:p>
        </p:txBody>
      </p:sp>
      <p:sp>
        <p:nvSpPr>
          <p:cNvPr id="41" name="Text 39"/>
          <p:cNvSpPr txBox="1"/>
          <p:nvPr/>
        </p:nvSpPr>
        <p:spPr>
          <a:xfrm>
            <a:off x="8622792" y="3465576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CULTURE</a:t>
            </a:r>
            <a:endParaRPr lang="zh-CN" sz="850" dirty="0"/>
          </a:p>
        </p:txBody>
      </p:sp>
      <p:sp>
        <p:nvSpPr>
          <p:cNvPr id="42" name="Shape 40"/>
          <p:cNvSpPr/>
          <p:nvPr/>
        </p:nvSpPr>
        <p:spPr>
          <a:xfrm>
            <a:off x="1874520" y="3950208"/>
            <a:ext cx="3154680" cy="283464"/>
          </a:xfrm>
          <a:prstGeom prst="rect">
            <a:avLst/>
          </a:prstGeom>
          <a:solidFill>
            <a:srgbClr val="EEF3E8"/>
          </a:solidFill>
          <a:ln w="6350">
            <a:solidFill>
              <a:srgbClr val="EEF3E8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011680" y="400507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4465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DEFINE · 定标准</a:t>
            </a:r>
            <a:endParaRPr lang="zh-CN" sz="850" dirty="0"/>
          </a:p>
        </p:txBody>
      </p:sp>
      <p:sp>
        <p:nvSpPr>
          <p:cNvPr id="44" name="Shape 42"/>
          <p:cNvSpPr/>
          <p:nvPr/>
        </p:nvSpPr>
        <p:spPr>
          <a:xfrm>
            <a:off x="5148072" y="3950208"/>
            <a:ext cx="3154680" cy="283464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285232" y="400507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DISCOVER · 识人才</a:t>
            </a:r>
            <a:endParaRPr lang="zh-CN" sz="850" dirty="0"/>
          </a:p>
        </p:txBody>
      </p:sp>
      <p:sp>
        <p:nvSpPr>
          <p:cNvPr id="46" name="Shape 44"/>
          <p:cNvSpPr/>
          <p:nvPr/>
        </p:nvSpPr>
        <p:spPr>
          <a:xfrm>
            <a:off x="8421624" y="3950208"/>
            <a:ext cx="3154680" cy="283464"/>
          </a:xfrm>
          <a:prstGeom prst="rect">
            <a:avLst/>
          </a:prstGeom>
          <a:solidFill>
            <a:srgbClr val="EEF3E8"/>
          </a:solidFill>
          <a:ln w="6350">
            <a:solidFill>
              <a:srgbClr val="EEF3E8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58784" y="400507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4465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DRIVE · 促发展</a:t>
            </a:r>
            <a:endParaRPr lang="zh-CN" sz="850" dirty="0"/>
          </a:p>
        </p:txBody>
      </p:sp>
      <p:sp>
        <p:nvSpPr>
          <p:cNvPr id="48" name="Shape 46"/>
          <p:cNvSpPr/>
          <p:nvPr/>
        </p:nvSpPr>
        <p:spPr>
          <a:xfrm>
            <a:off x="1874520" y="4315968"/>
            <a:ext cx="3154680" cy="32004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011680" y="4389120"/>
            <a:ext cx="17007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0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 / 关键岗位分析</a:t>
            </a:r>
            <a:endParaRPr lang="zh-CN" sz="1020" dirty="0"/>
          </a:p>
        </p:txBody>
      </p:sp>
      <p:sp>
        <p:nvSpPr>
          <p:cNvPr id="50" name="Text 48"/>
          <p:cNvSpPr txBox="1"/>
          <p:nvPr/>
        </p:nvSpPr>
        <p:spPr>
          <a:xfrm>
            <a:off x="3584448" y="4389120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确定优先范围</a:t>
            </a:r>
            <a:endParaRPr lang="zh-CN" sz="850" dirty="0"/>
          </a:p>
        </p:txBody>
      </p:sp>
      <p:sp>
        <p:nvSpPr>
          <p:cNvPr id="51" name="Shape 49"/>
          <p:cNvSpPr/>
          <p:nvPr/>
        </p:nvSpPr>
        <p:spPr>
          <a:xfrm>
            <a:off x="1874520" y="4709160"/>
            <a:ext cx="3154680" cy="32004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011680" y="4782312"/>
            <a:ext cx="17007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0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岗位标准</a:t>
            </a:r>
            <a:endParaRPr lang="zh-CN" sz="1020" dirty="0"/>
          </a:p>
        </p:txBody>
      </p:sp>
      <p:sp>
        <p:nvSpPr>
          <p:cNvPr id="53" name="Text 51"/>
          <p:cNvSpPr txBox="1"/>
          <p:nvPr/>
        </p:nvSpPr>
        <p:spPr>
          <a:xfrm>
            <a:off x="3584448" y="4782312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建立统一尺子</a:t>
            </a:r>
            <a:endParaRPr lang="zh-CN" sz="850" dirty="0"/>
          </a:p>
        </p:txBody>
      </p:sp>
      <p:sp>
        <p:nvSpPr>
          <p:cNvPr id="54" name="Shape 52"/>
          <p:cNvSpPr/>
          <p:nvPr/>
        </p:nvSpPr>
        <p:spPr>
          <a:xfrm>
            <a:off x="5148072" y="4315968"/>
            <a:ext cx="3154680" cy="32004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285232" y="4389120"/>
            <a:ext cx="17007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0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评鉴工具</a:t>
            </a:r>
            <a:endParaRPr lang="zh-CN" sz="1020" dirty="0"/>
          </a:p>
        </p:txBody>
      </p:sp>
      <p:sp>
        <p:nvSpPr>
          <p:cNvPr id="56" name="Text 54"/>
          <p:cNvSpPr txBox="1"/>
          <p:nvPr/>
        </p:nvSpPr>
        <p:spPr>
          <a:xfrm>
            <a:off x="6858000" y="4389120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收集能力、动力、潜力</a:t>
            </a:r>
            <a:endParaRPr lang="zh-CN" sz="850" dirty="0"/>
          </a:p>
        </p:txBody>
      </p:sp>
      <p:sp>
        <p:nvSpPr>
          <p:cNvPr id="57" name="Shape 55"/>
          <p:cNvSpPr/>
          <p:nvPr/>
        </p:nvSpPr>
        <p:spPr>
          <a:xfrm>
            <a:off x="5148072" y="4709160"/>
            <a:ext cx="3154680" cy="32004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285232" y="4782312"/>
            <a:ext cx="17007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0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人才盘点</a:t>
            </a:r>
            <a:endParaRPr lang="zh-CN" sz="1020" dirty="0"/>
          </a:p>
        </p:txBody>
      </p:sp>
      <p:sp>
        <p:nvSpPr>
          <p:cNvPr id="59" name="Text 57"/>
          <p:cNvSpPr txBox="1"/>
          <p:nvPr/>
        </p:nvSpPr>
        <p:spPr>
          <a:xfrm>
            <a:off x="6858000" y="4782312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看清群体与个人</a:t>
            </a:r>
            <a:endParaRPr lang="zh-CN" sz="850" dirty="0"/>
          </a:p>
        </p:txBody>
      </p:sp>
      <p:sp>
        <p:nvSpPr>
          <p:cNvPr id="60" name="Shape 58"/>
          <p:cNvSpPr/>
          <p:nvPr/>
        </p:nvSpPr>
        <p:spPr>
          <a:xfrm>
            <a:off x="8421624" y="4315968"/>
            <a:ext cx="3154680" cy="32004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558784" y="4389120"/>
            <a:ext cx="17007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0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人岗匹配</a:t>
            </a:r>
            <a:endParaRPr lang="zh-CN" sz="1020" dirty="0"/>
          </a:p>
        </p:txBody>
      </p:sp>
      <p:sp>
        <p:nvSpPr>
          <p:cNvPr id="62" name="Text 60"/>
          <p:cNvSpPr txBox="1"/>
          <p:nvPr/>
        </p:nvSpPr>
        <p:spPr>
          <a:xfrm>
            <a:off x="10131552" y="4389120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识别差距</a:t>
            </a:r>
            <a:endParaRPr lang="zh-CN" sz="850" dirty="0"/>
          </a:p>
        </p:txBody>
      </p:sp>
      <p:sp>
        <p:nvSpPr>
          <p:cNvPr id="63" name="Shape 61"/>
          <p:cNvSpPr/>
          <p:nvPr/>
        </p:nvSpPr>
        <p:spPr>
          <a:xfrm>
            <a:off x="8421624" y="4709160"/>
            <a:ext cx="3154680" cy="320040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558784" y="4782312"/>
            <a:ext cx="17007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0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个人 IDP / 组织培养</a:t>
            </a:r>
            <a:endParaRPr lang="zh-CN" sz="1020" dirty="0"/>
          </a:p>
        </p:txBody>
      </p:sp>
      <p:sp>
        <p:nvSpPr>
          <p:cNvPr id="65" name="Text 63"/>
          <p:cNvSpPr txBox="1"/>
          <p:nvPr/>
        </p:nvSpPr>
        <p:spPr>
          <a:xfrm>
            <a:off x="10131552" y="4782312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85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把差距变成行动</a:t>
            </a:r>
            <a:endParaRPr lang="zh-CN" sz="850" dirty="0"/>
          </a:p>
        </p:txBody>
      </p:sp>
      <p:sp>
        <p:nvSpPr>
          <p:cNvPr id="66" name="Shape 64"/>
          <p:cNvSpPr/>
          <p:nvPr/>
        </p:nvSpPr>
        <p:spPr>
          <a:xfrm>
            <a:off x="5029200" y="4480560"/>
            <a:ext cx="118872" cy="0"/>
          </a:xfrm>
          <a:prstGeom prst="line">
            <a:avLst/>
          </a:prstGeom>
          <a:noFill/>
          <a:ln w="1270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8302752" y="4480560"/>
            <a:ext cx="118872" cy="0"/>
          </a:xfrm>
          <a:prstGeom prst="line">
            <a:avLst/>
          </a:prstGeom>
          <a:noFill/>
          <a:ln w="1270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2002536" y="53858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8B4A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CONDUCT · 学</a:t>
            </a:r>
            <a:endParaRPr lang="zh-CN" sz="850" dirty="0"/>
          </a:p>
        </p:txBody>
      </p:sp>
      <p:sp>
        <p:nvSpPr>
          <p:cNvPr id="69" name="Shape 67"/>
          <p:cNvSpPr/>
          <p:nvPr/>
        </p:nvSpPr>
        <p:spPr>
          <a:xfrm>
            <a:off x="1874520" y="5641848"/>
            <a:ext cx="3154680" cy="329184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039112" y="5715000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在线学习</a:t>
            </a:r>
            <a:endParaRPr lang="zh-CN" sz="1080" dirty="0"/>
          </a:p>
        </p:txBody>
      </p:sp>
      <p:sp>
        <p:nvSpPr>
          <p:cNvPr id="71" name="Shape 69"/>
          <p:cNvSpPr/>
          <p:nvPr/>
        </p:nvSpPr>
        <p:spPr>
          <a:xfrm>
            <a:off x="5029200" y="5806440"/>
            <a:ext cx="118872" cy="0"/>
          </a:xfrm>
          <a:prstGeom prst="line">
            <a:avLst/>
          </a:prstGeom>
          <a:noFill/>
          <a:ln w="11430">
            <a:solidFill>
              <a:srgbClr val="8B4A20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5276088" y="53858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8B4A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CONSTRUCT · 习</a:t>
            </a:r>
            <a:endParaRPr lang="zh-CN" sz="850" dirty="0"/>
          </a:p>
        </p:txBody>
      </p:sp>
      <p:sp>
        <p:nvSpPr>
          <p:cNvPr id="73" name="Shape 71"/>
          <p:cNvSpPr/>
          <p:nvPr/>
        </p:nvSpPr>
        <p:spPr>
          <a:xfrm>
            <a:off x="5148072" y="5641848"/>
            <a:ext cx="3154680" cy="329184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312664" y="5715000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陪练</a:t>
            </a:r>
            <a:endParaRPr lang="zh-CN" sz="1080" dirty="0"/>
          </a:p>
        </p:txBody>
      </p:sp>
      <p:sp>
        <p:nvSpPr>
          <p:cNvPr id="75" name="Shape 73"/>
          <p:cNvSpPr/>
          <p:nvPr/>
        </p:nvSpPr>
        <p:spPr>
          <a:xfrm>
            <a:off x="8302752" y="5806440"/>
            <a:ext cx="118872" cy="0"/>
          </a:xfrm>
          <a:prstGeom prst="line">
            <a:avLst/>
          </a:prstGeom>
          <a:noFill/>
          <a:ln w="11430">
            <a:solidFill>
              <a:srgbClr val="8B4A20"/>
            </a:solidFill>
            <a:prstDash val="solid"/>
            <a:tailEnd type="triangle"/>
          </a:ln>
        </p:spPr>
      </p:sp>
      <p:sp>
        <p:nvSpPr>
          <p:cNvPr id="76" name="Text 74"/>
          <p:cNvSpPr txBox="1"/>
          <p:nvPr/>
        </p:nvSpPr>
        <p:spPr>
          <a:xfrm>
            <a:off x="8549640" y="53858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8B4A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CONVERT · 变</a:t>
            </a:r>
            <a:endParaRPr lang="zh-CN" sz="850" dirty="0"/>
          </a:p>
        </p:txBody>
      </p:sp>
      <p:sp>
        <p:nvSpPr>
          <p:cNvPr id="77" name="Shape 75"/>
          <p:cNvSpPr/>
          <p:nvPr/>
        </p:nvSpPr>
        <p:spPr>
          <a:xfrm>
            <a:off x="8421624" y="5641848"/>
            <a:ext cx="3154680" cy="329184"/>
          </a:xfrm>
          <a:prstGeom prst="rect">
            <a:avLst/>
          </a:prstGeom>
          <a:solidFill>
            <a:srgbClr val="FFFFFF"/>
          </a:solidFill>
          <a:ln w="6985">
            <a:solidFill>
              <a:srgbClr val="D4D4D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586216" y="5715000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行动学习</a:t>
            </a:r>
            <a:endParaRPr lang="zh-CN" sz="1080" dirty="0"/>
          </a:p>
        </p:txBody>
      </p:sp>
      <p:sp>
        <p:nvSpPr>
          <p:cNvPr id="79" name="Shape 77"/>
          <p:cNvSpPr/>
          <p:nvPr/>
        </p:nvSpPr>
        <p:spPr>
          <a:xfrm>
            <a:off x="1874520" y="6025896"/>
            <a:ext cx="9720072" cy="228600"/>
          </a:xfrm>
          <a:prstGeom prst="rect">
            <a:avLst/>
          </a:prstGeom>
          <a:solidFill>
            <a:srgbClr val="F6ECE4"/>
          </a:solidFill>
          <a:ln w="6350">
            <a:solidFill>
              <a:srgbClr val="F6ECE4">
                <a:alpha val="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057400" y="6053328"/>
            <a:ext cx="9354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15" kern="0" dirty="0">
                <a:solidFill>
                  <a:srgbClr val="8B4A2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数字化培训管理 · 承接个人与组织培养任务</a:t>
            </a:r>
            <a:endParaRPr lang="zh-CN" sz="850" dirty="0"/>
          </a:p>
        </p:txBody>
      </p:sp>
      <p:sp>
        <p:nvSpPr>
          <p:cNvPr id="81" name="Shape 79"/>
          <p:cNvSpPr/>
          <p:nvPr/>
        </p:nvSpPr>
        <p:spPr>
          <a:xfrm>
            <a:off x="6693408" y="2615184"/>
            <a:ext cx="0" cy="274320"/>
          </a:xfrm>
          <a:prstGeom prst="line">
            <a:avLst/>
          </a:prstGeom>
          <a:noFill/>
          <a:ln w="13335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6693408" y="3849624"/>
            <a:ext cx="0" cy="100584"/>
          </a:xfrm>
          <a:prstGeom prst="line">
            <a:avLst/>
          </a:prstGeom>
          <a:noFill/>
          <a:ln w="13335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6693408" y="5111496"/>
            <a:ext cx="0" cy="100584"/>
          </a:xfrm>
          <a:prstGeom prst="line">
            <a:avLst/>
          </a:prstGeom>
          <a:noFill/>
          <a:ln w="13335">
            <a:solidFill>
              <a:srgbClr val="002FA7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时代光华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海格汽车人才发展方案</dc:title>
  <dc:subject>从组织宏观视角开展企业人才发展</dc:subject>
  <dc:creator>时代光华</dc:creator>
  <cp:lastModifiedBy>时代光华</cp:lastModifiedBy>
  <cp:revision>1</cp:revision>
  <dcterms:created xsi:type="dcterms:W3CDTF">2026-08-27T16:31:18Z</dcterms:created>
  <dcterms:modified xsi:type="dcterms:W3CDTF">2026-08-27T16:31:18Z</dcterms:modified>
</cp:coreProperties>
</file>