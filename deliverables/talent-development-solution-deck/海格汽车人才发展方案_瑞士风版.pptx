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18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客户问的是时代光华怎么做人才发展。我们的回答先从组织和关键岗位开始，再进入岗位标准、人才盘点、人岗匹配和发展安排。
今天不按系统菜单逐个介绍，直接沿着一轮业务工作往下讲。
接下来：先看人才发展为什么要从组织分析开始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我们先从 OD 开始。系统先看组织结构、岗位分布和关键岗位，帮助业务判断这一轮人才发展先做哪里。
组织分析不需要讲得很学术。它解决的是两个实际问题：组织上哪里需要调整，哪些岗位最值得优先投入。
范围确定以后，再进入 TD，开始建岗位标准和盘点人才。
接下来：看完整的一轮人才发展怎么跑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一轮人才发展可以拆成六步。先从组织分析里找到关键岗位，再建岗位标准。
标准定下来后，用 360、考试、人才测评和绩效收集人才数据。接着做人才盘点和人岗匹配。
最后把个人差距变成个人发展安排，把多人共有的差距变成组织培养项目。
接下来：先看岗位标准是怎么建出来的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岗位标准是整套人才发展的尺子。我们把它分成任职和资格两部分。任职回答岗位做什么，包含职责和任务；资格回答凭什么胜任，包含经历、能力、动力和潜力。
系统读取岗位说明书、组织信息和已有指标，先生成一版初稿。业务负责人可以删改内容、调整要求等级，确认后保存。
这套标准会继续用于评鉴、盘点、人岗匹配和培养。
接下来：标准有了，下一步准备人才数据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岗位标准定下来以后，要把人才数据准备好。能力表现可以来自 360，知识和技能结果可以来自考试，动力和潜力可以来自人才测评。人员信息、岗位经历和绩效一起带进来。
系统按本次项目选人、选择已完成的评鉴结果，再进入盘点。这样不需要每次重新整理多张表。
接下来：数据准备好以后，用两种方式做人才盘点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平台提供两种盘点方法。宫格盘点常用九宫格，用能力和绩效看每个人落在哪里，适合做名单校准和用人讨论。
人才图谱把人员、绩效、能力、动力和潜力放在一起，适合看群体分布、变量关系和 A/B/C/D 分组。
两种方法解决的问题不同，可以按这次盘点的目的来选。
接下来：盘点结果出来后，再看人和目标岗位是否匹配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人岗匹配把岗位要求和人的现状放到一起。先选目标岗位，系统读取这套岗位标准，再带入个人最新的评鉴和盘点结果。
页面既看整体匹配，也看每一项差距。业务需要在几名候选人里做选择时，可以把 2 至 5 人放在一起比较。
最后要回答的是谁更合适、差在哪里、下一步补什么。
接下来：个人差距确认后，直接形成个人发展安排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个人差距确认后，系统形成个人发展安排。先选这段时间最需要解决的问题，再安排课程、项目、岗位实践或经理辅导。
每项动作都写清负责人、时间和检查方式。员工、经理和 HR 在同一个地方跟进。
新的评估结果出来以后，继续更新个人档案，下一次匹配和盘点可以直接用。
接下来：多人出现同一问题时，转成组织培养计划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如果很多人都有同一个能力问题，就不需要每个人单独做一套。系统先汇总共性差距，再按岗位确定培养目标。
发展中心把课程、项目和岗位实践关联到岗位学习计划，培训平台负责执行。前测、后测和新的评估结果再回到人才档案。
这样组织发展和个人发展是两条清楚的路径：共性问题做组织培养，个人问题进个人发展计划。
接下来：最后把所有模块串成一条数据链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整套方案能串起来，关键是前一步的结果会被下一步直接使用。组织分析确定范围，岗位标准确定判断尺子，评鉴结果进入人才盘点。
盘点和人岗匹配看清群体与个人差距，发展中心据此安排个人和组织培养。培养后的结果继续更新人才档案。
这样下一轮不需要从头再收数据。
接下来：收住这套方案最终解决的三个问题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这套方案最后解决三件事。第一，先知道哪些岗位最值得投入。第二，用同一套标准看清哪些人才更合适、差在哪里。第三，把差距变成个人发展安排或组织培养。
客户如果要继续往下讨论，我们可以从首期组织范围、关键岗位和盘点人群开始。
接下来：进入首期范围和项目安排讨论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79792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18704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57616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0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74352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13264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52176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91088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8120" y="1005840"/>
            <a:ext cx="45720" cy="45720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7032" y="1005840"/>
            <a:ext cx="45720" cy="45720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95944" y="1005840"/>
            <a:ext cx="45720" cy="45720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34856" y="1005840"/>
            <a:ext cx="45720" cy="45720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73768" y="1005840"/>
            <a:ext cx="45720" cy="45720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12680" y="1005840"/>
            <a:ext cx="45720" cy="45720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51592" y="1005840"/>
            <a:ext cx="45720" cy="45720"/>
          </a:xfrm>
          <a:prstGeom prst="rect">
            <a:avLst/>
          </a:prstGeom>
          <a:solidFill>
            <a:srgbClr val="FFFFFF">
              <a:alpha val="5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90504" y="1005840"/>
            <a:ext cx="45720" cy="45720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18120" y="1444752"/>
            <a:ext cx="45720" cy="45720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7032" y="1444752"/>
            <a:ext cx="45720" cy="45720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95944" y="1444752"/>
            <a:ext cx="45720" cy="45720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856" y="1444752"/>
            <a:ext cx="45720" cy="45720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1444752"/>
            <a:ext cx="45720" cy="45720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12680" y="1444752"/>
            <a:ext cx="45720" cy="45720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51592" y="1444752"/>
            <a:ext cx="45720" cy="45720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90504" y="1444752"/>
            <a:ext cx="45720" cy="45720"/>
          </a:xfrm>
          <a:prstGeom prst="rect">
            <a:avLst/>
          </a:prstGeom>
          <a:solidFill>
            <a:srgbClr val="FFFFFF">
              <a:alpha val="3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8120" y="1883664"/>
            <a:ext cx="45720" cy="45720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57032" y="1883664"/>
            <a:ext cx="45720" cy="45720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95944" y="1883664"/>
            <a:ext cx="45720" cy="45720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34856" y="1883664"/>
            <a:ext cx="45720" cy="45720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73768" y="1883664"/>
            <a:ext cx="45720" cy="45720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12680" y="1883664"/>
            <a:ext cx="45720" cy="45720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51592" y="1883664"/>
            <a:ext cx="45720" cy="45720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890504" y="1883664"/>
            <a:ext cx="45720" cy="45720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18120" y="2322576"/>
            <a:ext cx="45720" cy="45720"/>
          </a:xfrm>
          <a:prstGeom prst="rect">
            <a:avLst/>
          </a:prstGeom>
          <a:solidFill>
            <a:srgbClr val="FFFFFF">
              <a:alpha val="2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57032" y="2322576"/>
            <a:ext cx="45720" cy="45720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95944" y="2322576"/>
            <a:ext cx="45720" cy="45720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34856" y="2322576"/>
            <a:ext cx="45720" cy="45720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573768" y="2322576"/>
            <a:ext cx="45720" cy="45720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12680" y="2322576"/>
            <a:ext cx="45720" cy="45720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51592" y="2322576"/>
            <a:ext cx="45720" cy="45720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90504" y="2322576"/>
            <a:ext cx="45720" cy="45720"/>
          </a:xfrm>
          <a:prstGeom prst="rect">
            <a:avLst/>
          </a:prstGeom>
          <a:solidFill>
            <a:srgbClr val="FFFFFF">
              <a:alpha val="5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18120" y="2761488"/>
            <a:ext cx="45720" cy="45720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57032" y="2761488"/>
            <a:ext cx="45720" cy="45720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95944" y="2761488"/>
            <a:ext cx="45720" cy="45720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34856" y="2761488"/>
            <a:ext cx="45720" cy="45720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573768" y="2761488"/>
            <a:ext cx="45720" cy="45720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012680" y="2761488"/>
            <a:ext cx="45720" cy="45720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451592" y="2761488"/>
            <a:ext cx="45720" cy="45720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890504" y="2761488"/>
            <a:ext cx="45720" cy="45720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18120" y="3200400"/>
            <a:ext cx="45720" cy="45720"/>
          </a:xfrm>
          <a:prstGeom prst="rect">
            <a:avLst/>
          </a:prstGeom>
          <a:solidFill>
            <a:srgbClr val="FFFFFF">
              <a:alpha val="4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57032" y="3200400"/>
            <a:ext cx="45720" cy="45720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695944" y="3200400"/>
            <a:ext cx="45720" cy="45720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134856" y="3200400"/>
            <a:ext cx="45720" cy="45720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573768" y="3200400"/>
            <a:ext cx="45720" cy="45720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012680" y="3200400"/>
            <a:ext cx="45720" cy="45720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451592" y="3200400"/>
            <a:ext cx="45720" cy="45720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890504" y="3200400"/>
            <a:ext cx="45720" cy="45720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18120" y="3639312"/>
            <a:ext cx="45720" cy="45720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57032" y="3639312"/>
            <a:ext cx="45720" cy="45720"/>
          </a:xfrm>
          <a:prstGeom prst="rect">
            <a:avLst/>
          </a:prstGeom>
          <a:solidFill>
            <a:srgbClr val="FFFFFF">
              <a:alpha val="2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95944" y="3639312"/>
            <a:ext cx="45720" cy="45720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34856" y="3639312"/>
            <a:ext cx="45720" cy="45720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73768" y="3639312"/>
            <a:ext cx="45720" cy="45720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012680" y="3639312"/>
            <a:ext cx="45720" cy="45720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51592" y="3639312"/>
            <a:ext cx="45720" cy="45720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890504" y="3639312"/>
            <a:ext cx="45720" cy="45720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818120" y="4078224"/>
            <a:ext cx="45720" cy="45720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57032" y="4078224"/>
            <a:ext cx="45720" cy="45720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95944" y="4078224"/>
            <a:ext cx="45720" cy="45720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134856" y="4078224"/>
            <a:ext cx="45720" cy="45720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73768" y="4078224"/>
            <a:ext cx="45720" cy="45720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012680" y="4078224"/>
            <a:ext cx="45720" cy="45720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451592" y="4078224"/>
            <a:ext cx="45720" cy="45720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890504" y="4078224"/>
            <a:ext cx="45720" cy="45720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94360" y="3840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海格汽车 · 人才发展方案</a:t>
            </a:r>
            <a:endParaRPr lang="zh-CN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9646920" y="38404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SS · 26.08.28 · 01 / 12</a:t>
            </a:r>
            <a:endParaRPr lang="zh-CN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10515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时代光华人才发展体系</a:t>
            </a:r>
            <a:endParaRPr lang="zh-CN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94360" y="1572768"/>
            <a:ext cx="6446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8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从组织宏观视角</a:t>
            </a:r>
            <a:endParaRPr lang="zh-CN" sz="4800" dirty="0"/>
          </a:p>
          <a:p>
            <a:pPr algn="l" indent="0" marL="0">
              <a:buNone/>
            </a:pPr>
            <a:r>
              <a:rPr lang="zh-CN" altLang="en-US" sz="48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开展企业人才发展</a:t>
            </a:r>
            <a:endParaRPr lang="zh-CN" sz="4800" dirty="0"/>
          </a:p>
        </p:txBody>
      </p:sp>
      <p:sp>
        <p:nvSpPr>
          <p:cNvPr id="81" name="Shape 79"/>
          <p:cNvSpPr/>
          <p:nvPr/>
        </p:nvSpPr>
        <p:spPr>
          <a:xfrm>
            <a:off x="594360" y="5102352"/>
            <a:ext cx="1100023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94360" y="5340096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5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从组织和关键岗位出发，把标准、盘点、匹配和培养接起来。</a:t>
            </a:r>
            <a:endParaRPr lang="zh-CN" sz="1750" dirty="0"/>
          </a:p>
        </p:txBody>
      </p:sp>
      <p:sp>
        <p:nvSpPr>
          <p:cNvPr id="83" name="Text 81"/>
          <p:cNvSpPr txBox="1"/>
          <p:nvPr/>
        </p:nvSpPr>
        <p:spPr>
          <a:xfrm>
            <a:off x="594360" y="61447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组织分析 · 岗位标准 · 人才盘点 · 人岗匹配 · 发展计划</a:t>
            </a:r>
            <a:endParaRPr lang="zh-CN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8366760" y="614476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 · 组织视角 / OD 是人才发展的起点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先看组织，再决定人才工作从哪里开始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5212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1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人才发展，先从</a:t>
            </a:r>
            <a:endParaRPr lang="zh-CN" sz="3100" dirty="0"/>
          </a:p>
          <a:p>
            <a:pPr algn="l" indent="0" marL="0">
              <a:buNone/>
            </a:pPr>
            <a:r>
              <a:rPr lang="zh-CN" altLang="en-US" sz="31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组织问题开始</a:t>
            </a:r>
            <a:endParaRPr lang="zh-CN" sz="3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组织结构是否合理、哪些岗位最关键，先把这两件事看清楚。</a:t>
            </a:r>
            <a:endParaRPr lang="zh-CN" sz="138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974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1518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看组织结构</a:t>
            </a:r>
            <a:endParaRPr lang="zh-CN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1518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部门、层级和岗位分布有没有明显问题。</a:t>
            </a:r>
            <a:endParaRPr lang="zh-CN" sz="1180" dirty="0"/>
          </a:p>
        </p:txBody>
      </p:sp>
      <p:sp>
        <p:nvSpPr>
          <p:cNvPr id="10" name="Shape 8"/>
          <p:cNvSpPr/>
          <p:nvPr/>
        </p:nvSpPr>
        <p:spPr>
          <a:xfrm>
            <a:off x="594360" y="3145536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4107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3284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诊断关键岗位</a:t>
            </a:r>
            <a:endParaRPr lang="zh-CN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332841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哪些岗位直接影响当前业务，要先做。</a:t>
            </a:r>
            <a:endParaRPr lang="zh-CN" sz="1180" dirty="0"/>
          </a:p>
        </p:txBody>
      </p:sp>
      <p:sp>
        <p:nvSpPr>
          <p:cNvPr id="14" name="Shape 12"/>
          <p:cNvSpPr/>
          <p:nvPr/>
        </p:nvSpPr>
        <p:spPr>
          <a:xfrm>
            <a:off x="594360" y="3858768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0416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确定优先范围</a:t>
            </a:r>
            <a:endParaRPr lang="zh-CN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404164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把有限精力放在最需要的人和岗位上。</a:t>
            </a:r>
            <a:endParaRPr lang="zh-CN" sz="1180" dirty="0"/>
          </a:p>
        </p:txBody>
      </p:sp>
      <p:sp>
        <p:nvSpPr>
          <p:cNvPr id="18" name="Shape 16"/>
          <p:cNvSpPr/>
          <p:nvPr/>
        </p:nvSpPr>
        <p:spPr>
          <a:xfrm>
            <a:off x="594360" y="4572000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483717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754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进入人才发展</a:t>
            </a:r>
            <a:endParaRPr lang="zh-CN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7548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再开始建标准、盘点和培养。</a:t>
            </a:r>
            <a:endParaRPr lang="zh-CN" sz="1180" dirty="0"/>
          </a:p>
        </p:txBody>
      </p:sp>
      <p:sp>
        <p:nvSpPr>
          <p:cNvPr id="22" name="Shape 20"/>
          <p:cNvSpPr/>
          <p:nvPr/>
        </p:nvSpPr>
        <p:spPr>
          <a:xfrm>
            <a:off x="594360" y="5285232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1115568"/>
            <a:ext cx="5605272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190488" y="1316736"/>
            <a:ext cx="5202936" cy="3986784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0488" y="5303520"/>
            <a:ext cx="5202936" cy="-3986784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0216" y="1426464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9944" y="150876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92608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组织结构分析 / 关键岗位诊断页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49300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  <p:sp>
        <p:nvSpPr>
          <p:cNvPr id="30" name="Shape 28"/>
          <p:cNvSpPr/>
          <p:nvPr/>
        </p:nvSpPr>
        <p:spPr>
          <a:xfrm>
            <a:off x="594360" y="5806440"/>
            <a:ext cx="2596896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2376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BD · 业务发展</a:t>
            </a:r>
            <a:endParaRPr lang="zh-CN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92808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业务方向</a:t>
            </a:r>
            <a:endParaRPr lang="zh-CN" sz="980" dirty="0"/>
          </a:p>
        </p:txBody>
      </p:sp>
      <p:sp>
        <p:nvSpPr>
          <p:cNvPr id="33" name="Shape 31"/>
          <p:cNvSpPr/>
          <p:nvPr/>
        </p:nvSpPr>
        <p:spPr>
          <a:xfrm>
            <a:off x="3346704" y="5806440"/>
            <a:ext cx="2596896" cy="50292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OD · 组织发展</a:t>
            </a:r>
            <a:endParaRPr lang="zh-CN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4645152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组织与关键岗位</a:t>
            </a:r>
            <a:endParaRPr lang="zh-CN" sz="980" dirty="0"/>
          </a:p>
        </p:txBody>
      </p:sp>
      <p:sp>
        <p:nvSpPr>
          <p:cNvPr id="36" name="Shape 34"/>
          <p:cNvSpPr/>
          <p:nvPr/>
        </p:nvSpPr>
        <p:spPr>
          <a:xfrm>
            <a:off x="6099048" y="5806440"/>
            <a:ext cx="2596896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27064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TD · 人才发展</a:t>
            </a:r>
            <a:endParaRPr lang="zh-CN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397496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标准、盘点与发展</a:t>
            </a:r>
            <a:endParaRPr lang="zh-CN" sz="980" dirty="0"/>
          </a:p>
        </p:txBody>
      </p:sp>
      <p:sp>
        <p:nvSpPr>
          <p:cNvPr id="39" name="Shape 37"/>
          <p:cNvSpPr/>
          <p:nvPr/>
        </p:nvSpPr>
        <p:spPr>
          <a:xfrm>
            <a:off x="8851392" y="5806440"/>
            <a:ext cx="2596896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79408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LD · 学习发展</a:t>
            </a:r>
            <a:endParaRPr lang="zh-CN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0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学习与培养动作</a:t>
            </a:r>
            <a:endParaRPr lang="zh-CN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· 一轮人才发展 / 业务路线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从关键岗位一直做到发展安排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887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六步走完一轮人才发展</a:t>
            </a:r>
            <a:endParaRPr lang="zh-CN" sz="3900" dirty="0"/>
          </a:p>
        </p:txBody>
      </p:sp>
      <p:sp>
        <p:nvSpPr>
          <p:cNvPr id="6" name="Shape 4"/>
          <p:cNvSpPr/>
          <p:nvPr/>
        </p:nvSpPr>
        <p:spPr>
          <a:xfrm>
            <a:off x="941832" y="3703320"/>
            <a:ext cx="10104120" cy="0"/>
          </a:xfrm>
          <a:prstGeom prst="line">
            <a:avLst/>
          </a:prstGeom>
          <a:noFill/>
          <a:ln w="17145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77824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" y="28529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73736" y="312724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定关键岗位</a:t>
            </a:r>
            <a:endParaRPr lang="zh-CN" sz="1420" dirty="0"/>
          </a:p>
        </p:txBody>
      </p:sp>
      <p:sp>
        <p:nvSpPr>
          <p:cNvPr id="10" name="Text 8"/>
          <p:cNvSpPr txBox="1"/>
          <p:nvPr/>
        </p:nvSpPr>
        <p:spPr>
          <a:xfrm>
            <a:off x="283464" y="343814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组织分析</a:t>
            </a:r>
            <a:endParaRPr lang="zh-CN" sz="850" dirty="0"/>
          </a:p>
        </p:txBody>
      </p:sp>
      <p:sp>
        <p:nvSpPr>
          <p:cNvPr id="11" name="Shape 9"/>
          <p:cNvSpPr/>
          <p:nvPr/>
        </p:nvSpPr>
        <p:spPr>
          <a:xfrm>
            <a:off x="2825496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40864" y="39593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422452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建岗位标准</a:t>
            </a:r>
            <a:endParaRPr lang="zh-CN" sz="142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45628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岗位中心</a:t>
            </a:r>
            <a:endParaRPr lang="zh-CN" sz="850" dirty="0"/>
          </a:p>
        </p:txBody>
      </p:sp>
      <p:sp>
        <p:nvSpPr>
          <p:cNvPr id="15" name="Shape 13"/>
          <p:cNvSpPr/>
          <p:nvPr/>
        </p:nvSpPr>
        <p:spPr>
          <a:xfrm>
            <a:off x="4773168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8536" y="28529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312724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收人才数据</a:t>
            </a:r>
            <a:endParaRPr lang="zh-CN" sz="1420" dirty="0"/>
          </a:p>
        </p:txBody>
      </p:sp>
      <p:sp>
        <p:nvSpPr>
          <p:cNvPr id="18" name="Text 16"/>
          <p:cNvSpPr txBox="1"/>
          <p:nvPr/>
        </p:nvSpPr>
        <p:spPr>
          <a:xfrm>
            <a:off x="4178808" y="343814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评鉴中心</a:t>
            </a:r>
            <a:endParaRPr lang="zh-CN" sz="850" dirty="0"/>
          </a:p>
        </p:txBody>
      </p:sp>
      <p:sp>
        <p:nvSpPr>
          <p:cNvPr id="19" name="Shape 17"/>
          <p:cNvSpPr/>
          <p:nvPr/>
        </p:nvSpPr>
        <p:spPr>
          <a:xfrm>
            <a:off x="6720840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6208" y="39593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422452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做人才盘点</a:t>
            </a:r>
            <a:endParaRPr lang="zh-CN" sz="142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5628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人才中心</a:t>
            </a:r>
            <a:endParaRPr lang="zh-CN" sz="850" dirty="0"/>
          </a:p>
        </p:txBody>
      </p:sp>
      <p:sp>
        <p:nvSpPr>
          <p:cNvPr id="23" name="Shape 21"/>
          <p:cNvSpPr/>
          <p:nvPr/>
        </p:nvSpPr>
        <p:spPr>
          <a:xfrm>
            <a:off x="8668512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83880" y="28529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7964424" y="312724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看人岗差距</a:t>
            </a:r>
            <a:endParaRPr lang="zh-CN" sz="1420" dirty="0"/>
          </a:p>
        </p:txBody>
      </p:sp>
      <p:sp>
        <p:nvSpPr>
          <p:cNvPr id="26" name="Text 24"/>
          <p:cNvSpPr txBox="1"/>
          <p:nvPr/>
        </p:nvSpPr>
        <p:spPr>
          <a:xfrm>
            <a:off x="8074152" y="343814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人才中心</a:t>
            </a:r>
            <a:endParaRPr lang="zh-CN" sz="850" dirty="0"/>
          </a:p>
        </p:txBody>
      </p:sp>
      <p:sp>
        <p:nvSpPr>
          <p:cNvPr id="27" name="Shape 25"/>
          <p:cNvSpPr/>
          <p:nvPr/>
        </p:nvSpPr>
        <p:spPr>
          <a:xfrm>
            <a:off x="10616184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31552" y="39593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</a:t>
            </a:r>
            <a:endParaRPr lang="zh-CN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9912096" y="422452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安排培养发展</a:t>
            </a:r>
            <a:endParaRPr lang="zh-CN" sz="1420" dirty="0"/>
          </a:p>
        </p:txBody>
      </p:sp>
      <p:sp>
        <p:nvSpPr>
          <p:cNvPr id="30" name="Text 28"/>
          <p:cNvSpPr txBox="1"/>
          <p:nvPr/>
        </p:nvSpPr>
        <p:spPr>
          <a:xfrm>
            <a:off x="10021824" y="45628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发展中心</a:t>
            </a:r>
            <a:endParaRPr lang="zh-CN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394960"/>
            <a:ext cx="11000232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5528" y="55321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岗位标准给评鉴定尺子，盘点结果给匹配和培养定方向。</a:t>
            </a:r>
            <a:endParaRPr lang="zh-CN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458200" y="5550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前一步的结果，下一步直接用</a:t>
            </a:r>
            <a:endParaRPr lang="zh-CN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· 岗位中心 / 建立统一的人才标准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岗位标准讲清楚，后面才有同一把尺子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先把岗位标准讲清楚</a:t>
            </a:r>
            <a:endParaRPr lang="zh-CN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9222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岗位标准分成任职和资格两部分，系统先给初稿，业务再确认。</a:t>
            </a:r>
            <a:endParaRPr lang="zh-CN" sz="1430" dirty="0"/>
          </a:p>
        </p:txBody>
      </p:sp>
      <p:sp>
        <p:nvSpPr>
          <p:cNvPr id="7" name="Shape 5"/>
          <p:cNvSpPr/>
          <p:nvPr/>
        </p:nvSpPr>
        <p:spPr>
          <a:xfrm>
            <a:off x="594360" y="2423160"/>
            <a:ext cx="2423160" cy="2011680"/>
          </a:xfrm>
          <a:prstGeom prst="rect">
            <a:avLst/>
          </a:prstGeom>
          <a:solidFill>
            <a:srgbClr val="171717"/>
          </a:solidFill>
          <a:ln w="635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6791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CFCFC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任职 · 做什么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90672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职责</a:t>
            </a:r>
            <a:endParaRPr lang="zh-CN" sz="2900" dirty="0"/>
          </a:p>
          <a:p>
            <a:pPr algn="l" indent="0" marL="0">
              <a:buNone/>
            </a:pPr>
            <a:r>
              <a:rPr lang="zh-CN" altLang="en-US" sz="29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任务</a:t>
            </a:r>
            <a:endParaRPr lang="zh-CN" sz="2900" dirty="0"/>
          </a:p>
        </p:txBody>
      </p:sp>
      <p:sp>
        <p:nvSpPr>
          <p:cNvPr id="10" name="Shape 8"/>
          <p:cNvSpPr/>
          <p:nvPr/>
        </p:nvSpPr>
        <p:spPr>
          <a:xfrm>
            <a:off x="3246120" y="2423160"/>
            <a:ext cx="2423160" cy="201168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67919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资格 · 凭什么胜任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054096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经历 · 能力</a:t>
            </a:r>
            <a:endParaRPr lang="zh-CN" sz="2500" dirty="0"/>
          </a:p>
          <a:p>
            <a:pPr algn="l" indent="0" marL="0">
              <a:buNone/>
            </a:pPr>
            <a:r>
              <a:rPr lang="zh-CN" altLang="en-US" sz="2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动力 · 潜力</a:t>
            </a:r>
            <a:endParaRPr lang="zh-CN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8280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736592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读取岗位材料</a:t>
            </a:r>
            <a:endParaRPr lang="zh-CN" sz="123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074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说明书、组织资料</a:t>
            </a:r>
            <a:endParaRPr lang="zh-CN" sz="980" dirty="0"/>
          </a:p>
        </p:txBody>
      </p:sp>
      <p:sp>
        <p:nvSpPr>
          <p:cNvPr id="16" name="Shape 14"/>
          <p:cNvSpPr/>
          <p:nvPr/>
        </p:nvSpPr>
        <p:spPr>
          <a:xfrm>
            <a:off x="2130552" y="4901184"/>
            <a:ext cx="182880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295144" y="48280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2706624" y="4736592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生成标准初稿</a:t>
            </a:r>
            <a:endParaRPr lang="zh-CN" sz="1230" dirty="0"/>
          </a:p>
        </p:txBody>
      </p:sp>
      <p:sp>
        <p:nvSpPr>
          <p:cNvPr id="19" name="Text 17"/>
          <p:cNvSpPr txBox="1"/>
          <p:nvPr/>
        </p:nvSpPr>
        <p:spPr>
          <a:xfrm>
            <a:off x="2706624" y="5074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内容和等级都可调整</a:t>
            </a:r>
            <a:endParaRPr lang="zh-CN" sz="980" dirty="0"/>
          </a:p>
        </p:txBody>
      </p:sp>
      <p:sp>
        <p:nvSpPr>
          <p:cNvPr id="20" name="Shape 18"/>
          <p:cNvSpPr/>
          <p:nvPr/>
        </p:nvSpPr>
        <p:spPr>
          <a:xfrm>
            <a:off x="3831336" y="4901184"/>
            <a:ext cx="182880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995928" y="48280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4736592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业务确认保存</a:t>
            </a:r>
            <a:endParaRPr lang="zh-CN" sz="1230" dirty="0"/>
          </a:p>
        </p:txBody>
      </p:sp>
      <p:sp>
        <p:nvSpPr>
          <p:cNvPr id="23" name="Text 21"/>
          <p:cNvSpPr txBox="1"/>
          <p:nvPr/>
        </p:nvSpPr>
        <p:spPr>
          <a:xfrm>
            <a:off x="4407408" y="5074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成为评鉴和培养依据</a:t>
            </a:r>
            <a:endParaRPr lang="zh-CN" sz="980" dirty="0"/>
          </a:p>
        </p:txBody>
      </p:sp>
      <p:sp>
        <p:nvSpPr>
          <p:cNvPr id="24" name="Shape 22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岗位中心 · 岗位标准配置页</a:t>
            </a:r>
            <a:endParaRPr lang="zh-CN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 · 评鉴中心 / 准备人才数据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盘点结果是否可信，先看数据是否准备好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51560"/>
            <a:ext cx="5257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盘点前，先把人才</a:t>
            </a:r>
            <a:endParaRPr lang="zh-CN" sz="3000" dirty="0"/>
          </a:p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数据准备好</a:t>
            </a:r>
            <a:endParaRPr lang="zh-CN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2011680" cy="53035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46888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360 评估</a:t>
            </a:r>
            <a:endParaRPr lang="zh-CN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450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看日常工作中的能力表现</a:t>
            </a:r>
            <a:endParaRPr lang="zh-CN" sz="1220" dirty="0"/>
          </a:p>
        </p:txBody>
      </p:sp>
      <p:sp>
        <p:nvSpPr>
          <p:cNvPr id="9" name="Shape 7"/>
          <p:cNvSpPr/>
          <p:nvPr/>
        </p:nvSpPr>
        <p:spPr>
          <a:xfrm>
            <a:off x="594360" y="3044952"/>
            <a:ext cx="2011680" cy="53035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318211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考试</a:t>
            </a:r>
            <a:endParaRPr lang="zh-CN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1638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看相关知识和技能结果</a:t>
            </a:r>
            <a:endParaRPr lang="zh-CN" sz="1220" dirty="0"/>
          </a:p>
        </p:txBody>
      </p:sp>
      <p:sp>
        <p:nvSpPr>
          <p:cNvPr id="12" name="Shape 10"/>
          <p:cNvSpPr/>
          <p:nvPr/>
        </p:nvSpPr>
        <p:spPr>
          <a:xfrm>
            <a:off x="594360" y="3758184"/>
            <a:ext cx="2011680" cy="53035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895344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人才测评</a:t>
            </a:r>
            <a:endParaRPr lang="zh-CN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看动力、潜力等特征</a:t>
            </a:r>
            <a:endParaRPr lang="zh-CN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4471416"/>
            <a:ext cx="2011680" cy="53035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6085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人员与绩效</a:t>
            </a:r>
            <a:endParaRPr lang="zh-CN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816352" y="45902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补齐岗位、经历和绩效信息</a:t>
            </a:r>
            <a:endParaRPr lang="zh-CN" sz="1220" dirty="0"/>
          </a:p>
        </p:txBody>
      </p:sp>
      <p:sp>
        <p:nvSpPr>
          <p:cNvPr id="18" name="Shape 16"/>
          <p:cNvSpPr/>
          <p:nvPr/>
        </p:nvSpPr>
        <p:spPr>
          <a:xfrm>
            <a:off x="594360" y="5413248"/>
            <a:ext cx="5074920" cy="502920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50408"/>
            <a:ext cx="46817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系统按项目选人、选工具、带入结果，减少重复导表和手工拼数据。</a:t>
            </a:r>
            <a:endParaRPr lang="zh-CN" sz="1150" dirty="0"/>
          </a:p>
        </p:txBody>
      </p:sp>
      <p:sp>
        <p:nvSpPr>
          <p:cNvPr id="20" name="Shape 18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评鉴中心 · 项目与评鉴工具页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 · 人才中心 / 两种人才盘点方法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07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一个看人员落位，一个看群体规律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7043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宫格看落位，人才图谱看规律</a:t>
            </a:r>
            <a:endParaRPr lang="zh-CN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751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24712" y="1874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宫格盘点（常用九宫格）</a:t>
            </a:r>
            <a:endParaRPr lang="zh-CN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234086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CFCFC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用能力和绩效把人员放进宫格，方便业务与 HR 校准名单、讨论用人。</a:t>
            </a:r>
            <a:endParaRPr lang="zh-CN" sz="1180" dirty="0"/>
          </a:p>
        </p:txBody>
      </p:sp>
      <p:sp>
        <p:nvSpPr>
          <p:cNvPr id="9" name="Shape 7"/>
          <p:cNvSpPr/>
          <p:nvPr/>
        </p:nvSpPr>
        <p:spPr>
          <a:xfrm>
            <a:off x="594360" y="2999232"/>
            <a:ext cx="5394960" cy="2834640"/>
          </a:xfrm>
          <a:prstGeom prst="rect">
            <a:avLst/>
          </a:prstGeom>
          <a:solidFill>
            <a:srgbClr val="202020"/>
          </a:solidFill>
          <a:ln w="15240">
            <a:solidFill>
              <a:srgbClr val="757575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795528" y="3200400"/>
            <a:ext cx="4992624" cy="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5632704"/>
            <a:ext cx="4992624" cy="-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5256" y="3310128"/>
            <a:ext cx="2148840" cy="31089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4984" y="33924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人才盘点 · 宫格结果页</a:t>
            </a:r>
            <a:endParaRPr lang="zh-CN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5994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BDBD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替换为盘点结果页截图</a:t>
            </a:r>
            <a:endParaRPr lang="zh-CN" sz="108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9751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874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人才图谱盘点</a:t>
            </a:r>
            <a:endParaRPr lang="zh-CN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4086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CFCFC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把人员、绩效、能力、动力和潜力放在一起，看分布、关系和 A/B/C/D 分组。</a:t>
            </a:r>
            <a:endParaRPr lang="zh-CN" sz="1180" dirty="0"/>
          </a:p>
        </p:txBody>
      </p:sp>
      <p:sp>
        <p:nvSpPr>
          <p:cNvPr id="19" name="Shape 17"/>
          <p:cNvSpPr/>
          <p:nvPr/>
        </p:nvSpPr>
        <p:spPr>
          <a:xfrm>
            <a:off x="6190488" y="2999232"/>
            <a:ext cx="5394960" cy="2834640"/>
          </a:xfrm>
          <a:prstGeom prst="rect">
            <a:avLst/>
          </a:prstGeom>
          <a:solidFill>
            <a:srgbClr val="202020"/>
          </a:solidFill>
          <a:ln w="15240">
            <a:solidFill>
              <a:srgbClr val="75757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391656" y="3200400"/>
            <a:ext cx="4992624" cy="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91656" y="5632704"/>
            <a:ext cx="4992624" cy="-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1384" y="3310128"/>
            <a:ext cx="2148840" cy="31089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33924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693408" y="40325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人才盘点 · 人才图谱页</a:t>
            </a:r>
            <a:endParaRPr lang="zh-C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93408" y="45994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BDBD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替换为盘点结果页截图</a:t>
            </a:r>
            <a:endParaRPr lang="zh-CN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 · 人才中心 × 岗位中心 / 人岗匹配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08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把岗位要求和人的现状放在一起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60704"/>
            <a:ext cx="5257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这个人，适不适合</a:t>
            </a:r>
            <a:endParaRPr lang="zh-CN" sz="3000" dirty="0"/>
          </a:p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目标岗位</a:t>
            </a:r>
            <a:endParaRPr lang="zh-CN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4800600" cy="80467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86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2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67712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选目标岗位</a:t>
            </a:r>
            <a:endParaRPr lang="zh-CN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67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读取岗位职责、资格项和要求等级。</a:t>
            </a:r>
            <a:endParaRPr lang="zh-CN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3172968"/>
            <a:ext cx="4800600" cy="80467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10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2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291840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带入个人结果</a:t>
            </a:r>
            <a:endParaRPr lang="zh-CN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读取最新评鉴、盘点和人才档案数据。</a:t>
            </a:r>
            <a:endParaRPr lang="zh-CN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197096"/>
            <a:ext cx="4800600" cy="804672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342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2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315968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看匹配和差距</a:t>
            </a:r>
            <a:endParaRPr lang="zh-CN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43159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雷达和明细一起看；可比较 2–5 人。</a:t>
            </a:r>
            <a:endParaRPr lang="zh-CN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54406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业务最后看到的，不只是一个分数。更重要的是：哪里符合，哪里还有差距，接下来该补什么。</a:t>
            </a:r>
            <a:endParaRPr lang="zh-CN" sz="1250" dirty="0"/>
          </a:p>
        </p:txBody>
      </p:sp>
      <p:sp>
        <p:nvSpPr>
          <p:cNvPr id="19" name="Shape 17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人才中心 · 人岗匹配 / 人才对比页</a:t>
            </a:r>
            <a:endParaRPr lang="zh-C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07 · 发展中心 / 个人发展计划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09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基于人才差距生成个人发展安排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33856"/>
            <a:ext cx="5166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个人有差距，</a:t>
            </a:r>
            <a:endParaRPr lang="zh-CN" sz="2900" dirty="0"/>
          </a:p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就形成个人发展安排</a:t>
            </a:r>
            <a:endParaRPr lang="zh-CN" sz="2900" dirty="0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0" cy="297180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223113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18541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581912" y="208483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选本期重点</a:t>
            </a:r>
            <a:endParaRPr lang="zh-CN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从岗位差距和盘点结论里选最需要解决的问题。</a:t>
            </a:r>
            <a:endParaRPr lang="zh-CN" sz="1140" dirty="0"/>
          </a:p>
        </p:txBody>
      </p:sp>
      <p:sp>
        <p:nvSpPr>
          <p:cNvPr id="11" name="Shape 9"/>
          <p:cNvSpPr/>
          <p:nvPr/>
        </p:nvSpPr>
        <p:spPr>
          <a:xfrm>
            <a:off x="694944" y="305409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3272" y="300837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581912" y="290779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安排发展动作</a:t>
            </a:r>
            <a:endParaRPr lang="zh-CN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9077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课程、项目、岗位实践、经理辅导都可使用。</a:t>
            </a:r>
            <a:endParaRPr lang="zh-CN" sz="1140" dirty="0"/>
          </a:p>
        </p:txBody>
      </p:sp>
      <p:sp>
        <p:nvSpPr>
          <p:cNvPr id="15" name="Shape 13"/>
          <p:cNvSpPr/>
          <p:nvPr/>
        </p:nvSpPr>
        <p:spPr>
          <a:xfrm>
            <a:off x="694944" y="387705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383133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581912" y="373075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定人和时间</a:t>
            </a:r>
            <a:endParaRPr lang="zh-CN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7307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写清负责人、完成时间和检查方式。</a:t>
            </a:r>
            <a:endParaRPr lang="zh-CN" sz="1140" dirty="0"/>
          </a:p>
        </p:txBody>
      </p:sp>
      <p:sp>
        <p:nvSpPr>
          <p:cNvPr id="19" name="Shape 17"/>
          <p:cNvSpPr/>
          <p:nvPr/>
        </p:nvSpPr>
        <p:spPr>
          <a:xfrm>
            <a:off x="694944" y="470001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33272" y="465429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581912" y="455371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跟进结果</a:t>
            </a:r>
            <a:endParaRPr lang="zh-CN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45537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进度和新评估结果继续回到个人档案。</a:t>
            </a:r>
            <a:endParaRPr lang="zh-CN" sz="1140" dirty="0"/>
          </a:p>
        </p:txBody>
      </p:sp>
      <p:sp>
        <p:nvSpPr>
          <p:cNvPr id="23" name="Shape 21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发展中心 · 个人发展计划（IDP）页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08 · 发展中心 × 培训平台 / 组织培养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10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共性差距进入岗位学习计划和培训项目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1556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多人都有同一个问题，</a:t>
            </a:r>
            <a:endParaRPr lang="zh-CN" sz="2900" dirty="0"/>
          </a:p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就做组织培养</a:t>
            </a:r>
            <a:endParaRPr lang="zh-CN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1152144" cy="1499616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汇总共性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差距</a:t>
            </a:r>
            <a:endParaRPr lang="zh-CN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看高频能力差距</a:t>
            </a:r>
            <a:endParaRPr lang="zh-CN" sz="910" dirty="0"/>
          </a:p>
        </p:txBody>
      </p:sp>
      <p:sp>
        <p:nvSpPr>
          <p:cNvPr id="10" name="Shape 8"/>
          <p:cNvSpPr/>
          <p:nvPr/>
        </p:nvSpPr>
        <p:spPr>
          <a:xfrm>
            <a:off x="1755648" y="2871216"/>
            <a:ext cx="192024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47672" y="2148840"/>
            <a:ext cx="1152144" cy="14996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93976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093976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定岗位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培养目标</a:t>
            </a:r>
            <a:endParaRPr lang="zh-CN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2093976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明确能力项和目标等级</a:t>
            </a:r>
            <a:endParaRPr lang="zh-CN" sz="910" dirty="0"/>
          </a:p>
        </p:txBody>
      </p:sp>
      <p:sp>
        <p:nvSpPr>
          <p:cNvPr id="15" name="Shape 13"/>
          <p:cNvSpPr/>
          <p:nvPr/>
        </p:nvSpPr>
        <p:spPr>
          <a:xfrm>
            <a:off x="3108960" y="2871216"/>
            <a:ext cx="192024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00984" y="2148840"/>
            <a:ext cx="1152144" cy="1499616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47288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447288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关联学习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计划</a:t>
            </a:r>
            <a:endParaRPr lang="zh-CN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3447288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配置课程、项目和实践</a:t>
            </a:r>
            <a:endParaRPr lang="zh-CN" sz="910" dirty="0"/>
          </a:p>
        </p:txBody>
      </p:sp>
      <p:sp>
        <p:nvSpPr>
          <p:cNvPr id="20" name="Shape 18"/>
          <p:cNvSpPr/>
          <p:nvPr/>
        </p:nvSpPr>
        <p:spPr>
          <a:xfrm>
            <a:off x="4462272" y="2871216"/>
            <a:ext cx="192024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54296" y="2148840"/>
            <a:ext cx="1152144" cy="1499616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跟前后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变化</a:t>
            </a:r>
            <a:endParaRPr lang="zh-CN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结果回到人才档案</a:t>
            </a:r>
            <a:endParaRPr lang="zh-CN" sz="910" dirty="0"/>
          </a:p>
        </p:txBody>
      </p:sp>
      <p:sp>
        <p:nvSpPr>
          <p:cNvPr id="25" name="Shape 23"/>
          <p:cNvSpPr/>
          <p:nvPr/>
        </p:nvSpPr>
        <p:spPr>
          <a:xfrm>
            <a:off x="594360" y="4069080"/>
            <a:ext cx="5212080" cy="1078992"/>
          </a:xfrm>
          <a:prstGeom prst="rect">
            <a:avLst/>
          </a:prstGeom>
          <a:solidFill>
            <a:srgbClr val="171717"/>
          </a:solidFill>
          <a:ln w="635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42793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FBFB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组织发展</a:t>
            </a:r>
            <a:endParaRPr lang="zh-CN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95528" y="460857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岗位下面关联学习计划和培训项目</a:t>
            </a:r>
            <a:endParaRPr lang="zh-CN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206240" y="42793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50" b="1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个人发展</a:t>
            </a:r>
            <a:endParaRPr lang="zh-CN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206240" y="4608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个人差距进入 IDP</a:t>
            </a:r>
            <a:endParaRPr lang="zh-CN" sz="1220" dirty="0"/>
          </a:p>
        </p:txBody>
      </p:sp>
      <p:sp>
        <p:nvSpPr>
          <p:cNvPr id="30" name="Shape 28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发展中心 · 岗位学习计划 / 培训项目页</a:t>
            </a:r>
            <a:endParaRPr lang="zh-CN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09 · 模块串联 / 前一步结果给下一步使用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11 / 12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岗位中心 · 评鉴中心 · 人才中心 · 发展中心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88720"/>
            <a:ext cx="8961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前一步做完，下一步直接接着用</a:t>
            </a:r>
            <a:endParaRPr lang="zh-CN" sz="35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组织分析</a:t>
            </a:r>
            <a:endParaRPr lang="zh-CN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定范围</a:t>
            </a:r>
            <a:endParaRPr lang="zh-CN" sz="980" dirty="0"/>
          </a:p>
        </p:txBody>
      </p:sp>
      <p:sp>
        <p:nvSpPr>
          <p:cNvPr id="10" name="Shape 8"/>
          <p:cNvSpPr/>
          <p:nvPr/>
        </p:nvSpPr>
        <p:spPr>
          <a:xfrm>
            <a:off x="1947672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03704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50008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350008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</a:t>
            </a:r>
            <a:endParaRPr lang="zh-CN" sz="1330" dirty="0"/>
          </a:p>
        </p:txBody>
      </p:sp>
      <p:sp>
        <p:nvSpPr>
          <p:cNvPr id="14" name="Text 12"/>
          <p:cNvSpPr txBox="1"/>
          <p:nvPr/>
        </p:nvSpPr>
        <p:spPr>
          <a:xfrm>
            <a:off x="235000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定尺子</a:t>
            </a:r>
            <a:endParaRPr lang="zh-CN" sz="980" dirty="0"/>
          </a:p>
        </p:txBody>
      </p:sp>
      <p:sp>
        <p:nvSpPr>
          <p:cNvPr id="15" name="Shape 13"/>
          <p:cNvSpPr/>
          <p:nvPr/>
        </p:nvSpPr>
        <p:spPr>
          <a:xfrm>
            <a:off x="3557016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13048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59352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评鉴结果</a:t>
            </a:r>
            <a:endParaRPr lang="zh-CN" sz="133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收数据</a:t>
            </a:r>
            <a:endParaRPr lang="zh-CN" sz="980" dirty="0"/>
          </a:p>
        </p:txBody>
      </p:sp>
      <p:sp>
        <p:nvSpPr>
          <p:cNvPr id="20" name="Shape 18"/>
          <p:cNvSpPr/>
          <p:nvPr/>
        </p:nvSpPr>
        <p:spPr>
          <a:xfrm>
            <a:off x="5166360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22392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68696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人才盘点</a:t>
            </a:r>
            <a:endParaRPr lang="zh-CN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5568696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看群体</a:t>
            </a:r>
            <a:endParaRPr lang="zh-CN" sz="980" dirty="0"/>
          </a:p>
        </p:txBody>
      </p:sp>
      <p:sp>
        <p:nvSpPr>
          <p:cNvPr id="25" name="Shape 23"/>
          <p:cNvSpPr/>
          <p:nvPr/>
        </p:nvSpPr>
        <p:spPr>
          <a:xfrm>
            <a:off x="6775704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31736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8040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人岗匹配</a:t>
            </a:r>
            <a:endParaRPr lang="zh-CN" sz="133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看个人</a:t>
            </a:r>
            <a:endParaRPr lang="zh-CN" sz="980" dirty="0"/>
          </a:p>
        </p:txBody>
      </p:sp>
      <p:sp>
        <p:nvSpPr>
          <p:cNvPr id="30" name="Shape 28"/>
          <p:cNvSpPr/>
          <p:nvPr/>
        </p:nvSpPr>
        <p:spPr>
          <a:xfrm>
            <a:off x="8385048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641080" y="2743200"/>
            <a:ext cx="1344168" cy="1389888"/>
          </a:xfrm>
          <a:prstGeom prst="rect">
            <a:avLst/>
          </a:prstGeom>
          <a:solidFill>
            <a:srgbClr val="002FA7"/>
          </a:solidFill>
          <a:ln w="1016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87384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</a:t>
            </a:r>
            <a:endParaRPr lang="zh-CN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787384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发展计划</a:t>
            </a:r>
            <a:endParaRPr lang="zh-CN" sz="1330" dirty="0"/>
          </a:p>
        </p:txBody>
      </p:sp>
      <p:sp>
        <p:nvSpPr>
          <p:cNvPr id="34" name="Text 32"/>
          <p:cNvSpPr txBox="1"/>
          <p:nvPr/>
        </p:nvSpPr>
        <p:spPr>
          <a:xfrm>
            <a:off x="8787384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排动作</a:t>
            </a:r>
            <a:endParaRPr lang="zh-CN" sz="980" dirty="0"/>
          </a:p>
        </p:txBody>
      </p:sp>
      <p:sp>
        <p:nvSpPr>
          <p:cNvPr id="35" name="Shape 33"/>
          <p:cNvSpPr/>
          <p:nvPr/>
        </p:nvSpPr>
        <p:spPr>
          <a:xfrm>
            <a:off x="9994392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250424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96728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07</a:t>
            </a:r>
            <a:endParaRPr lang="zh-CN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396728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结果更新</a:t>
            </a:r>
            <a:endParaRPr lang="zh-CN" sz="1330" dirty="0"/>
          </a:p>
        </p:txBody>
      </p:sp>
      <p:sp>
        <p:nvSpPr>
          <p:cNvPr id="39" name="Text 37"/>
          <p:cNvSpPr txBox="1"/>
          <p:nvPr/>
        </p:nvSpPr>
        <p:spPr>
          <a:xfrm>
            <a:off x="1039672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再使用</a:t>
            </a:r>
            <a:endParaRPr lang="zh-CN" sz="980" dirty="0"/>
          </a:p>
        </p:txBody>
      </p:sp>
      <p:sp>
        <p:nvSpPr>
          <p:cNvPr id="40" name="Shape 38"/>
          <p:cNvSpPr/>
          <p:nvPr/>
        </p:nvSpPr>
        <p:spPr>
          <a:xfrm>
            <a:off x="594360" y="4800600"/>
            <a:ext cx="11000232" cy="0"/>
          </a:xfrm>
          <a:prstGeom prst="line">
            <a:avLst/>
          </a:prstGeom>
          <a:noFill/>
          <a:ln w="8890">
            <a:solidFill>
              <a:srgbClr val="4A4A4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" y="510235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20" dirty="0">
                <a:solidFill>
                  <a:srgbClr val="D0D0CD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岗位标准不用重复建，人才数据不用反复拼，培养结果也不会留在另一个系统里。</a:t>
            </a:r>
            <a:endParaRPr lang="zh-CN" sz="1420" dirty="0"/>
          </a:p>
        </p:txBody>
      </p:sp>
      <p:sp>
        <p:nvSpPr>
          <p:cNvPr id="42" name="Text 40"/>
          <p:cNvSpPr txBox="1"/>
          <p:nvPr/>
        </p:nvSpPr>
        <p:spPr>
          <a:xfrm>
            <a:off x="7973568" y="580644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一轮做完，下一轮从最新结果继续</a:t>
            </a:r>
            <a:endParaRPr lang="zh-CN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89904" cy="68580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822960"/>
            <a:ext cx="41148" cy="41148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8408" y="82296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82296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1368" y="82296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82296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24328" y="82296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35808" y="82296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822960"/>
            <a:ext cx="41148" cy="41148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1234440"/>
            <a:ext cx="41148" cy="41148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123444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888" y="123444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01368" y="123444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12848" y="123444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4328" y="123444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5808" y="123444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7288" y="123444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645920"/>
            <a:ext cx="41148" cy="41148"/>
          </a:xfrm>
          <a:prstGeom prst="rect">
            <a:avLst/>
          </a:prstGeom>
          <a:solidFill>
            <a:srgbClr val="FFFFFF">
              <a:alpha val="2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164592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89888" y="164592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01368" y="164592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12848" y="164592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4328" y="164592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5808" y="164592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164592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05740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408" y="205740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89888" y="205740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1368" y="205740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12848" y="205740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4328" y="205740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2057400"/>
            <a:ext cx="41148" cy="41148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47288" y="2057400"/>
            <a:ext cx="41148" cy="41148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246888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8408" y="246888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89888" y="246888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01368" y="246888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12848" y="246888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24328" y="246888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5808" y="246888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2468880"/>
            <a:ext cx="41148" cy="41148"/>
          </a:xfrm>
          <a:prstGeom prst="rect">
            <a:avLst/>
          </a:prstGeom>
          <a:solidFill>
            <a:srgbClr val="FFFFFF">
              <a:alpha val="3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288036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8408" y="288036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89888" y="288036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1368" y="288036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12848" y="288036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24328" y="288036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5808" y="288036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47288" y="2880360"/>
            <a:ext cx="41148" cy="41148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29184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8408" y="329184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89888" y="329184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01368" y="329184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12848" y="329184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24328" y="3291840"/>
            <a:ext cx="41148" cy="41148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35808" y="3291840"/>
            <a:ext cx="41148" cy="41148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447288" y="3291840"/>
            <a:ext cx="41148" cy="41148"/>
          </a:xfrm>
          <a:prstGeom prst="rect">
            <a:avLst/>
          </a:prstGeom>
          <a:solidFill>
            <a:srgbClr val="FFFFFF">
              <a:alpha val="4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370332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8408" y="370332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89888" y="370332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1368" y="370332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12848" y="370332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24328" y="370332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35808" y="3703320"/>
            <a:ext cx="41148" cy="41148"/>
          </a:xfrm>
          <a:prstGeom prst="rect">
            <a:avLst/>
          </a:prstGeom>
          <a:solidFill>
            <a:srgbClr val="FFFFFF">
              <a:alpha val="3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447288" y="3703320"/>
            <a:ext cx="41148" cy="41148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2920" y="3840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12 / 12</a:t>
            </a:r>
            <a:endParaRPr lang="zh-CN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02920" y="12344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海格汽车人才发展</a:t>
            </a:r>
            <a:endParaRPr lang="zh-CN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1828800"/>
            <a:ext cx="4846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1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从组织到岗位</a:t>
            </a:r>
            <a:endParaRPr lang="zh-CN" sz="4100" dirty="0"/>
          </a:p>
          <a:p>
            <a:pPr algn="l" indent="0" marL="0">
              <a:buNone/>
            </a:pPr>
            <a:r>
              <a:rPr lang="zh-CN" altLang="en-US" sz="41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从岗位到人</a:t>
            </a:r>
            <a:endParaRPr lang="zh-CN" sz="4100" dirty="0"/>
          </a:p>
          <a:p>
            <a:pPr algn="l" indent="0" marL="0">
              <a:buNone/>
            </a:pPr>
            <a:r>
              <a:rPr lang="zh-CN" altLang="en-US" sz="41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再把发展做下去</a:t>
            </a:r>
            <a:endParaRPr lang="zh-CN" sz="4100" dirty="0"/>
          </a:p>
        </p:txBody>
      </p:sp>
      <p:sp>
        <p:nvSpPr>
          <p:cNvPr id="70" name="Text 68"/>
          <p:cNvSpPr txBox="1"/>
          <p:nvPr/>
        </p:nvSpPr>
        <p:spPr>
          <a:xfrm>
            <a:off x="502920" y="51206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这就是时代光华开展人才发展的完整路径。</a:t>
            </a:r>
            <a:endParaRPr lang="zh-CN" sz="1430" dirty="0"/>
          </a:p>
        </p:txBody>
      </p:sp>
      <p:sp>
        <p:nvSpPr>
          <p:cNvPr id="71" name="Shape 69"/>
          <p:cNvSpPr/>
          <p:nvPr/>
        </p:nvSpPr>
        <p:spPr>
          <a:xfrm>
            <a:off x="502920" y="5989320"/>
            <a:ext cx="5074920" cy="0"/>
          </a:xfrm>
          <a:prstGeom prst="line">
            <a:avLst/>
          </a:prstGeom>
          <a:noFill/>
          <a:ln w="571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02920" y="61722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 · 人才发展解决方案</a:t>
            </a:r>
            <a:endParaRPr lang="zh-CN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5029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最后解决三件事</a:t>
            </a:r>
            <a:endParaRPr lang="zh-CN" sz="850" dirty="0"/>
          </a:p>
        </p:txBody>
      </p:sp>
      <p:sp>
        <p:nvSpPr>
          <p:cNvPr id="74" name="Shape 72"/>
          <p:cNvSpPr/>
          <p:nvPr/>
        </p:nvSpPr>
        <p:spPr>
          <a:xfrm>
            <a:off x="6565392" y="1325880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565392" y="15453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2900" dirty="0"/>
          </a:p>
        </p:txBody>
      </p:sp>
      <p:sp>
        <p:nvSpPr>
          <p:cNvPr id="76" name="Text 74"/>
          <p:cNvSpPr txBox="1"/>
          <p:nvPr/>
        </p:nvSpPr>
        <p:spPr>
          <a:xfrm>
            <a:off x="7680960" y="157276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聚焦哪些岗位</a:t>
            </a:r>
            <a:endParaRPr lang="zh-CN" sz="1700" dirty="0"/>
          </a:p>
        </p:txBody>
      </p:sp>
      <p:sp>
        <p:nvSpPr>
          <p:cNvPr id="77" name="Text 75"/>
          <p:cNvSpPr txBox="1"/>
          <p:nvPr/>
        </p:nvSpPr>
        <p:spPr>
          <a:xfrm>
            <a:off x="7680960" y="20574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从组织分析和关键岗位诊断开始，先把范围定准。</a:t>
            </a:r>
            <a:endParaRPr lang="zh-CN" sz="1210" dirty="0"/>
          </a:p>
        </p:txBody>
      </p:sp>
      <p:sp>
        <p:nvSpPr>
          <p:cNvPr id="78" name="Shape 76"/>
          <p:cNvSpPr/>
          <p:nvPr/>
        </p:nvSpPr>
        <p:spPr>
          <a:xfrm>
            <a:off x="6565392" y="2834640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565392" y="305409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2900" dirty="0"/>
          </a:p>
        </p:txBody>
      </p:sp>
      <p:sp>
        <p:nvSpPr>
          <p:cNvPr id="80" name="Text 78"/>
          <p:cNvSpPr txBox="1"/>
          <p:nvPr/>
        </p:nvSpPr>
        <p:spPr>
          <a:xfrm>
            <a:off x="7680960" y="30815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看清哪些人才</a:t>
            </a:r>
            <a:endParaRPr lang="zh-CN" sz="1700" dirty="0"/>
          </a:p>
        </p:txBody>
      </p:sp>
      <p:sp>
        <p:nvSpPr>
          <p:cNvPr id="81" name="Text 79"/>
          <p:cNvSpPr txBox="1"/>
          <p:nvPr/>
        </p:nvSpPr>
        <p:spPr>
          <a:xfrm>
            <a:off x="7680960" y="356616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用岗位标准、评鉴和盘点，看清人才现状与差距。</a:t>
            </a:r>
            <a:endParaRPr lang="zh-CN" sz="1210" dirty="0"/>
          </a:p>
        </p:txBody>
      </p:sp>
      <p:sp>
        <p:nvSpPr>
          <p:cNvPr id="82" name="Shape 80"/>
          <p:cNvSpPr/>
          <p:nvPr/>
        </p:nvSpPr>
        <p:spPr>
          <a:xfrm>
            <a:off x="6565392" y="4343400"/>
            <a:ext cx="5029200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565392" y="456285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2900" dirty="0"/>
          </a:p>
        </p:txBody>
      </p:sp>
      <p:sp>
        <p:nvSpPr>
          <p:cNvPr id="84" name="Text 82"/>
          <p:cNvSpPr txBox="1"/>
          <p:nvPr/>
        </p:nvSpPr>
        <p:spPr>
          <a:xfrm>
            <a:off x="7680960" y="459028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b="1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安排下一步发展</a:t>
            </a:r>
            <a:endParaRPr lang="zh-CN" sz="1700" dirty="0"/>
          </a:p>
        </p:txBody>
      </p:sp>
      <p:sp>
        <p:nvSpPr>
          <p:cNvPr id="85" name="Text 83"/>
          <p:cNvSpPr txBox="1"/>
          <p:nvPr/>
        </p:nvSpPr>
        <p:spPr>
          <a:xfrm>
            <a:off x="7680960" y="507492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个人差距进发展计划，共性差距进组织培养。</a:t>
            </a:r>
            <a:endParaRPr lang="zh-CN" sz="1210" dirty="0"/>
          </a:p>
        </p:txBody>
      </p:sp>
      <p:sp>
        <p:nvSpPr>
          <p:cNvPr id="86" name="Text 84"/>
          <p:cNvSpPr txBox="1"/>
          <p:nvPr/>
        </p:nvSpPr>
        <p:spPr>
          <a:xfrm>
            <a:off x="8458200" y="6217920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8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00 · 全局视图 / BUSINESS TO CAPABILITY</a:t>
            </a:r>
            <a:endParaRPr lang="zh-CN" sz="88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8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/ 12</a:t>
            </a:r>
            <a:endParaRPr lang="zh-CN" sz="88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8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从业务战略到组织、人才与学习的一体化链路</a:t>
            </a:r>
            <a:endParaRPr lang="zh-CN" sz="88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人才发展全局视图</a:t>
            </a:r>
            <a:endParaRPr lang="zh-CN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1179576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战略定方向，组织定环境，人才定对象，学习定行动。</a:t>
            </a:r>
            <a:endParaRPr lang="zh-CN" sz="1180" dirty="0"/>
          </a:p>
        </p:txBody>
      </p:sp>
      <p:sp>
        <p:nvSpPr>
          <p:cNvPr id="7" name="Shape 5"/>
          <p:cNvSpPr/>
          <p:nvPr/>
        </p:nvSpPr>
        <p:spPr>
          <a:xfrm>
            <a:off x="594360" y="1901952"/>
            <a:ext cx="1691640" cy="941832"/>
          </a:xfrm>
          <a:prstGeom prst="rect">
            <a:avLst/>
          </a:prstGeom>
          <a:solidFill>
            <a:srgbClr val="0A0A0A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05740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920" b="1" spc="120" kern="0" dirty="0">
                <a:solidFill>
                  <a:srgbClr val="BEBE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BD</a:t>
            </a:r>
            <a:endParaRPr lang="zh-CN" sz="92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2331720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业务发展</a:t>
            </a:r>
            <a:endParaRPr lang="zh-CN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2624328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FAFA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定方向</a:t>
            </a:r>
            <a:endParaRPr lang="zh-CN" sz="850" dirty="0"/>
          </a:p>
        </p:txBody>
      </p:sp>
      <p:sp>
        <p:nvSpPr>
          <p:cNvPr id="11" name="Shape 9"/>
          <p:cNvSpPr/>
          <p:nvPr/>
        </p:nvSpPr>
        <p:spPr>
          <a:xfrm>
            <a:off x="2286000" y="1901952"/>
            <a:ext cx="3102864" cy="941832"/>
          </a:xfrm>
          <a:prstGeom prst="rect">
            <a:avLst/>
          </a:prstGeom>
          <a:solidFill>
            <a:srgbClr val="FAFAF8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50592" y="203911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 / BD</a:t>
            </a:r>
            <a:endParaRPr lang="zh-CN" sz="820" dirty="0"/>
          </a:p>
        </p:txBody>
      </p:sp>
      <p:sp>
        <p:nvSpPr>
          <p:cNvPr id="13" name="Text 11"/>
          <p:cNvSpPr txBox="1"/>
          <p:nvPr/>
        </p:nvSpPr>
        <p:spPr>
          <a:xfrm>
            <a:off x="2450592" y="2276856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业务盘点</a:t>
            </a:r>
            <a:endParaRPr lang="zh-CN" sz="1360" dirty="0"/>
          </a:p>
        </p:txBody>
      </p:sp>
      <p:sp>
        <p:nvSpPr>
          <p:cNvPr id="14" name="Text 12"/>
          <p:cNvSpPr txBox="1"/>
          <p:nvPr/>
        </p:nvSpPr>
        <p:spPr>
          <a:xfrm>
            <a:off x="2450592" y="2578608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看清当前业务与人才现状</a:t>
            </a:r>
            <a:endParaRPr lang="zh-CN" sz="960" dirty="0"/>
          </a:p>
        </p:txBody>
      </p:sp>
      <p:sp>
        <p:nvSpPr>
          <p:cNvPr id="15" name="Shape 13"/>
          <p:cNvSpPr/>
          <p:nvPr/>
        </p:nvSpPr>
        <p:spPr>
          <a:xfrm>
            <a:off x="5388864" y="1901952"/>
            <a:ext cx="3102864" cy="941832"/>
          </a:xfrm>
          <a:prstGeom prst="rect">
            <a:avLst/>
          </a:prstGeom>
          <a:solidFill>
            <a:srgbClr val="FAFAF8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53456" y="203911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/ BD</a:t>
            </a:r>
            <a:endParaRPr lang="zh-CN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5553456" y="2276856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战略规划</a:t>
            </a:r>
            <a:endParaRPr lang="zh-CN" sz="1360" dirty="0"/>
          </a:p>
        </p:txBody>
      </p:sp>
      <p:sp>
        <p:nvSpPr>
          <p:cNvPr id="18" name="Text 16"/>
          <p:cNvSpPr txBox="1"/>
          <p:nvPr/>
        </p:nvSpPr>
        <p:spPr>
          <a:xfrm>
            <a:off x="5553456" y="2578608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明确业务重点与优先级</a:t>
            </a:r>
            <a:endParaRPr lang="zh-CN" sz="960" dirty="0"/>
          </a:p>
        </p:txBody>
      </p:sp>
      <p:sp>
        <p:nvSpPr>
          <p:cNvPr id="19" name="Shape 17"/>
          <p:cNvSpPr/>
          <p:nvPr/>
        </p:nvSpPr>
        <p:spPr>
          <a:xfrm>
            <a:off x="8491728" y="1901952"/>
            <a:ext cx="3102864" cy="941832"/>
          </a:xfrm>
          <a:prstGeom prst="rect">
            <a:avLst/>
          </a:prstGeom>
          <a:solidFill>
            <a:srgbClr val="FAFAF8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56320" y="203911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/ BD</a:t>
            </a:r>
            <a:endParaRPr lang="zh-CN" sz="820" dirty="0"/>
          </a:p>
        </p:txBody>
      </p:sp>
      <p:sp>
        <p:nvSpPr>
          <p:cNvPr id="21" name="Text 19"/>
          <p:cNvSpPr txBox="1"/>
          <p:nvPr/>
        </p:nvSpPr>
        <p:spPr>
          <a:xfrm>
            <a:off x="8656320" y="2276856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战略解码</a:t>
            </a:r>
            <a:endParaRPr lang="zh-CN" sz="1360" dirty="0"/>
          </a:p>
        </p:txBody>
      </p:sp>
      <p:sp>
        <p:nvSpPr>
          <p:cNvPr id="22" name="Text 20"/>
          <p:cNvSpPr txBox="1"/>
          <p:nvPr/>
        </p:nvSpPr>
        <p:spPr>
          <a:xfrm>
            <a:off x="8656320" y="2578608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转为组织与人才任务</a:t>
            </a:r>
            <a:endParaRPr lang="zh-CN" sz="960" dirty="0"/>
          </a:p>
        </p:txBody>
      </p:sp>
      <p:sp>
        <p:nvSpPr>
          <p:cNvPr id="23" name="Shape 21"/>
          <p:cNvSpPr/>
          <p:nvPr/>
        </p:nvSpPr>
        <p:spPr>
          <a:xfrm>
            <a:off x="594360" y="2843784"/>
            <a:ext cx="1691640" cy="941832"/>
          </a:xfrm>
          <a:prstGeom prst="rect">
            <a:avLst/>
          </a:prstGeom>
          <a:solidFill>
            <a:srgbClr val="0A0A0A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" y="29992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920" b="1" spc="120" kern="0" dirty="0">
                <a:solidFill>
                  <a:srgbClr val="BEBE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OD</a:t>
            </a:r>
            <a:endParaRPr lang="zh-CN" sz="920" dirty="0"/>
          </a:p>
        </p:txBody>
      </p:sp>
      <p:sp>
        <p:nvSpPr>
          <p:cNvPr id="25" name="Text 23"/>
          <p:cNvSpPr txBox="1"/>
          <p:nvPr/>
        </p:nvSpPr>
        <p:spPr>
          <a:xfrm>
            <a:off x="758952" y="3273552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组织发展</a:t>
            </a:r>
            <a:endParaRPr lang="zh-CN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758952" y="356616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FAFA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定环境</a:t>
            </a:r>
            <a:endParaRPr lang="zh-CN" sz="850" dirty="0"/>
          </a:p>
        </p:txBody>
      </p:sp>
      <p:sp>
        <p:nvSpPr>
          <p:cNvPr id="27" name="Shape 25"/>
          <p:cNvSpPr/>
          <p:nvPr/>
        </p:nvSpPr>
        <p:spPr>
          <a:xfrm>
            <a:off x="2286000" y="2843784"/>
            <a:ext cx="3102864" cy="941832"/>
          </a:xfrm>
          <a:prstGeom prst="rect">
            <a:avLst/>
          </a:prstGeom>
          <a:solidFill>
            <a:srgbClr val="F0F0EE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450592" y="298094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 / OD</a:t>
            </a:r>
            <a:endParaRPr lang="zh-CN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2450592" y="3218688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结构与机制</a:t>
            </a:r>
            <a:endParaRPr lang="zh-CN" sz="1360" dirty="0"/>
          </a:p>
        </p:txBody>
      </p:sp>
      <p:sp>
        <p:nvSpPr>
          <p:cNvPr id="30" name="Text 28"/>
          <p:cNvSpPr txBox="1"/>
          <p:nvPr/>
        </p:nvSpPr>
        <p:spPr>
          <a:xfrm>
            <a:off x="2450592" y="3520440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组织结构、岗位分布与关键机制</a:t>
            </a:r>
            <a:endParaRPr lang="zh-CN" sz="960" dirty="0"/>
          </a:p>
        </p:txBody>
      </p:sp>
      <p:sp>
        <p:nvSpPr>
          <p:cNvPr id="31" name="Shape 29"/>
          <p:cNvSpPr/>
          <p:nvPr/>
        </p:nvSpPr>
        <p:spPr>
          <a:xfrm>
            <a:off x="5388864" y="2843784"/>
            <a:ext cx="3102864" cy="941832"/>
          </a:xfrm>
          <a:prstGeom prst="rect">
            <a:avLst/>
          </a:prstGeom>
          <a:solidFill>
            <a:srgbClr val="F0F0EE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53456" y="298094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/ OD</a:t>
            </a:r>
            <a:endParaRPr lang="zh-CN" sz="820" dirty="0"/>
          </a:p>
        </p:txBody>
      </p:sp>
      <p:sp>
        <p:nvSpPr>
          <p:cNvPr id="33" name="Text 31"/>
          <p:cNvSpPr txBox="1"/>
          <p:nvPr/>
        </p:nvSpPr>
        <p:spPr>
          <a:xfrm>
            <a:off x="5553456" y="3218688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目标与绩效</a:t>
            </a:r>
            <a:endParaRPr lang="zh-CN" sz="1360" dirty="0"/>
          </a:p>
        </p:txBody>
      </p:sp>
      <p:sp>
        <p:nvSpPr>
          <p:cNvPr id="34" name="Text 32"/>
          <p:cNvSpPr txBox="1"/>
          <p:nvPr/>
        </p:nvSpPr>
        <p:spPr>
          <a:xfrm>
            <a:off x="5553456" y="3520440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让战略目标进入组织运行</a:t>
            </a:r>
            <a:endParaRPr lang="zh-CN" sz="960" dirty="0"/>
          </a:p>
        </p:txBody>
      </p:sp>
      <p:sp>
        <p:nvSpPr>
          <p:cNvPr id="35" name="Shape 33"/>
          <p:cNvSpPr/>
          <p:nvPr/>
        </p:nvSpPr>
        <p:spPr>
          <a:xfrm>
            <a:off x="8491728" y="2843784"/>
            <a:ext cx="3102864" cy="941832"/>
          </a:xfrm>
          <a:prstGeom prst="rect">
            <a:avLst/>
          </a:prstGeom>
          <a:solidFill>
            <a:srgbClr val="F0F0EE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56320" y="298094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/ OD</a:t>
            </a:r>
            <a:endParaRPr lang="zh-CN" sz="820" dirty="0"/>
          </a:p>
        </p:txBody>
      </p:sp>
      <p:sp>
        <p:nvSpPr>
          <p:cNvPr id="37" name="Text 35"/>
          <p:cNvSpPr txBox="1"/>
          <p:nvPr/>
        </p:nvSpPr>
        <p:spPr>
          <a:xfrm>
            <a:off x="8656320" y="3218688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文化与氛围</a:t>
            </a:r>
            <a:endParaRPr lang="zh-CN" sz="1360" dirty="0"/>
          </a:p>
        </p:txBody>
      </p:sp>
      <p:sp>
        <p:nvSpPr>
          <p:cNvPr id="38" name="Text 36"/>
          <p:cNvSpPr txBox="1"/>
          <p:nvPr/>
        </p:nvSpPr>
        <p:spPr>
          <a:xfrm>
            <a:off x="8656320" y="3520440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建立支持战略的组织环境</a:t>
            </a:r>
            <a:endParaRPr lang="zh-CN" sz="960" dirty="0"/>
          </a:p>
        </p:txBody>
      </p:sp>
      <p:sp>
        <p:nvSpPr>
          <p:cNvPr id="39" name="Shape 37"/>
          <p:cNvSpPr/>
          <p:nvPr/>
        </p:nvSpPr>
        <p:spPr>
          <a:xfrm>
            <a:off x="594360" y="3785616"/>
            <a:ext cx="1691640" cy="941832"/>
          </a:xfrm>
          <a:prstGeom prst="rect">
            <a:avLst/>
          </a:prstGeom>
          <a:solidFill>
            <a:srgbClr val="002FA7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" y="3941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920" b="1" spc="120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TD</a:t>
            </a:r>
            <a:endParaRPr lang="zh-CN" sz="920" dirty="0"/>
          </a:p>
        </p:txBody>
      </p:sp>
      <p:sp>
        <p:nvSpPr>
          <p:cNvPr id="41" name="Text 39"/>
          <p:cNvSpPr txBox="1"/>
          <p:nvPr/>
        </p:nvSpPr>
        <p:spPr>
          <a:xfrm>
            <a:off x="758952" y="4215384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人才发展</a:t>
            </a:r>
            <a:endParaRPr lang="zh-CN" sz="1450" dirty="0"/>
          </a:p>
        </p:txBody>
      </p:sp>
      <p:sp>
        <p:nvSpPr>
          <p:cNvPr id="42" name="Text 40"/>
          <p:cNvSpPr txBox="1"/>
          <p:nvPr/>
        </p:nvSpPr>
        <p:spPr>
          <a:xfrm>
            <a:off x="758952" y="4507992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定对象</a:t>
            </a:r>
            <a:endParaRPr lang="zh-CN" sz="850" dirty="0"/>
          </a:p>
        </p:txBody>
      </p:sp>
      <p:sp>
        <p:nvSpPr>
          <p:cNvPr id="43" name="Shape 41"/>
          <p:cNvSpPr/>
          <p:nvPr/>
        </p:nvSpPr>
        <p:spPr>
          <a:xfrm>
            <a:off x="2286000" y="3785616"/>
            <a:ext cx="3102864" cy="941832"/>
          </a:xfrm>
          <a:prstGeom prst="rect">
            <a:avLst/>
          </a:prstGeom>
          <a:solidFill>
            <a:srgbClr val="FAFAF8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86000" y="3785616"/>
            <a:ext cx="3102864" cy="32004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450592" y="392277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 / TD</a:t>
            </a:r>
            <a:endParaRPr lang="zh-CN" sz="820" dirty="0"/>
          </a:p>
        </p:txBody>
      </p:sp>
      <p:sp>
        <p:nvSpPr>
          <p:cNvPr id="46" name="Text 44"/>
          <p:cNvSpPr txBox="1"/>
          <p:nvPr/>
        </p:nvSpPr>
        <p:spPr>
          <a:xfrm>
            <a:off x="2450592" y="4160520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DEFINE · 定标准</a:t>
            </a:r>
            <a:endParaRPr lang="zh-CN" sz="1360" dirty="0"/>
          </a:p>
        </p:txBody>
      </p:sp>
      <p:sp>
        <p:nvSpPr>
          <p:cNvPr id="47" name="Text 45"/>
          <p:cNvSpPr txBox="1"/>
          <p:nvPr/>
        </p:nvSpPr>
        <p:spPr>
          <a:xfrm>
            <a:off x="2450592" y="4462272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 / 关键岗位分析 → 岗位标准</a:t>
            </a:r>
            <a:endParaRPr lang="zh-CN" sz="960" dirty="0"/>
          </a:p>
        </p:txBody>
      </p:sp>
      <p:sp>
        <p:nvSpPr>
          <p:cNvPr id="48" name="Shape 46"/>
          <p:cNvSpPr/>
          <p:nvPr/>
        </p:nvSpPr>
        <p:spPr>
          <a:xfrm>
            <a:off x="5388864" y="3785616"/>
            <a:ext cx="3102864" cy="941832"/>
          </a:xfrm>
          <a:prstGeom prst="rect">
            <a:avLst/>
          </a:prstGeom>
          <a:solidFill>
            <a:srgbClr val="FAFAF8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88864" y="3785616"/>
            <a:ext cx="3102864" cy="32004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553456" y="392277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/ TD</a:t>
            </a:r>
            <a:endParaRPr lang="zh-CN" sz="820" dirty="0"/>
          </a:p>
        </p:txBody>
      </p:sp>
      <p:sp>
        <p:nvSpPr>
          <p:cNvPr id="51" name="Text 49"/>
          <p:cNvSpPr txBox="1"/>
          <p:nvPr/>
        </p:nvSpPr>
        <p:spPr>
          <a:xfrm>
            <a:off x="5553456" y="4160520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DISCOVER · 识人才</a:t>
            </a:r>
            <a:endParaRPr lang="zh-CN" sz="1360" dirty="0"/>
          </a:p>
        </p:txBody>
      </p:sp>
      <p:sp>
        <p:nvSpPr>
          <p:cNvPr id="52" name="Text 50"/>
          <p:cNvSpPr txBox="1"/>
          <p:nvPr/>
        </p:nvSpPr>
        <p:spPr>
          <a:xfrm>
            <a:off x="5553456" y="4462272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评鉴工具 → 人才盘点</a:t>
            </a:r>
            <a:endParaRPr lang="zh-CN" sz="960" dirty="0"/>
          </a:p>
        </p:txBody>
      </p:sp>
      <p:sp>
        <p:nvSpPr>
          <p:cNvPr id="53" name="Shape 51"/>
          <p:cNvSpPr/>
          <p:nvPr/>
        </p:nvSpPr>
        <p:spPr>
          <a:xfrm>
            <a:off x="8491728" y="3785616"/>
            <a:ext cx="3102864" cy="941832"/>
          </a:xfrm>
          <a:prstGeom prst="rect">
            <a:avLst/>
          </a:prstGeom>
          <a:solidFill>
            <a:srgbClr val="FAFAF8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91728" y="3785616"/>
            <a:ext cx="3102864" cy="32004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56320" y="392277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/ TD</a:t>
            </a:r>
            <a:endParaRPr lang="zh-CN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656320" y="4160520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DRIVE · 促发展</a:t>
            </a:r>
            <a:endParaRPr lang="zh-CN" sz="1360" dirty="0"/>
          </a:p>
        </p:txBody>
      </p:sp>
      <p:sp>
        <p:nvSpPr>
          <p:cNvPr id="57" name="Text 55"/>
          <p:cNvSpPr txBox="1"/>
          <p:nvPr/>
        </p:nvSpPr>
        <p:spPr>
          <a:xfrm>
            <a:off x="8656320" y="4462272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人岗匹配 → 个人 IDP / 组织培养</a:t>
            </a:r>
            <a:endParaRPr lang="zh-CN" sz="960" dirty="0"/>
          </a:p>
        </p:txBody>
      </p:sp>
      <p:sp>
        <p:nvSpPr>
          <p:cNvPr id="58" name="Shape 56"/>
          <p:cNvSpPr/>
          <p:nvPr/>
        </p:nvSpPr>
        <p:spPr>
          <a:xfrm>
            <a:off x="594360" y="4727448"/>
            <a:ext cx="1691640" cy="941832"/>
          </a:xfrm>
          <a:prstGeom prst="rect">
            <a:avLst/>
          </a:prstGeom>
          <a:solidFill>
            <a:srgbClr val="0A0A0A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58952" y="48828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920" b="1" spc="120" kern="0" dirty="0">
                <a:solidFill>
                  <a:srgbClr val="BEBE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LD</a:t>
            </a:r>
            <a:endParaRPr lang="zh-CN" sz="920" dirty="0"/>
          </a:p>
        </p:txBody>
      </p:sp>
      <p:sp>
        <p:nvSpPr>
          <p:cNvPr id="60" name="Text 58"/>
          <p:cNvSpPr txBox="1"/>
          <p:nvPr/>
        </p:nvSpPr>
        <p:spPr>
          <a:xfrm>
            <a:off x="758952" y="5157216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学习发展</a:t>
            </a:r>
            <a:endParaRPr lang="zh-CN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758952" y="544982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FAFA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定行动</a:t>
            </a:r>
            <a:endParaRPr lang="zh-CN" sz="850" dirty="0"/>
          </a:p>
        </p:txBody>
      </p:sp>
      <p:sp>
        <p:nvSpPr>
          <p:cNvPr id="62" name="Shape 60"/>
          <p:cNvSpPr/>
          <p:nvPr/>
        </p:nvSpPr>
        <p:spPr>
          <a:xfrm>
            <a:off x="2286000" y="4727448"/>
            <a:ext cx="3102864" cy="941832"/>
          </a:xfrm>
          <a:prstGeom prst="rect">
            <a:avLst/>
          </a:prstGeom>
          <a:solidFill>
            <a:srgbClr val="F0F0EE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50592" y="486460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 / LD</a:t>
            </a:r>
            <a:endParaRPr lang="zh-CN" sz="820" dirty="0"/>
          </a:p>
        </p:txBody>
      </p:sp>
      <p:sp>
        <p:nvSpPr>
          <p:cNvPr id="64" name="Text 62"/>
          <p:cNvSpPr txBox="1"/>
          <p:nvPr/>
        </p:nvSpPr>
        <p:spPr>
          <a:xfrm>
            <a:off x="2450592" y="5102352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CONDUCT · 学</a:t>
            </a:r>
            <a:endParaRPr lang="zh-CN" sz="1360" dirty="0"/>
          </a:p>
        </p:txBody>
      </p:sp>
      <p:sp>
        <p:nvSpPr>
          <p:cNvPr id="65" name="Text 63"/>
          <p:cNvSpPr txBox="1"/>
          <p:nvPr/>
        </p:nvSpPr>
        <p:spPr>
          <a:xfrm>
            <a:off x="2450592" y="5404104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在线学习承接知识与课程</a:t>
            </a:r>
            <a:endParaRPr lang="zh-CN" sz="960" dirty="0"/>
          </a:p>
        </p:txBody>
      </p:sp>
      <p:sp>
        <p:nvSpPr>
          <p:cNvPr id="66" name="Shape 64"/>
          <p:cNvSpPr/>
          <p:nvPr/>
        </p:nvSpPr>
        <p:spPr>
          <a:xfrm>
            <a:off x="5388864" y="4727448"/>
            <a:ext cx="3102864" cy="941832"/>
          </a:xfrm>
          <a:prstGeom prst="rect">
            <a:avLst/>
          </a:prstGeom>
          <a:solidFill>
            <a:srgbClr val="F0F0EE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553456" y="486460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/ LD</a:t>
            </a:r>
            <a:endParaRPr lang="zh-CN" sz="820" dirty="0"/>
          </a:p>
        </p:txBody>
      </p:sp>
      <p:sp>
        <p:nvSpPr>
          <p:cNvPr id="68" name="Text 66"/>
          <p:cNvSpPr txBox="1"/>
          <p:nvPr/>
        </p:nvSpPr>
        <p:spPr>
          <a:xfrm>
            <a:off x="5553456" y="5102352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CONSTRUCT · 习</a:t>
            </a:r>
            <a:endParaRPr lang="zh-CN" sz="1360" dirty="0"/>
          </a:p>
        </p:txBody>
      </p:sp>
      <p:sp>
        <p:nvSpPr>
          <p:cNvPr id="69" name="Text 67"/>
          <p:cNvSpPr txBox="1"/>
          <p:nvPr/>
        </p:nvSpPr>
        <p:spPr>
          <a:xfrm>
            <a:off x="5553456" y="5404104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AI 陪练与项目实践</a:t>
            </a:r>
            <a:endParaRPr lang="zh-CN" sz="960" dirty="0"/>
          </a:p>
        </p:txBody>
      </p:sp>
      <p:sp>
        <p:nvSpPr>
          <p:cNvPr id="70" name="Shape 68"/>
          <p:cNvSpPr/>
          <p:nvPr/>
        </p:nvSpPr>
        <p:spPr>
          <a:xfrm>
            <a:off x="8491728" y="4727448"/>
            <a:ext cx="3102864" cy="941832"/>
          </a:xfrm>
          <a:prstGeom prst="rect">
            <a:avLst/>
          </a:prstGeom>
          <a:solidFill>
            <a:srgbClr val="F0F0EE"/>
          </a:solidFill>
          <a:ln w="5715">
            <a:solidFill>
              <a:srgbClr val="D4D4D2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656320" y="486460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20" b="1" spc="120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/ LD</a:t>
            </a:r>
            <a:endParaRPr lang="zh-CN" sz="820" dirty="0"/>
          </a:p>
        </p:txBody>
      </p:sp>
      <p:sp>
        <p:nvSpPr>
          <p:cNvPr id="72" name="Text 70"/>
          <p:cNvSpPr txBox="1"/>
          <p:nvPr/>
        </p:nvSpPr>
        <p:spPr>
          <a:xfrm>
            <a:off x="8656320" y="5102352"/>
            <a:ext cx="2773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CONVERT · 变</a:t>
            </a:r>
            <a:endParaRPr lang="zh-CN" sz="1360" dirty="0"/>
          </a:p>
        </p:txBody>
      </p:sp>
      <p:sp>
        <p:nvSpPr>
          <p:cNvPr id="73" name="Text 71"/>
          <p:cNvSpPr txBox="1"/>
          <p:nvPr/>
        </p:nvSpPr>
        <p:spPr>
          <a:xfrm>
            <a:off x="8656320" y="5404104"/>
            <a:ext cx="2773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CN" altLang="en-US" sz="96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行动学习推动能力转化</a:t>
            </a:r>
            <a:endParaRPr lang="zh-CN" sz="960" dirty="0"/>
          </a:p>
        </p:txBody>
      </p:sp>
      <p:sp>
        <p:nvSpPr>
          <p:cNvPr id="74" name="Shape 72"/>
          <p:cNvSpPr/>
          <p:nvPr/>
        </p:nvSpPr>
        <p:spPr>
          <a:xfrm>
            <a:off x="594360" y="5925312"/>
            <a:ext cx="11000232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94360" y="60716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b="1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战略向下解码</a:t>
            </a:r>
            <a:endParaRPr lang="zh-CN" sz="126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6071616"/>
            <a:ext cx="8988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业务方向通过组织、人才与学习层层落地；人才与学习结果反向支撑业务达成。</a:t>
            </a:r>
            <a:endParaRPr lang="zh-CN" sz="11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时代光华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海格汽车人才发展方案</dc:title>
  <dc:subject>从组织宏观视角开展企业人才发展</dc:subject>
  <dc:creator>时代光华</dc:creator>
  <cp:lastModifiedBy>时代光华</cp:lastModifiedBy>
  <cp:revision>1</cp:revision>
  <dcterms:created xsi:type="dcterms:W3CDTF">2026-08-27T16:31:18Z</dcterms:created>
  <dcterms:modified xsi:type="dcterms:W3CDTF">2026-08-27T16:31:18Z</dcterms:modified>
</cp:coreProperties>
</file>