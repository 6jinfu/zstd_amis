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这份简版只讲三个环节：岗位画像、资料盘点、内容推荐与生成。
每个环节都对应现有平台应用，最后用两个案例快速说明。
接下来：先看三环节的整体关系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三环节是一条连续链路。岗位画像决定要学什么，资料盘点判断现有内容够不够，第三步完成推荐与生成。
人才盘点和学习结果继续回流，让画像和内容不断更新。
接下来：拆解岗位画像及其与人才盘点的关系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第一个环节使用人才发展 AI 建模。系统读取岗位材料，提取关键任务、典型场景和能力要求，再由业务专家确认。
九宫格和人才图谱负责识别群体与个人差距，这些差距会成为后续内容推荐的重点。
接下来：看资料盘点以及内容推荐与生成如何承接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第二个环节通过案例库盘点已有资料，先收集、归类和识别缺口。
第三个环节分成推荐和内生。组织学习承接岗位共性推荐，个人发展计划承接个人推荐；缺失内容由 AI 陪练和 AI 智课补齐。
接下来：用讯飞学习机案例看资料收集与智课制作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讯飞学习机案例重点讲两个动作：案例库收集和 AI 智课制作。
已有业务案例和产品资料先进入案例库，完成分类与筛选，再选择可用素材生成课程初稿，最后由专家确认。
接下来：再看欧姆龙课长与部长岗位内容制作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欧姆龙案例按照同一条三环节链路展开。先梳理课长和部长的管理任务，再盘点内部制度、案例和经验，最后制作课程和情境练习。
两类岗位使用同一套方法，但内容深度和管理场景按层级适配。
接下来：用一页总结平台如何连接三个环节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总结起来，岗位画像由人才发展 AI 建模承接，资料盘点由案例库承接，内容推荐与生成由组织学习、个人发展计划、AI 陪练和 AI 智课承接。
九宫格和人才图谱把人才差距反馈回来，形成持续更新。
接下来：进入具体截图与案例材料补充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52944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73568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94192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14816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76688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97312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17936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23444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123444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13064" y="123444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06256" y="123444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99448" y="123444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0" y="123444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85832" y="123444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79024" y="123444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72216" y="123444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26680" y="167335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19872" y="167335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13064" y="167335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06256" y="1673352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99448" y="167335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2640" y="167335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85832" y="167335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79024" y="1673352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72216" y="167335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6680" y="2112264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19872" y="2112264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13064" y="2112264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06256" y="2112264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99448" y="2112264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92640" y="2112264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85832" y="2112264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79024" y="2112264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872216" y="2112264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26680" y="2551176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19872" y="2551176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13064" y="2551176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06256" y="2551176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99448" y="2551176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692640" y="2551176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085832" y="2551176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479024" y="2551176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872216" y="2551176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26680" y="2990088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19872" y="2990088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13064" y="2990088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06256" y="2990088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299448" y="2990088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692640" y="2990088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085832" y="2990088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479024" y="2990088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872216" y="2990088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26680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119872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513064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906256" y="342900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299448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692640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085832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479024" y="342900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872216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726680" y="386791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119872" y="386791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513064" y="3867912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906256" y="386791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299448" y="386791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92640" y="386791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085832" y="3867912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479024" y="386791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872216" y="386791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94360" y="38404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岗位学习内容建设 · 简版</a:t>
            </a:r>
            <a:endParaRPr lang="zh-CN" sz="850" dirty="0"/>
          </a:p>
        </p:txBody>
      </p:sp>
      <p:sp>
        <p:nvSpPr>
          <p:cNvPr id="77" name="Text 75"/>
          <p:cNvSpPr txBox="1"/>
          <p:nvPr/>
        </p:nvSpPr>
        <p:spPr>
          <a:xfrm>
            <a:off x="10625328" y="38404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05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07</a:t>
            </a:r>
            <a:endParaRPr lang="zh-CN" sz="850" dirty="0"/>
          </a:p>
        </p:txBody>
      </p:sp>
      <p:sp>
        <p:nvSpPr>
          <p:cNvPr id="78" name="Text 76"/>
          <p:cNvSpPr txBox="1"/>
          <p:nvPr/>
        </p:nvSpPr>
        <p:spPr>
          <a:xfrm>
            <a:off x="594360" y="10515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时代光华 · AI FOR LEARNING</a:t>
            </a:r>
            <a:endParaRPr lang="zh-CN" sz="850" dirty="0"/>
          </a:p>
        </p:txBody>
      </p:sp>
      <p:sp>
        <p:nvSpPr>
          <p:cNvPr id="79" name="Text 77"/>
          <p:cNvSpPr txBox="1"/>
          <p:nvPr/>
        </p:nvSpPr>
        <p:spPr>
          <a:xfrm>
            <a:off x="594360" y="1572768"/>
            <a:ext cx="6080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4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驱动岗位学习</a:t>
            </a:r>
            <a:endParaRPr lang="zh-CN" sz="4800" dirty="0"/>
          </a:p>
          <a:p>
            <a:pPr algn="l" indent="0" marL="0">
              <a:buNone/>
            </a:pPr>
            <a:r>
              <a:rPr lang="zh-CN" altLang="en-US" sz="4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内容建设</a:t>
            </a:r>
            <a:endParaRPr lang="zh-CN" sz="4800" dirty="0"/>
          </a:p>
        </p:txBody>
      </p:sp>
      <p:sp>
        <p:nvSpPr>
          <p:cNvPr id="80" name="Text 78"/>
          <p:cNvSpPr txBox="1"/>
          <p:nvPr/>
        </p:nvSpPr>
        <p:spPr>
          <a:xfrm>
            <a:off x="594360" y="388620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岗位画像 → 资料盘点 → 内容推荐与生成</a:t>
            </a:r>
            <a:endParaRPr lang="zh-CN" sz="1850" dirty="0"/>
          </a:p>
        </p:txBody>
      </p:sp>
      <p:sp>
        <p:nvSpPr>
          <p:cNvPr id="81" name="Shape 79"/>
          <p:cNvSpPr/>
          <p:nvPr/>
        </p:nvSpPr>
        <p:spPr>
          <a:xfrm>
            <a:off x="594360" y="4919472"/>
            <a:ext cx="11000232" cy="0"/>
          </a:xfrm>
          <a:prstGeom prst="line">
            <a:avLst/>
          </a:prstGeom>
          <a:noFill/>
          <a:ln w="6985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594360" y="518464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用平台应用把岗位标准、现有资料与学习内容连接起来。</a:t>
            </a:r>
            <a:endParaRPr lang="zh-CN" sz="1550" dirty="0"/>
          </a:p>
        </p:txBody>
      </p:sp>
      <p:sp>
        <p:nvSpPr>
          <p:cNvPr id="83" name="Text 81"/>
          <p:cNvSpPr txBox="1"/>
          <p:nvPr/>
        </p:nvSpPr>
        <p:spPr>
          <a:xfrm>
            <a:off x="594360" y="614476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简版介绍 · 环节拆解 / 平台适配 / 案例简述</a:t>
            </a:r>
            <a:endParaRPr lang="zh-CN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· 三环节总览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7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从岗位要求出发，先盘清资料，再形成可用学习内容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9728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三个环节，形成一条</a:t>
            </a:r>
            <a:endParaRPr lang="zh-CN" sz="3500" dirty="0"/>
          </a:p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岗位学习内容链路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594360" y="2514600"/>
            <a:ext cx="3364992" cy="2651760"/>
          </a:xfrm>
          <a:prstGeom prst="rect">
            <a:avLst/>
          </a:prstGeom>
          <a:solidFill>
            <a:srgbClr val="FFFFFF"/>
          </a:solidFill>
          <a:ln w="8890">
            <a:solidFill>
              <a:srgbClr val="D4D4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2770632"/>
            <a:ext cx="365760" cy="365760"/>
          </a:xfrm>
          <a:prstGeom prst="round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3816" y="27889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13816" y="331012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岗位画像</a:t>
            </a:r>
            <a:endParaRPr lang="zh-CN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13816" y="382219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2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明确关键任务、典型场景与能力要求</a:t>
            </a:r>
            <a:endParaRPr lang="zh-CN" sz="1120" dirty="0"/>
          </a:p>
        </p:txBody>
      </p:sp>
      <p:sp>
        <p:nvSpPr>
          <p:cNvPr id="11" name="Text 9"/>
          <p:cNvSpPr txBox="1"/>
          <p:nvPr/>
        </p:nvSpPr>
        <p:spPr>
          <a:xfrm>
            <a:off x="813816" y="4727448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输出：岗位训练蓝图</a:t>
            </a:r>
            <a:endParaRPr lang="zh-CN" sz="850" dirty="0"/>
          </a:p>
        </p:txBody>
      </p:sp>
      <p:sp>
        <p:nvSpPr>
          <p:cNvPr id="12" name="Shape 10"/>
          <p:cNvSpPr/>
          <p:nvPr/>
        </p:nvSpPr>
        <p:spPr>
          <a:xfrm>
            <a:off x="3959352" y="3840480"/>
            <a:ext cx="338328" cy="0"/>
          </a:xfrm>
          <a:prstGeom prst="line">
            <a:avLst/>
          </a:prstGeom>
          <a:noFill/>
          <a:ln w="1460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97680" y="2514600"/>
            <a:ext cx="3364992" cy="2651760"/>
          </a:xfrm>
          <a:prstGeom prst="rect">
            <a:avLst/>
          </a:prstGeom>
          <a:solidFill>
            <a:srgbClr val="171717"/>
          </a:solidFill>
          <a:ln w="889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17136" y="2770632"/>
            <a:ext cx="365760" cy="365760"/>
          </a:xfrm>
          <a:prstGeom prst="round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17136" y="27889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17136" y="331012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资料盘点</a:t>
            </a:r>
            <a:endParaRPr lang="zh-CN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517136" y="382219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20" dirty="0">
                <a:solidFill>
                  <a:srgbClr val="D5D5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收集、归类并判断现有资料是否可用</a:t>
            </a:r>
            <a:endParaRPr lang="zh-CN" sz="1120" dirty="0"/>
          </a:p>
        </p:txBody>
      </p:sp>
      <p:sp>
        <p:nvSpPr>
          <p:cNvPr id="18" name="Text 16"/>
          <p:cNvSpPr txBox="1"/>
          <p:nvPr/>
        </p:nvSpPr>
        <p:spPr>
          <a:xfrm>
            <a:off x="4517136" y="4727448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输出：资料目录与缺口</a:t>
            </a:r>
            <a:endParaRPr lang="zh-CN" sz="850" dirty="0"/>
          </a:p>
        </p:txBody>
      </p:sp>
      <p:sp>
        <p:nvSpPr>
          <p:cNvPr id="19" name="Shape 17"/>
          <p:cNvSpPr/>
          <p:nvPr/>
        </p:nvSpPr>
        <p:spPr>
          <a:xfrm>
            <a:off x="7662672" y="3840480"/>
            <a:ext cx="338328" cy="0"/>
          </a:xfrm>
          <a:prstGeom prst="line">
            <a:avLst/>
          </a:prstGeom>
          <a:noFill/>
          <a:ln w="1460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01000" y="2514600"/>
            <a:ext cx="3364992" cy="2651760"/>
          </a:xfrm>
          <a:prstGeom prst="rect">
            <a:avLst/>
          </a:prstGeom>
          <a:solidFill>
            <a:srgbClr val="002FA7"/>
          </a:solidFill>
          <a:ln w="889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0456" y="2770632"/>
            <a:ext cx="365760" cy="365760"/>
          </a:xfrm>
          <a:prstGeom prst="round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0456" y="27889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220456" y="331012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内容推荐与生成</a:t>
            </a:r>
            <a:endParaRPr lang="zh-CN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220456" y="382219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20" dirty="0">
                <a:solidFill>
                  <a:srgbClr val="D5D5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推荐已有资源，并生成缺失内容</a:t>
            </a:r>
            <a:endParaRPr lang="zh-CN" sz="1120" dirty="0"/>
          </a:p>
        </p:txBody>
      </p:sp>
      <p:sp>
        <p:nvSpPr>
          <p:cNvPr id="25" name="Text 23"/>
          <p:cNvSpPr txBox="1"/>
          <p:nvPr/>
        </p:nvSpPr>
        <p:spPr>
          <a:xfrm>
            <a:off x="8220456" y="4727448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输出：岗位学习内容</a:t>
            </a:r>
            <a:endParaRPr lang="zh-CN" sz="850" dirty="0"/>
          </a:p>
        </p:txBody>
      </p:sp>
      <p:sp>
        <p:nvSpPr>
          <p:cNvPr id="26" name="Shape 24"/>
          <p:cNvSpPr/>
          <p:nvPr/>
        </p:nvSpPr>
        <p:spPr>
          <a:xfrm>
            <a:off x="594360" y="5596128"/>
            <a:ext cx="10771632" cy="484632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73328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人才盘点结果与学习反馈持续回流，推动岗位画像和内容更新。</a:t>
            </a:r>
            <a:endParaRPr lang="zh-CN" sz="1170" dirty="0"/>
          </a:p>
        </p:txBody>
      </p:sp>
      <p:sp>
        <p:nvSpPr>
          <p:cNvPr id="28" name="Shape 26"/>
          <p:cNvSpPr/>
          <p:nvPr/>
        </p:nvSpPr>
        <p:spPr>
          <a:xfrm>
            <a:off x="9966960" y="5678424"/>
            <a:ext cx="1170432" cy="310896"/>
          </a:xfrm>
          <a:prstGeom prst="roundRect">
            <a:avLst/>
          </a:prstGeom>
          <a:solidFill>
            <a:srgbClr val="E4F5F1"/>
          </a:solidFill>
          <a:ln w="6350">
            <a:solidFill>
              <a:srgbClr val="E4F5F1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40112" y="5742432"/>
            <a:ext cx="10241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持续迭代</a:t>
            </a:r>
            <a:endParaRPr lang="zh-CN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· 环节拆解 / 岗位画像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7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平台应用：人才发展 AI 建模 + 九宫格 / 人才图谱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78992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岗位画像：先建立</a:t>
            </a:r>
            <a:endParaRPr lang="zh-CN" sz="3400" dirty="0"/>
          </a:p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岗位学习的统一标准</a:t>
            </a:r>
            <a:endParaRPr lang="zh-CN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2359152"/>
            <a:ext cx="365760" cy="365760"/>
          </a:xfrm>
          <a:prstGeom prst="round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3774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35000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8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zh-CN" sz="1280" dirty="0"/>
          </a:p>
        </p:txBody>
      </p:sp>
      <p:sp>
        <p:nvSpPr>
          <p:cNvPr id="9" name="Text 7"/>
          <p:cNvSpPr txBox="1"/>
          <p:nvPr/>
        </p:nvSpPr>
        <p:spPr>
          <a:xfrm>
            <a:off x="2203704" y="2359152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0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岗位说明书、访谈、流程制度</a:t>
            </a:r>
            <a:endParaRPr lang="zh-CN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798064"/>
            <a:ext cx="0" cy="365760"/>
          </a:xfrm>
          <a:prstGeom prst="line">
            <a:avLst/>
          </a:prstGeom>
          <a:noFill/>
          <a:ln w="1143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4360" y="3163824"/>
            <a:ext cx="365760" cy="365760"/>
          </a:xfrm>
          <a:prstGeom prst="round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182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" y="315468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8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建模</a:t>
            </a:r>
            <a:endParaRPr lang="zh-CN" sz="1280" dirty="0"/>
          </a:p>
        </p:txBody>
      </p:sp>
      <p:sp>
        <p:nvSpPr>
          <p:cNvPr id="14" name="Text 12"/>
          <p:cNvSpPr txBox="1"/>
          <p:nvPr/>
        </p:nvSpPr>
        <p:spPr>
          <a:xfrm>
            <a:off x="2203704" y="3163824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0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提取任务、场景与能力要求</a:t>
            </a:r>
            <a:endParaRPr lang="zh-CN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602736"/>
            <a:ext cx="0" cy="365760"/>
          </a:xfrm>
          <a:prstGeom prst="line">
            <a:avLst/>
          </a:prstGeom>
          <a:noFill/>
          <a:ln w="1143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94360" y="3968496"/>
            <a:ext cx="365760" cy="365760"/>
          </a:xfrm>
          <a:prstGeom prst="round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9867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" y="39593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8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</a:t>
            </a:r>
            <a:endParaRPr lang="zh-CN" sz="1280" dirty="0"/>
          </a:p>
        </p:txBody>
      </p:sp>
      <p:sp>
        <p:nvSpPr>
          <p:cNvPr id="19" name="Text 17"/>
          <p:cNvSpPr txBox="1"/>
          <p:nvPr/>
        </p:nvSpPr>
        <p:spPr>
          <a:xfrm>
            <a:off x="2203704" y="3968496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0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业务专家调整并形成岗位画像</a:t>
            </a:r>
            <a:endParaRPr lang="zh-CN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965192"/>
            <a:ext cx="50749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1663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人才盘点与应用</a:t>
            </a:r>
            <a:endParaRPr lang="zh-CN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2176272" y="5102352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九宫格与人才图谱识别群体及个人差距，反向确定学习重点。</a:t>
            </a:r>
            <a:endParaRPr lang="zh-CN" sz="1120" dirty="0"/>
          </a:p>
        </p:txBody>
      </p:sp>
      <p:sp>
        <p:nvSpPr>
          <p:cNvPr id="23" name="Shape 21"/>
          <p:cNvSpPr/>
          <p:nvPr/>
        </p:nvSpPr>
        <p:spPr>
          <a:xfrm>
            <a:off x="5989320" y="1234440"/>
            <a:ext cx="560527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1417320"/>
            <a:ext cx="5239512" cy="2377440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3794760"/>
            <a:ext cx="5239512" cy="-2377440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0488" y="1435608"/>
            <a:ext cx="1417320" cy="310896"/>
          </a:xfrm>
          <a:prstGeom prst="round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63640" y="1499616"/>
            <a:ext cx="1271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产品截图占位</a:t>
            </a:r>
            <a:endParaRPr lang="zh-CN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2350008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5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人才发展 AI 建模</a:t>
            </a:r>
            <a:endParaRPr lang="zh-CN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2770632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替换为岗位画像建模或岗位标准页面</a:t>
            </a:r>
            <a:endParaRPr lang="zh-CN" sz="980" dirty="0"/>
          </a:p>
        </p:txBody>
      </p:sp>
      <p:sp>
        <p:nvSpPr>
          <p:cNvPr id="30" name="Shape 28"/>
          <p:cNvSpPr/>
          <p:nvPr/>
        </p:nvSpPr>
        <p:spPr>
          <a:xfrm>
            <a:off x="5989320" y="4224528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4407408"/>
            <a:ext cx="2331720" cy="1298448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5705856"/>
            <a:ext cx="2331720" cy="-1298448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90488" y="4425696"/>
            <a:ext cx="1417320" cy="310896"/>
          </a:xfrm>
          <a:prstGeom prst="round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63640" y="4489704"/>
            <a:ext cx="1271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产品截图占位</a:t>
            </a:r>
            <a:endParaRPr lang="zh-CN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48006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5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九宫格</a:t>
            </a:r>
            <a:endParaRPr lang="zh-CN" sz="1550" dirty="0"/>
          </a:p>
        </p:txBody>
      </p:sp>
      <p:sp>
        <p:nvSpPr>
          <p:cNvPr id="36" name="Text 34"/>
          <p:cNvSpPr txBox="1"/>
          <p:nvPr/>
        </p:nvSpPr>
        <p:spPr>
          <a:xfrm>
            <a:off x="6309360" y="522122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替换为人才盘点结果截图</a:t>
            </a:r>
            <a:endParaRPr lang="zh-CN" sz="980" dirty="0"/>
          </a:p>
        </p:txBody>
      </p:sp>
      <p:sp>
        <p:nvSpPr>
          <p:cNvPr id="37" name="Shape 35"/>
          <p:cNvSpPr/>
          <p:nvPr/>
        </p:nvSpPr>
        <p:spPr>
          <a:xfrm>
            <a:off x="8897112" y="4224528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79992" y="4407408"/>
            <a:ext cx="2331720" cy="1298448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79992" y="5705856"/>
            <a:ext cx="2331720" cy="-1298448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98280" y="4425696"/>
            <a:ext cx="1417320" cy="310896"/>
          </a:xfrm>
          <a:prstGeom prst="round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71432" y="4489704"/>
            <a:ext cx="1271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产品截图占位</a:t>
            </a:r>
            <a:endParaRPr lang="zh-CN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9217152" y="48006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5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人才图谱</a:t>
            </a:r>
            <a:endParaRPr lang="zh-CN" sz="1550" dirty="0"/>
          </a:p>
        </p:txBody>
      </p:sp>
      <p:sp>
        <p:nvSpPr>
          <p:cNvPr id="43" name="Text 41"/>
          <p:cNvSpPr txBox="1"/>
          <p:nvPr/>
        </p:nvSpPr>
        <p:spPr>
          <a:xfrm>
            <a:off x="9217152" y="522122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替换为人才图谱页面截图</a:t>
            </a:r>
            <a:endParaRPr lang="zh-CN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· 环节拆解 / 资料与内容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/ 7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平台应用：案例库 + 组织学习 / 个人发展计划 + AI 陪练 / AI 智课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78992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02–03 盘点已有资料，</a:t>
            </a:r>
            <a:endParaRPr lang="zh-CN" sz="3400" dirty="0"/>
          </a:p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再推荐或生成内容</a:t>
            </a:r>
            <a:endParaRPr lang="zh-CN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3346704" cy="1874520"/>
          </a:xfrm>
          <a:prstGeom prst="rect">
            <a:avLst/>
          </a:prstGeom>
          <a:solidFill>
            <a:srgbClr val="171717"/>
          </a:solidFill>
          <a:ln w="635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27249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B8B8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0723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资料盘点</a:t>
            </a:r>
            <a:endParaRPr lang="zh-CN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3520440"/>
            <a:ext cx="2852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50" dirty="0">
                <a:solidFill>
                  <a:srgbClr val="D5D5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案例库收集制度、案例、课程与经验资料，完成归类、标签和缺口识别。</a:t>
            </a:r>
            <a:endParaRPr lang="zh-CN" sz="1050" dirty="0"/>
          </a:p>
        </p:txBody>
      </p:sp>
      <p:sp>
        <p:nvSpPr>
          <p:cNvPr id="10" name="Shape 8"/>
          <p:cNvSpPr/>
          <p:nvPr/>
        </p:nvSpPr>
        <p:spPr>
          <a:xfrm>
            <a:off x="3941064" y="3401568"/>
            <a:ext cx="338328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79392" y="2468880"/>
            <a:ext cx="3346704" cy="1874520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27249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03A</a:t>
            </a:r>
            <a:endParaRPr lang="zh-CN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0723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资源推荐</a:t>
            </a:r>
            <a:endParaRPr lang="zh-CN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520440"/>
            <a:ext cx="2852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50" dirty="0">
                <a:solidFill>
                  <a:srgbClr val="D5D5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组织学习推荐岗位共性内容；个人发展计划推荐个人差距内容。</a:t>
            </a:r>
            <a:endParaRPr lang="zh-CN" sz="1050" dirty="0"/>
          </a:p>
        </p:txBody>
      </p:sp>
      <p:sp>
        <p:nvSpPr>
          <p:cNvPr id="15" name="Shape 13"/>
          <p:cNvSpPr/>
          <p:nvPr/>
        </p:nvSpPr>
        <p:spPr>
          <a:xfrm>
            <a:off x="7626096" y="3401568"/>
            <a:ext cx="338328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64424" y="2468880"/>
            <a:ext cx="3346704" cy="1874520"/>
          </a:xfrm>
          <a:prstGeom prst="rect">
            <a:avLst/>
          </a:prstGeom>
          <a:solidFill>
            <a:srgbClr val="E4F5F1"/>
          </a:solidFill>
          <a:ln w="6350">
            <a:solidFill>
              <a:srgbClr val="E4F5F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65592" y="27249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03B</a:t>
            </a:r>
            <a:endParaRPr lang="zh-CN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165592" y="30723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资源内生</a:t>
            </a:r>
            <a:endParaRPr lang="zh-CN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165592" y="3520440"/>
            <a:ext cx="2852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5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陪练生成情境练习；AI 智课将资料快速制作成课程内容。</a:t>
            </a:r>
            <a:endParaRPr lang="zh-CN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4645152"/>
            <a:ext cx="334670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828032"/>
            <a:ext cx="2980944" cy="932688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760720"/>
            <a:ext cx="2980944" cy="-932688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4846320"/>
            <a:ext cx="1417320" cy="310896"/>
          </a:xfrm>
          <a:prstGeom prst="round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4910328"/>
            <a:ext cx="1271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产品截图占位</a:t>
            </a:r>
            <a:endParaRPr lang="zh-CN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5038344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5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案例库</a:t>
            </a:r>
            <a:endParaRPr lang="zh-CN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5458968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资源收集、标签与检索页面</a:t>
            </a:r>
            <a:endParaRPr lang="zh-CN" sz="980" dirty="0"/>
          </a:p>
        </p:txBody>
      </p:sp>
      <p:sp>
        <p:nvSpPr>
          <p:cNvPr id="27" name="Shape 25"/>
          <p:cNvSpPr/>
          <p:nvPr/>
        </p:nvSpPr>
        <p:spPr>
          <a:xfrm>
            <a:off x="4279392" y="4645152"/>
            <a:ext cx="334670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62272" y="4828032"/>
            <a:ext cx="2980944" cy="932688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62272" y="5760720"/>
            <a:ext cx="2980944" cy="-932688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4846320"/>
            <a:ext cx="1417320" cy="310896"/>
          </a:xfrm>
          <a:prstGeom prst="round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53712" y="4910328"/>
            <a:ext cx="1271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产品截图占位</a:t>
            </a:r>
            <a:endParaRPr lang="zh-CN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599432" y="5038344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5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内容推荐</a:t>
            </a:r>
            <a:endParaRPr lang="zh-CN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4599432" y="5458968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组织学习或个人发展计划页面</a:t>
            </a:r>
            <a:endParaRPr lang="zh-CN" sz="980" dirty="0"/>
          </a:p>
        </p:txBody>
      </p:sp>
      <p:sp>
        <p:nvSpPr>
          <p:cNvPr id="34" name="Shape 32"/>
          <p:cNvSpPr/>
          <p:nvPr/>
        </p:nvSpPr>
        <p:spPr>
          <a:xfrm>
            <a:off x="7964424" y="4645152"/>
            <a:ext cx="334670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47304" y="4828032"/>
            <a:ext cx="2980944" cy="932688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47304" y="5760720"/>
            <a:ext cx="2980944" cy="-932688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65592" y="4846320"/>
            <a:ext cx="1417320" cy="310896"/>
          </a:xfrm>
          <a:prstGeom prst="round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38744" y="4910328"/>
            <a:ext cx="1271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产品截图占位</a:t>
            </a:r>
            <a:endParaRPr lang="zh-CN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284464" y="5038344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5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陪练 / AI 智课</a:t>
            </a:r>
            <a:endParaRPr lang="zh-CN" sz="1550" dirty="0"/>
          </a:p>
        </p:txBody>
      </p:sp>
      <p:sp>
        <p:nvSpPr>
          <p:cNvPr id="40" name="Text 38"/>
          <p:cNvSpPr txBox="1"/>
          <p:nvPr/>
        </p:nvSpPr>
        <p:spPr>
          <a:xfrm>
            <a:off x="8284464" y="5458968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练习或课程生成页面</a:t>
            </a:r>
            <a:endParaRPr lang="zh-CN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· 案例简述 / 讯飞学习机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/ 7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案例库收集与智课课程制作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78992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讯飞学习机：从案例收集</a:t>
            </a:r>
            <a:endParaRPr lang="zh-CN" sz="3400" dirty="0"/>
          </a:p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到课程快速制作</a:t>
            </a:r>
            <a:endParaRPr lang="zh-CN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2359152"/>
            <a:ext cx="365760" cy="365760"/>
          </a:xfrm>
          <a:prstGeom prst="round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3774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3591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7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收集</a:t>
            </a:r>
            <a:endParaRPr lang="zh-CN" sz="1270" dirty="0"/>
          </a:p>
        </p:txBody>
      </p:sp>
      <p:sp>
        <p:nvSpPr>
          <p:cNvPr id="9" name="Text 7"/>
          <p:cNvSpPr txBox="1"/>
          <p:nvPr/>
        </p:nvSpPr>
        <p:spPr>
          <a:xfrm>
            <a:off x="2093976" y="23591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将业务案例、产品资料与经验内容进入案例库</a:t>
            </a:r>
            <a:endParaRPr lang="zh-CN" sz="1070" dirty="0"/>
          </a:p>
        </p:txBody>
      </p:sp>
      <p:sp>
        <p:nvSpPr>
          <p:cNvPr id="10" name="Shape 8"/>
          <p:cNvSpPr/>
          <p:nvPr/>
        </p:nvSpPr>
        <p:spPr>
          <a:xfrm>
            <a:off x="594360" y="3063240"/>
            <a:ext cx="365760" cy="365760"/>
          </a:xfrm>
          <a:prstGeom prst="round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081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0632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7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整理</a:t>
            </a:r>
            <a:endParaRPr lang="zh-CN" sz="1270" dirty="0"/>
          </a:p>
        </p:txBody>
      </p:sp>
      <p:sp>
        <p:nvSpPr>
          <p:cNvPr id="13" name="Text 11"/>
          <p:cNvSpPr txBox="1"/>
          <p:nvPr/>
        </p:nvSpPr>
        <p:spPr>
          <a:xfrm>
            <a:off x="2093976" y="30632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按主题、场景和适用对象完成标签与筛选</a:t>
            </a:r>
            <a:endParaRPr lang="zh-CN" sz="1070" dirty="0"/>
          </a:p>
        </p:txBody>
      </p:sp>
      <p:sp>
        <p:nvSpPr>
          <p:cNvPr id="14" name="Shape 12"/>
          <p:cNvSpPr/>
          <p:nvPr/>
        </p:nvSpPr>
        <p:spPr>
          <a:xfrm>
            <a:off x="594360" y="3767328"/>
            <a:ext cx="365760" cy="365760"/>
          </a:xfrm>
          <a:prstGeom prst="round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7856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7673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7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制作</a:t>
            </a:r>
            <a:endParaRPr lang="zh-CN" sz="1270" dirty="0"/>
          </a:p>
        </p:txBody>
      </p:sp>
      <p:sp>
        <p:nvSpPr>
          <p:cNvPr id="17" name="Text 15"/>
          <p:cNvSpPr txBox="1"/>
          <p:nvPr/>
        </p:nvSpPr>
        <p:spPr>
          <a:xfrm>
            <a:off x="2093976" y="376732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选择可用素材，通过 AI 智课生成课程初稿</a:t>
            </a:r>
            <a:endParaRPr lang="zh-CN" sz="1070" dirty="0"/>
          </a:p>
        </p:txBody>
      </p:sp>
      <p:sp>
        <p:nvSpPr>
          <p:cNvPr id="18" name="Shape 16"/>
          <p:cNvSpPr/>
          <p:nvPr/>
        </p:nvSpPr>
        <p:spPr>
          <a:xfrm>
            <a:off x="594360" y="4471416"/>
            <a:ext cx="365760" cy="365760"/>
          </a:xfrm>
          <a:prstGeom prst="round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44897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zh-CN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47141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7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</a:t>
            </a:r>
            <a:endParaRPr lang="zh-CN" sz="1270" dirty="0"/>
          </a:p>
        </p:txBody>
      </p:sp>
      <p:sp>
        <p:nvSpPr>
          <p:cNvPr id="21" name="Text 19"/>
          <p:cNvSpPr txBox="1"/>
          <p:nvPr/>
        </p:nvSpPr>
        <p:spPr>
          <a:xfrm>
            <a:off x="2093976" y="447141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业务专家补充与调整后发布使用</a:t>
            </a:r>
            <a:endParaRPr lang="zh-CN" sz="1070" dirty="0"/>
          </a:p>
        </p:txBody>
      </p:sp>
      <p:sp>
        <p:nvSpPr>
          <p:cNvPr id="22" name="Shape 20"/>
          <p:cNvSpPr/>
          <p:nvPr/>
        </p:nvSpPr>
        <p:spPr>
          <a:xfrm>
            <a:off x="594360" y="5321808"/>
            <a:ext cx="5239512" cy="512064"/>
          </a:xfrm>
          <a:prstGeom prst="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468112"/>
            <a:ext cx="4873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5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重点：复用已收集案例，减少课程资料重复整理。</a:t>
            </a:r>
            <a:endParaRPr lang="zh-CN" sz="1150" dirty="0"/>
          </a:p>
        </p:txBody>
      </p:sp>
      <p:sp>
        <p:nvSpPr>
          <p:cNvPr id="24" name="Shape 22"/>
          <p:cNvSpPr/>
          <p:nvPr/>
        </p:nvSpPr>
        <p:spPr>
          <a:xfrm>
            <a:off x="6053328" y="1371600"/>
            <a:ext cx="2670048" cy="4462272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36208" y="1554480"/>
            <a:ext cx="2304288" cy="4096512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6208" y="5650992"/>
            <a:ext cx="2304288" cy="-4096512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54496" y="1572768"/>
            <a:ext cx="1417320" cy="310896"/>
          </a:xfrm>
          <a:prstGeom prst="round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27648" y="1636776"/>
            <a:ext cx="1271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产品截图占位</a:t>
            </a:r>
            <a:endParaRPr lang="zh-CN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373368" y="334670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5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案例库截图</a:t>
            </a:r>
            <a:endParaRPr lang="zh-CN" sz="1550" dirty="0"/>
          </a:p>
        </p:txBody>
      </p:sp>
      <p:sp>
        <p:nvSpPr>
          <p:cNvPr id="30" name="Text 28"/>
          <p:cNvSpPr txBox="1"/>
          <p:nvPr/>
        </p:nvSpPr>
        <p:spPr>
          <a:xfrm>
            <a:off x="6373368" y="37673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建议放资源收集、分类或案例详情页</a:t>
            </a:r>
            <a:endParaRPr lang="zh-CN" sz="980" dirty="0"/>
          </a:p>
        </p:txBody>
      </p:sp>
      <p:sp>
        <p:nvSpPr>
          <p:cNvPr id="31" name="Shape 29"/>
          <p:cNvSpPr/>
          <p:nvPr/>
        </p:nvSpPr>
        <p:spPr>
          <a:xfrm>
            <a:off x="8924544" y="1371600"/>
            <a:ext cx="2670048" cy="4462272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07424" y="1554480"/>
            <a:ext cx="2304288" cy="4096512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07424" y="5650992"/>
            <a:ext cx="2304288" cy="-4096512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25712" y="1572768"/>
            <a:ext cx="1417320" cy="310896"/>
          </a:xfrm>
          <a:prstGeom prst="round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98864" y="1636776"/>
            <a:ext cx="1271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产品截图占位</a:t>
            </a:r>
            <a:endParaRPr lang="zh-CN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9244584" y="334670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5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智课截图</a:t>
            </a:r>
            <a:endParaRPr lang="zh-CN" sz="1550" dirty="0"/>
          </a:p>
        </p:txBody>
      </p:sp>
      <p:sp>
        <p:nvSpPr>
          <p:cNvPr id="37" name="Text 35"/>
          <p:cNvSpPr txBox="1"/>
          <p:nvPr/>
        </p:nvSpPr>
        <p:spPr>
          <a:xfrm>
            <a:off x="9244584" y="37673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建议放课程生成或课程编辑页</a:t>
            </a:r>
            <a:endParaRPr lang="zh-CN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· 案例简述 / 欧姆龙课长与部长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/ 7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围绕管理岗位任务制作学习内容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7899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欧姆龙：课长 / 部长</a:t>
            </a:r>
            <a:endParaRPr lang="zh-CN" sz="3400" dirty="0"/>
          </a:p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岗位学习内容制作</a:t>
            </a:r>
            <a:endParaRPr lang="zh-CN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51460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4414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岗位画像</a:t>
            </a:r>
            <a:endParaRPr lang="zh-CN" sz="1320" dirty="0"/>
          </a:p>
        </p:txBody>
      </p:sp>
      <p:sp>
        <p:nvSpPr>
          <p:cNvPr id="8" name="Text 6"/>
          <p:cNvSpPr txBox="1"/>
          <p:nvPr/>
        </p:nvSpPr>
        <p:spPr>
          <a:xfrm>
            <a:off x="2304288" y="24505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梳理课长与部长的关键管理任务和典型场景</a:t>
            </a:r>
            <a:endParaRPr lang="zh-CN" sz="108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0" cy="393192"/>
          </a:xfrm>
          <a:prstGeom prst="line">
            <a:avLst/>
          </a:prstGeom>
          <a:noFill/>
          <a:ln w="1143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94360" y="33558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2826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资料盘点</a:t>
            </a:r>
            <a:endParaRPr lang="zh-CN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32918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收集管理制度、内部案例与优秀管理经验</a:t>
            </a:r>
            <a:endParaRPr lang="zh-CN" sz="1080" dirty="0"/>
          </a:p>
        </p:txBody>
      </p:sp>
      <p:sp>
        <p:nvSpPr>
          <p:cNvPr id="13" name="Shape 11"/>
          <p:cNvSpPr/>
          <p:nvPr/>
        </p:nvSpPr>
        <p:spPr>
          <a:xfrm>
            <a:off x="731520" y="3721608"/>
            <a:ext cx="0" cy="393192"/>
          </a:xfrm>
          <a:prstGeom prst="line">
            <a:avLst/>
          </a:prstGeom>
          <a:noFill/>
          <a:ln w="1143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594360" y="419709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1239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内容制作</a:t>
            </a:r>
            <a:endParaRPr lang="zh-CN" sz="1320" dirty="0"/>
          </a:p>
        </p:txBody>
      </p:sp>
      <p:sp>
        <p:nvSpPr>
          <p:cNvPr id="16" name="Text 14"/>
          <p:cNvSpPr txBox="1"/>
          <p:nvPr/>
        </p:nvSpPr>
        <p:spPr>
          <a:xfrm>
            <a:off x="2304288" y="41330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形成岗位课程、管理案例与情境练习</a:t>
            </a:r>
            <a:endParaRPr lang="zh-CN" sz="1080" dirty="0"/>
          </a:p>
        </p:txBody>
      </p:sp>
      <p:sp>
        <p:nvSpPr>
          <p:cNvPr id="17" name="Shape 15"/>
          <p:cNvSpPr/>
          <p:nvPr/>
        </p:nvSpPr>
        <p:spPr>
          <a:xfrm>
            <a:off x="594360" y="5321808"/>
            <a:ext cx="5257800" cy="512064"/>
          </a:xfrm>
          <a:prstGeom prst="rect">
            <a:avLst/>
          </a:prstGeom>
          <a:solidFill>
            <a:srgbClr val="E4F5F1"/>
          </a:solidFill>
          <a:ln w="6350">
            <a:solidFill>
              <a:srgbClr val="E4F5F1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46811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50" b="1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重点：同一套岗位方法，分别适配课长与部长的管理层级。</a:t>
            </a:r>
            <a:endParaRPr lang="zh-CN" sz="1150" dirty="0"/>
          </a:p>
        </p:txBody>
      </p:sp>
      <p:sp>
        <p:nvSpPr>
          <p:cNvPr id="19" name="Shape 17"/>
          <p:cNvSpPr/>
          <p:nvPr/>
        </p:nvSpPr>
        <p:spPr>
          <a:xfrm>
            <a:off x="6053328" y="1371600"/>
            <a:ext cx="2670048" cy="4462272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1554480"/>
            <a:ext cx="2304288" cy="4096512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5650992"/>
            <a:ext cx="2304288" cy="-4096512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54496" y="1572768"/>
            <a:ext cx="1417320" cy="310896"/>
          </a:xfrm>
          <a:prstGeom prst="round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27648" y="1636776"/>
            <a:ext cx="1271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产品截图占位</a:t>
            </a:r>
            <a:endParaRPr lang="zh-CN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373368" y="334670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5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岗位画像截图</a:t>
            </a:r>
            <a:endParaRPr lang="zh-CN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6373368" y="37673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建议放课长 / 部长岗位模型页面</a:t>
            </a:r>
            <a:endParaRPr lang="zh-CN" sz="980" dirty="0"/>
          </a:p>
        </p:txBody>
      </p:sp>
      <p:sp>
        <p:nvSpPr>
          <p:cNvPr id="26" name="Shape 24"/>
          <p:cNvSpPr/>
          <p:nvPr/>
        </p:nvSpPr>
        <p:spPr>
          <a:xfrm>
            <a:off x="8924544" y="1371600"/>
            <a:ext cx="2670048" cy="4462272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07424" y="1554480"/>
            <a:ext cx="2304288" cy="4096512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07424" y="5650992"/>
            <a:ext cx="2304288" cy="-4096512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25712" y="1572768"/>
            <a:ext cx="1417320" cy="310896"/>
          </a:xfrm>
          <a:prstGeom prst="round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98864" y="1636776"/>
            <a:ext cx="1271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产品截图占位</a:t>
            </a:r>
            <a:endParaRPr lang="zh-CN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9244584" y="334670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5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 / 陪练截图</a:t>
            </a:r>
            <a:endParaRPr lang="zh-CN" sz="1550" dirty="0"/>
          </a:p>
        </p:txBody>
      </p:sp>
      <p:sp>
        <p:nvSpPr>
          <p:cNvPr id="32" name="Text 30"/>
          <p:cNvSpPr txBox="1"/>
          <p:nvPr/>
        </p:nvSpPr>
        <p:spPr>
          <a:xfrm>
            <a:off x="9244584" y="37673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建议放岗位课程或管理情境练习</a:t>
            </a:r>
            <a:endParaRPr lang="zh-CN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B8B8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· 总结 / 平台应用适配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05" kern="0" dirty="0">
                <a:solidFill>
                  <a:srgbClr val="B8B8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/ 7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B8B8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一条简单、可复用的岗位学习内容建设路径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97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三个环节，连接七类</a:t>
            </a:r>
            <a:endParaRPr lang="zh-CN" sz="3500" dirty="0"/>
          </a:p>
          <a:p>
            <a:pPr algn="l" indent="0" marL="0">
              <a:buNone/>
            </a:pPr>
            <a:r>
              <a:rPr lang="zh-CN" altLang="en-US" sz="35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平台应用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594360" y="2514600"/>
            <a:ext cx="365760" cy="365760"/>
          </a:xfrm>
          <a:prstGeom prst="round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5328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124712" y="2505456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岗位画像</a:t>
            </a:r>
            <a:endParaRPr lang="zh-CN" sz="1460" dirty="0"/>
          </a:p>
        </p:txBody>
      </p:sp>
      <p:sp>
        <p:nvSpPr>
          <p:cNvPr id="9" name="Shape 7"/>
          <p:cNvSpPr/>
          <p:nvPr/>
        </p:nvSpPr>
        <p:spPr>
          <a:xfrm>
            <a:off x="3154680" y="2404872"/>
            <a:ext cx="3401568" cy="594360"/>
          </a:xfrm>
          <a:prstGeom prst="rect">
            <a:avLst/>
          </a:prstGeom>
          <a:solidFill>
            <a:srgbClr val="222A3E"/>
          </a:solidFill>
          <a:ln w="6985">
            <a:solidFill>
              <a:srgbClr val="3C56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55848" y="2578608"/>
            <a:ext cx="2999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人才发展 AI 建模</a:t>
            </a:r>
            <a:endParaRPr lang="zh-CN" sz="1150" dirty="0"/>
          </a:p>
        </p:txBody>
      </p:sp>
      <p:sp>
        <p:nvSpPr>
          <p:cNvPr id="11" name="Shape 9"/>
          <p:cNvSpPr/>
          <p:nvPr/>
        </p:nvSpPr>
        <p:spPr>
          <a:xfrm>
            <a:off x="6556248" y="2697480"/>
            <a:ext cx="384048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40296" y="2404872"/>
            <a:ext cx="4379976" cy="594360"/>
          </a:xfrm>
          <a:prstGeom prst="rect">
            <a:avLst/>
          </a:prstGeom>
          <a:solidFill>
            <a:srgbClr val="242424"/>
          </a:solidFill>
          <a:ln w="6985">
            <a:solidFill>
              <a:srgbClr val="5656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50608" y="2578608"/>
            <a:ext cx="3950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2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九宫格 / 人才图谱反馈差距</a:t>
            </a:r>
            <a:endParaRPr lang="zh-CN" sz="1120" dirty="0"/>
          </a:p>
        </p:txBody>
      </p:sp>
      <p:sp>
        <p:nvSpPr>
          <p:cNvPr id="14" name="Shape 12"/>
          <p:cNvSpPr/>
          <p:nvPr/>
        </p:nvSpPr>
        <p:spPr>
          <a:xfrm>
            <a:off x="594360" y="3456432"/>
            <a:ext cx="365760" cy="365760"/>
          </a:xfrm>
          <a:prstGeom prst="round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4747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" y="3447288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资料盘点</a:t>
            </a:r>
            <a:endParaRPr lang="zh-CN" sz="1460" dirty="0"/>
          </a:p>
        </p:txBody>
      </p:sp>
      <p:sp>
        <p:nvSpPr>
          <p:cNvPr id="17" name="Shape 15"/>
          <p:cNvSpPr/>
          <p:nvPr/>
        </p:nvSpPr>
        <p:spPr>
          <a:xfrm>
            <a:off x="3154680" y="3346704"/>
            <a:ext cx="3401568" cy="594360"/>
          </a:xfrm>
          <a:prstGeom prst="rect">
            <a:avLst/>
          </a:prstGeom>
          <a:solidFill>
            <a:srgbClr val="242424"/>
          </a:solidFill>
          <a:ln w="6985">
            <a:solidFill>
              <a:srgbClr val="56565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55848" y="3520440"/>
            <a:ext cx="2999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案例库收集与整理</a:t>
            </a:r>
            <a:endParaRPr lang="zh-CN" sz="1150" dirty="0"/>
          </a:p>
        </p:txBody>
      </p:sp>
      <p:sp>
        <p:nvSpPr>
          <p:cNvPr id="19" name="Shape 17"/>
          <p:cNvSpPr/>
          <p:nvPr/>
        </p:nvSpPr>
        <p:spPr>
          <a:xfrm>
            <a:off x="6556248" y="3639312"/>
            <a:ext cx="384048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40296" y="3346704"/>
            <a:ext cx="4379976" cy="594360"/>
          </a:xfrm>
          <a:prstGeom prst="rect">
            <a:avLst/>
          </a:prstGeom>
          <a:solidFill>
            <a:srgbClr val="242424"/>
          </a:solidFill>
          <a:ln w="6985">
            <a:solidFill>
              <a:srgbClr val="56565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50608" y="3520440"/>
            <a:ext cx="3950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2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形成资料目录与内容缺口</a:t>
            </a:r>
            <a:endParaRPr lang="zh-CN" sz="1120" dirty="0"/>
          </a:p>
        </p:txBody>
      </p:sp>
      <p:sp>
        <p:nvSpPr>
          <p:cNvPr id="22" name="Shape 20"/>
          <p:cNvSpPr/>
          <p:nvPr/>
        </p:nvSpPr>
        <p:spPr>
          <a:xfrm>
            <a:off x="594360" y="4398264"/>
            <a:ext cx="365760" cy="365760"/>
          </a:xfrm>
          <a:prstGeom prst="round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44165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" y="4389120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内容推荐与生成</a:t>
            </a:r>
            <a:endParaRPr lang="zh-CN" sz="1460" dirty="0"/>
          </a:p>
        </p:txBody>
      </p:sp>
      <p:sp>
        <p:nvSpPr>
          <p:cNvPr id="25" name="Shape 23"/>
          <p:cNvSpPr/>
          <p:nvPr/>
        </p:nvSpPr>
        <p:spPr>
          <a:xfrm>
            <a:off x="3154680" y="4288536"/>
            <a:ext cx="3401568" cy="594360"/>
          </a:xfrm>
          <a:prstGeom prst="rect">
            <a:avLst/>
          </a:prstGeom>
          <a:solidFill>
            <a:srgbClr val="222A3E"/>
          </a:solidFill>
          <a:ln w="6985">
            <a:solidFill>
              <a:srgbClr val="3C56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55848" y="4462272"/>
            <a:ext cx="2999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组织学习 / 个人发展计划</a:t>
            </a:r>
            <a:endParaRPr lang="zh-CN" sz="1150" dirty="0"/>
          </a:p>
        </p:txBody>
      </p:sp>
      <p:sp>
        <p:nvSpPr>
          <p:cNvPr id="27" name="Shape 25"/>
          <p:cNvSpPr/>
          <p:nvPr/>
        </p:nvSpPr>
        <p:spPr>
          <a:xfrm>
            <a:off x="6556248" y="4581144"/>
            <a:ext cx="384048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940296" y="4288536"/>
            <a:ext cx="4379976" cy="594360"/>
          </a:xfrm>
          <a:prstGeom prst="rect">
            <a:avLst/>
          </a:prstGeom>
          <a:solidFill>
            <a:srgbClr val="183B36"/>
          </a:solidFill>
          <a:ln w="6985">
            <a:solidFill>
              <a:srgbClr val="2B746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50608" y="4462272"/>
            <a:ext cx="3950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2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陪练 / AI 智课补齐内容</a:t>
            </a:r>
            <a:endParaRPr lang="zh-CN" sz="1120" dirty="0"/>
          </a:p>
        </p:txBody>
      </p:sp>
      <p:sp>
        <p:nvSpPr>
          <p:cNvPr id="30" name="Shape 28"/>
          <p:cNvSpPr/>
          <p:nvPr/>
        </p:nvSpPr>
        <p:spPr>
          <a:xfrm>
            <a:off x="594360" y="5596128"/>
            <a:ext cx="11000232" cy="0"/>
          </a:xfrm>
          <a:prstGeom prst="line">
            <a:avLst/>
          </a:prstGeom>
          <a:noFill/>
          <a:ln w="6985">
            <a:solidFill>
              <a:srgbClr val="6B6B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" y="5870448"/>
            <a:ext cx="8686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2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先用岗位画像确定方向，再复用已有资料，最后推荐或生成学习内容。</a:t>
            </a:r>
            <a:endParaRPr lang="zh-CN" sz="1520" dirty="0"/>
          </a:p>
        </p:txBody>
      </p:sp>
      <p:sp>
        <p:nvSpPr>
          <p:cNvPr id="32" name="Text 30"/>
          <p:cNvSpPr txBox="1"/>
          <p:nvPr/>
        </p:nvSpPr>
        <p:spPr>
          <a:xfrm>
            <a:off x="8412480" y="62179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05" kern="0" dirty="0">
                <a:solidFill>
                  <a:srgbClr val="B8B8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时代光华 · AI FOR LEARNING</a:t>
            </a:r>
            <a:endParaRPr lang="zh-CN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时代光华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岗位学习内容建设方案（简版）</dc:title>
  <dc:subject>岗位画像、资料盘点、内容推荐与生成</dc:subject>
  <dc:creator>时代光华</dc:creator>
  <cp:lastModifiedBy>时代光华</cp:lastModifiedBy>
  <cp:revision>1</cp:revision>
  <dcterms:created xsi:type="dcterms:W3CDTF">2026-09-02T02:46:10Z</dcterms:created>
  <dcterms:modified xsi:type="dcterms:W3CDTF">2026-09-02T02:46:10Z</dcterms:modified>
</cp:coreProperties>
</file>