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填写项目主标题、副标题、讲者和日期。
演示前删除全部方括号占位符。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填写六段业务链及其先后关系。
下方三条结论应回应客户关注点。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填写一条清晰的章节判断。
此页用于从平台全景切入主题。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填写客户真实关注的三个业务问题。
不要把推测写成客户事实。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填写六步业务流程。
强调上一步的产出如何进入下一步。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填写三层能力或产品结构。
中间蓝色卡片用于最需要突出的层级。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填写两种方法的差异和共同目标。
一侧讲一个判断，不要塞入操作细节。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填写一个主指标和两个辅助指标。
必须补充单位、统计时间和数据来源。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插入经过授权的 21:9 案例主图。
填写客户、核心动作和有依据的结果。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填写案例的背景、动作、交付、结果。
右侧四阶段与左侧四项保持同一逻辑。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插入两张真实且可读的 16:10 截图。
标题解释每张截图证明了什么。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仅填写可核验的真实成果。
如暂无数字，可改用定性结果并附来源。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填写近期、中期和远期的目标。
每一阶段写清能力、交付与前置依赖；阶段名称不自动代表日期承诺。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填写六项规划能力。
每张卡只保留一个能力名称和一条用户价值。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填写目标、核心交付、前置条件和四个里程碑。
每个里程碑都应能检查是否完成。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填写最终结论和三个需要讨论的事项。
此页也可作为进入系统演示的转场。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F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2286">
            <a:solidFill>
              <a:srgbClr val="5478E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87768" y="0"/>
            <a:ext cx="0" cy="6858000"/>
          </a:xfrm>
          <a:prstGeom prst="line">
            <a:avLst/>
          </a:prstGeom>
          <a:noFill/>
          <a:ln w="2286">
            <a:solidFill>
              <a:srgbClr val="5478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26096" y="0"/>
            <a:ext cx="0" cy="6858000"/>
          </a:xfrm>
          <a:prstGeom prst="line">
            <a:avLst/>
          </a:prstGeom>
          <a:noFill/>
          <a:ln w="2286">
            <a:solidFill>
              <a:srgbClr val="5478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64424" y="0"/>
            <a:ext cx="0" cy="6858000"/>
          </a:xfrm>
          <a:prstGeom prst="line">
            <a:avLst/>
          </a:prstGeom>
          <a:noFill/>
          <a:ln w="2286">
            <a:solidFill>
              <a:srgbClr val="5478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02752" y="0"/>
            <a:ext cx="0" cy="6858000"/>
          </a:xfrm>
          <a:prstGeom prst="line">
            <a:avLst/>
          </a:prstGeom>
          <a:noFill/>
          <a:ln w="2286">
            <a:solidFill>
              <a:srgbClr val="5478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2286">
            <a:solidFill>
              <a:srgbClr val="5478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79408" y="0"/>
            <a:ext cx="0" cy="6858000"/>
          </a:xfrm>
          <a:prstGeom prst="line">
            <a:avLst/>
          </a:prstGeom>
          <a:noFill/>
          <a:ln w="2286">
            <a:solidFill>
              <a:srgbClr val="5478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17736" y="0"/>
            <a:ext cx="0" cy="6858000"/>
          </a:xfrm>
          <a:prstGeom prst="line">
            <a:avLst/>
          </a:prstGeom>
          <a:noFill/>
          <a:ln w="2286">
            <a:solidFill>
              <a:srgbClr val="5478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2286">
            <a:solidFill>
              <a:srgbClr val="5478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94392" y="0"/>
            <a:ext cx="0" cy="6858000"/>
          </a:xfrm>
          <a:prstGeom prst="line">
            <a:avLst/>
          </a:prstGeom>
          <a:noFill/>
          <a:ln w="2286">
            <a:solidFill>
              <a:srgbClr val="5478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32720" y="0"/>
            <a:ext cx="0" cy="6858000"/>
          </a:xfrm>
          <a:prstGeom prst="line">
            <a:avLst/>
          </a:prstGeom>
          <a:noFill/>
          <a:ln w="2286">
            <a:solidFill>
              <a:srgbClr val="5478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71048" y="0"/>
            <a:ext cx="0" cy="6858000"/>
          </a:xfrm>
          <a:prstGeom prst="line">
            <a:avLst/>
          </a:prstGeom>
          <a:noFill/>
          <a:ln w="2286">
            <a:solidFill>
              <a:srgbClr val="5478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009376" y="0"/>
            <a:ext cx="0" cy="6858000"/>
          </a:xfrm>
          <a:prstGeom prst="line">
            <a:avLst/>
          </a:prstGeom>
          <a:noFill/>
          <a:ln w="2286">
            <a:solidFill>
              <a:srgbClr val="5478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47704" y="0"/>
            <a:ext cx="0" cy="6858000"/>
          </a:xfrm>
          <a:prstGeom prst="line">
            <a:avLst/>
          </a:prstGeom>
          <a:noFill/>
          <a:ln w="2286">
            <a:solidFill>
              <a:srgbClr val="5478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06640" y="1188720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35824" y="1188720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65008" y="1188720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94192" y="1188720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23376" y="1188720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2560" y="1188720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81744" y="1188720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710928" y="1188720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40112" y="1188720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69296" y="1188720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698480" y="1188720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06640" y="1581912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35824" y="1581912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65008" y="1581912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94192" y="1581912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23376" y="1581912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52560" y="1581912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81744" y="1581912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10928" y="1581912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040112" y="1581912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369296" y="1581912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698480" y="1581912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06640" y="1975104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35824" y="1975104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65008" y="1975104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94192" y="1975104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723376" y="1975104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052560" y="1975104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381744" y="1975104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710928" y="1975104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040112" y="1975104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369296" y="1975104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698480" y="1975104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06640" y="2368296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735824" y="2368296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065008" y="2368296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394192" y="2368296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723376" y="2368296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052560" y="2368296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381744" y="2368296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710928" y="2368296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040112" y="2368296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369296" y="2368296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698480" y="2368296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406640" y="2761488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735824" y="2761488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065008" y="2761488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394192" y="2761488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23376" y="2761488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052560" y="2761488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381744" y="2761488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710928" y="2761488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040112" y="2761488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369296" y="2761488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698480" y="2761488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406640" y="3154680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35824" y="3154680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065008" y="3154680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394192" y="3154680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723376" y="3154680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052560" y="3154680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381744" y="3154680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710928" y="3154680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040112" y="3154680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369296" y="3154680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698480" y="3154680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406640" y="3547872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735824" y="3547872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065008" y="3547872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394192" y="3547872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723376" y="3547872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052560" y="3547872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381744" y="3547872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710928" y="3547872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0040112" y="3547872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369296" y="3547872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698480" y="3547872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406640" y="3941064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735824" y="3941064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065008" y="3941064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394192" y="3941064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723376" y="3941064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052560" y="3941064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381744" y="3941064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710928" y="3941064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0040112" y="3941064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0369296" y="3941064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0698480" y="3941064"/>
            <a:ext cx="16459" cy="16459"/>
          </a:xfrm>
          <a:prstGeom prst="rect">
            <a:avLst/>
          </a:prstGeom>
          <a:solidFill>
            <a:srgbClr val="9BAEFF"/>
          </a:solidFill>
          <a:ln w="5080">
            <a:solidFill>
              <a:srgbClr val="9BAEFF">
                <a:alpha val="0"/>
              </a:srgbClr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03504" y="3657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DCE4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景旺电子 × 时代光华</a:t>
            </a:r>
            <a:endParaRPr lang="zh-CN" sz="900" dirty="0"/>
          </a:p>
        </p:txBody>
      </p:sp>
      <p:sp>
        <p:nvSpPr>
          <p:cNvPr id="105" name="Text 103"/>
          <p:cNvSpPr/>
          <p:nvPr/>
        </p:nvSpPr>
        <p:spPr>
          <a:xfrm>
            <a:off x="8321040" y="36576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900" b="1" spc="100" kern="0" dirty="0">
                <a:solidFill>
                  <a:srgbClr val="DCE4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TALENT DEVELOPMENT · 01 / 16</a:t>
            </a:r>
            <a:endParaRPr lang="zh-CN" sz="900" dirty="0"/>
          </a:p>
        </p:txBody>
      </p:sp>
      <p:sp>
        <p:nvSpPr>
          <p:cNvPr id="106" name="Text 104"/>
          <p:cNvSpPr/>
          <p:nvPr/>
        </p:nvSpPr>
        <p:spPr>
          <a:xfrm>
            <a:off x="603504" y="11704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DCE4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人才发展系统 · 演示模板</a:t>
            </a:r>
            <a:endParaRPr lang="zh-CN" sz="900" dirty="0"/>
          </a:p>
        </p:txBody>
      </p:sp>
      <p:sp>
        <p:nvSpPr>
          <p:cNvPr id="107" name="Text 105"/>
          <p:cNvSpPr/>
          <p:nvPr/>
        </p:nvSpPr>
        <p:spPr>
          <a:xfrm>
            <a:off x="603504" y="1783080"/>
            <a:ext cx="10607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48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[项目主标题]</a:t>
            </a:r>
            <a:endParaRPr lang="zh-CN" sz="4800" dirty="0"/>
          </a:p>
          <a:p>
            <a:pPr algn="l" indent="0" marL="0">
              <a:buNone/>
            </a:pPr>
            <a:r>
              <a:rPr lang="zh-CN" altLang="en-US" sz="48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[一句话副标题]</a:t>
            </a:r>
            <a:endParaRPr lang="zh-CN" sz="4800" dirty="0"/>
          </a:p>
        </p:txBody>
      </p:sp>
      <p:sp>
        <p:nvSpPr>
          <p:cNvPr id="108" name="Shape 106"/>
          <p:cNvSpPr/>
          <p:nvPr/>
        </p:nvSpPr>
        <p:spPr>
          <a:xfrm>
            <a:off x="603504" y="5102352"/>
            <a:ext cx="10972800" cy="0"/>
          </a:xfrm>
          <a:prstGeom prst="line">
            <a:avLst/>
          </a:prstGeom>
          <a:noFill/>
          <a:ln w="6985">
            <a:solidFill>
              <a:srgbClr val="FFFFFF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03504" y="533095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[填写本次介绍的核心判断或价值主张]</a:t>
            </a:r>
            <a:endParaRPr lang="zh-CN" sz="2000" dirty="0"/>
          </a:p>
        </p:txBody>
      </p:sp>
      <p:sp>
        <p:nvSpPr>
          <p:cNvPr id="110" name="Text 108"/>
          <p:cNvSpPr/>
          <p:nvPr/>
        </p:nvSpPr>
        <p:spPr>
          <a:xfrm>
            <a:off x="603504" y="6089904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DCE4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[讲者] / [日期] / [版本]</a:t>
            </a:r>
            <a:endParaRPr lang="zh-CN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 · 平台全景</a:t>
            </a:r>
            <a:endParaRPr lang="zh-CN" sz="900" dirty="0"/>
          </a:p>
        </p:txBody>
      </p:sp>
      <p:sp>
        <p:nvSpPr>
          <p:cNvPr id="3" name="Text 1"/>
          <p:cNvSpPr/>
          <p:nvPr/>
        </p:nvSpPr>
        <p:spPr>
          <a:xfrm>
            <a:off x="10692079" y="347472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 / 16</a:t>
            </a:r>
            <a:endParaRPr lang="zh-CN" sz="900" dirty="0"/>
          </a:p>
        </p:txBody>
      </p:sp>
      <p:sp>
        <p:nvSpPr>
          <p:cNvPr id="4" name="Text 2"/>
          <p:cNvSpPr/>
          <p:nvPr/>
        </p:nvSpPr>
        <p:spPr>
          <a:xfrm>
            <a:off x="603504" y="86868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[平台定位 / 覆盖范围]</a:t>
            </a:r>
            <a:endParaRPr lang="zh-CN" sz="900" dirty="0"/>
          </a:p>
        </p:txBody>
      </p:sp>
      <p:sp>
        <p:nvSpPr>
          <p:cNvPr id="5" name="Text 3"/>
          <p:cNvSpPr/>
          <p:nvPr/>
        </p:nvSpPr>
        <p:spPr>
          <a:xfrm>
            <a:off x="603504" y="1143000"/>
            <a:ext cx="10991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5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[一张业务全景，说明整体设计]</a:t>
            </a:r>
            <a:endParaRPr lang="zh-CN" sz="3500" dirty="0"/>
          </a:p>
        </p:txBody>
      </p:sp>
      <p:sp>
        <p:nvSpPr>
          <p:cNvPr id="6" name="Shape 4"/>
          <p:cNvSpPr/>
          <p:nvPr/>
        </p:nvSpPr>
        <p:spPr>
          <a:xfrm>
            <a:off x="603504" y="2240280"/>
            <a:ext cx="1729740" cy="1527048"/>
          </a:xfrm>
          <a:prstGeom prst="rect">
            <a:avLst/>
          </a:prstGeom>
          <a:solidFill>
            <a:srgbClr val="F0F0EE"/>
          </a:solidFill>
          <a:ln w="508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" y="2240280"/>
            <a:ext cx="1729740" cy="36576"/>
          </a:xfrm>
          <a:prstGeom prst="rect">
            <a:avLst/>
          </a:prstGeom>
          <a:solidFill>
            <a:srgbClr val="0A0A0A"/>
          </a:solidFill>
          <a:ln w="508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" y="2487168"/>
            <a:ext cx="14919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 / [环节]</a:t>
            </a:r>
            <a:endParaRPr lang="zh-CN" sz="900" dirty="0"/>
          </a:p>
        </p:txBody>
      </p:sp>
      <p:sp>
        <p:nvSpPr>
          <p:cNvPr id="9" name="Text 7"/>
          <p:cNvSpPr/>
          <p:nvPr/>
        </p:nvSpPr>
        <p:spPr>
          <a:xfrm>
            <a:off x="722376" y="3063240"/>
            <a:ext cx="14919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[组织与岗位]</a:t>
            </a:r>
            <a:endParaRPr lang="zh-CN" sz="1700" dirty="0"/>
          </a:p>
        </p:txBody>
      </p:sp>
      <p:sp>
        <p:nvSpPr>
          <p:cNvPr id="10" name="Shape 8"/>
          <p:cNvSpPr/>
          <p:nvPr/>
        </p:nvSpPr>
        <p:spPr>
          <a:xfrm>
            <a:off x="2452116" y="2240280"/>
            <a:ext cx="1729740" cy="1527048"/>
          </a:xfrm>
          <a:prstGeom prst="rect">
            <a:avLst/>
          </a:prstGeom>
          <a:solidFill>
            <a:srgbClr val="F0F0EE"/>
          </a:solidFill>
          <a:ln w="508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52116" y="2240280"/>
            <a:ext cx="1729740" cy="36576"/>
          </a:xfrm>
          <a:prstGeom prst="rect">
            <a:avLst/>
          </a:prstGeom>
          <a:solidFill>
            <a:srgbClr val="002FA7"/>
          </a:solidFill>
          <a:ln w="508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0988" y="2487168"/>
            <a:ext cx="14919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 / [环节]</a:t>
            </a:r>
            <a:endParaRPr lang="zh-CN" sz="900" dirty="0"/>
          </a:p>
        </p:txBody>
      </p:sp>
      <p:sp>
        <p:nvSpPr>
          <p:cNvPr id="13" name="Text 11"/>
          <p:cNvSpPr/>
          <p:nvPr/>
        </p:nvSpPr>
        <p:spPr>
          <a:xfrm>
            <a:off x="2570988" y="3063240"/>
            <a:ext cx="14919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[人才标准]</a:t>
            </a:r>
            <a:endParaRPr lang="zh-CN" sz="1700" dirty="0"/>
          </a:p>
        </p:txBody>
      </p:sp>
      <p:sp>
        <p:nvSpPr>
          <p:cNvPr id="14" name="Shape 12"/>
          <p:cNvSpPr/>
          <p:nvPr/>
        </p:nvSpPr>
        <p:spPr>
          <a:xfrm>
            <a:off x="4300728" y="2240280"/>
            <a:ext cx="1729740" cy="1527048"/>
          </a:xfrm>
          <a:prstGeom prst="rect">
            <a:avLst/>
          </a:prstGeom>
          <a:solidFill>
            <a:srgbClr val="F0F0EE"/>
          </a:solidFill>
          <a:ln w="508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00728" y="2240280"/>
            <a:ext cx="1729740" cy="36576"/>
          </a:xfrm>
          <a:prstGeom prst="rect">
            <a:avLst/>
          </a:prstGeom>
          <a:solidFill>
            <a:srgbClr val="0A0A0A"/>
          </a:solidFill>
          <a:ln w="508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19600" y="2487168"/>
            <a:ext cx="14919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 / [环节]</a:t>
            </a:r>
            <a:endParaRPr lang="zh-CN" sz="900" dirty="0"/>
          </a:p>
        </p:txBody>
      </p:sp>
      <p:sp>
        <p:nvSpPr>
          <p:cNvPr id="17" name="Text 15"/>
          <p:cNvSpPr/>
          <p:nvPr/>
        </p:nvSpPr>
        <p:spPr>
          <a:xfrm>
            <a:off x="4419600" y="3063240"/>
            <a:ext cx="14919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[评鉴盘点]</a:t>
            </a:r>
            <a:endParaRPr lang="zh-CN" sz="1700" dirty="0"/>
          </a:p>
        </p:txBody>
      </p:sp>
      <p:sp>
        <p:nvSpPr>
          <p:cNvPr id="18" name="Shape 16"/>
          <p:cNvSpPr/>
          <p:nvPr/>
        </p:nvSpPr>
        <p:spPr>
          <a:xfrm>
            <a:off x="6149340" y="2240280"/>
            <a:ext cx="1729740" cy="1527048"/>
          </a:xfrm>
          <a:prstGeom prst="rect">
            <a:avLst/>
          </a:prstGeom>
          <a:solidFill>
            <a:srgbClr val="F0F0EE"/>
          </a:solidFill>
          <a:ln w="508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49340" y="2240280"/>
            <a:ext cx="1729740" cy="36576"/>
          </a:xfrm>
          <a:prstGeom prst="rect">
            <a:avLst/>
          </a:prstGeom>
          <a:solidFill>
            <a:srgbClr val="0A0A0A"/>
          </a:solidFill>
          <a:ln w="508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8212" y="2487168"/>
            <a:ext cx="14919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04 / [环节]</a:t>
            </a:r>
            <a:endParaRPr lang="zh-CN" sz="900" dirty="0"/>
          </a:p>
        </p:txBody>
      </p:sp>
      <p:sp>
        <p:nvSpPr>
          <p:cNvPr id="21" name="Text 19"/>
          <p:cNvSpPr/>
          <p:nvPr/>
        </p:nvSpPr>
        <p:spPr>
          <a:xfrm>
            <a:off x="6268212" y="3063240"/>
            <a:ext cx="14919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[发展安排]</a:t>
            </a:r>
            <a:endParaRPr lang="zh-CN" sz="1700" dirty="0"/>
          </a:p>
        </p:txBody>
      </p:sp>
      <p:sp>
        <p:nvSpPr>
          <p:cNvPr id="22" name="Shape 20"/>
          <p:cNvSpPr/>
          <p:nvPr/>
        </p:nvSpPr>
        <p:spPr>
          <a:xfrm>
            <a:off x="7997952" y="2240280"/>
            <a:ext cx="1729740" cy="1527048"/>
          </a:xfrm>
          <a:prstGeom prst="rect">
            <a:avLst/>
          </a:prstGeom>
          <a:solidFill>
            <a:srgbClr val="F0F0EE"/>
          </a:solidFill>
          <a:ln w="508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97952" y="2240280"/>
            <a:ext cx="1729740" cy="36576"/>
          </a:xfrm>
          <a:prstGeom prst="rect">
            <a:avLst/>
          </a:prstGeom>
          <a:solidFill>
            <a:srgbClr val="0A0A0A"/>
          </a:solidFill>
          <a:ln w="508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6824" y="2487168"/>
            <a:ext cx="14919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05 / [环节]</a:t>
            </a:r>
            <a:endParaRPr lang="zh-CN" sz="900" dirty="0"/>
          </a:p>
        </p:txBody>
      </p:sp>
      <p:sp>
        <p:nvSpPr>
          <p:cNvPr id="25" name="Text 23"/>
          <p:cNvSpPr/>
          <p:nvPr/>
        </p:nvSpPr>
        <p:spPr>
          <a:xfrm>
            <a:off x="8116824" y="3063240"/>
            <a:ext cx="14919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[培训学习]</a:t>
            </a:r>
            <a:endParaRPr lang="zh-CN" sz="1700" dirty="0"/>
          </a:p>
        </p:txBody>
      </p:sp>
      <p:sp>
        <p:nvSpPr>
          <p:cNvPr id="26" name="Shape 24"/>
          <p:cNvSpPr/>
          <p:nvPr/>
        </p:nvSpPr>
        <p:spPr>
          <a:xfrm>
            <a:off x="9846564" y="2240280"/>
            <a:ext cx="1729740" cy="1527048"/>
          </a:xfrm>
          <a:prstGeom prst="rect">
            <a:avLst/>
          </a:prstGeom>
          <a:solidFill>
            <a:srgbClr val="002FA7"/>
          </a:solidFill>
          <a:ln w="508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65436" y="2487168"/>
            <a:ext cx="14919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DCE4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06 / [环节]</a:t>
            </a:r>
            <a:endParaRPr lang="zh-CN" sz="900" dirty="0"/>
          </a:p>
        </p:txBody>
      </p:sp>
      <p:sp>
        <p:nvSpPr>
          <p:cNvPr id="28" name="Text 26"/>
          <p:cNvSpPr/>
          <p:nvPr/>
        </p:nvSpPr>
        <p:spPr>
          <a:xfrm>
            <a:off x="9965436" y="3063240"/>
            <a:ext cx="14919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[结果反馈]</a:t>
            </a:r>
            <a:endParaRPr lang="zh-CN" sz="1700" dirty="0"/>
          </a:p>
        </p:txBody>
      </p:sp>
      <p:sp>
        <p:nvSpPr>
          <p:cNvPr id="29" name="Shape 27"/>
          <p:cNvSpPr/>
          <p:nvPr/>
        </p:nvSpPr>
        <p:spPr>
          <a:xfrm>
            <a:off x="603504" y="4187952"/>
            <a:ext cx="10972800" cy="0"/>
          </a:xfrm>
          <a:prstGeom prst="line">
            <a:avLst/>
          </a:prstGeom>
          <a:noFill/>
          <a:ln w="7620">
            <a:solidFill>
              <a:srgbClr val="D4D4D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" y="448970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[结论一]</a:t>
            </a:r>
            <a:endParaRPr lang="zh-CN" sz="1800" dirty="0"/>
          </a:p>
        </p:txBody>
      </p:sp>
      <p:sp>
        <p:nvSpPr>
          <p:cNvPr id="31" name="Text 29"/>
          <p:cNvSpPr/>
          <p:nvPr/>
        </p:nvSpPr>
        <p:spPr>
          <a:xfrm>
            <a:off x="603504" y="504748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[业务价值或设计原则]</a:t>
            </a:r>
            <a:endParaRPr lang="zh-CN" sz="1400" dirty="0"/>
          </a:p>
        </p:txBody>
      </p:sp>
      <p:sp>
        <p:nvSpPr>
          <p:cNvPr id="32" name="Text 30"/>
          <p:cNvSpPr/>
          <p:nvPr/>
        </p:nvSpPr>
        <p:spPr>
          <a:xfrm>
            <a:off x="4325112" y="448970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[结论二]</a:t>
            </a:r>
            <a:endParaRPr lang="zh-CN" sz="1800" dirty="0"/>
          </a:p>
        </p:txBody>
      </p:sp>
      <p:sp>
        <p:nvSpPr>
          <p:cNvPr id="33" name="Text 31"/>
          <p:cNvSpPr/>
          <p:nvPr/>
        </p:nvSpPr>
        <p:spPr>
          <a:xfrm>
            <a:off x="4325112" y="504748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[业务价值或设计原则]</a:t>
            </a:r>
            <a:endParaRPr lang="zh-CN" sz="1400" dirty="0"/>
          </a:p>
        </p:txBody>
      </p:sp>
      <p:sp>
        <p:nvSpPr>
          <p:cNvPr id="34" name="Text 32"/>
          <p:cNvSpPr/>
          <p:nvPr/>
        </p:nvSpPr>
        <p:spPr>
          <a:xfrm>
            <a:off x="8046720" y="448970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[结论三]</a:t>
            </a:r>
            <a:endParaRPr lang="zh-CN" sz="1800" dirty="0"/>
          </a:p>
        </p:txBody>
      </p:sp>
      <p:sp>
        <p:nvSpPr>
          <p:cNvPr id="35" name="Text 33"/>
          <p:cNvSpPr/>
          <p:nvPr/>
        </p:nvSpPr>
        <p:spPr>
          <a:xfrm>
            <a:off x="8046720" y="504748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[业务价值或设计原则]</a:t>
            </a:r>
            <a:endParaRPr lang="zh-CN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B8B8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 · 章节幕封</a:t>
            </a:r>
            <a:endParaRPr lang="zh-CN" sz="900" dirty="0"/>
          </a:p>
        </p:txBody>
      </p:sp>
      <p:sp>
        <p:nvSpPr>
          <p:cNvPr id="3" name="Text 1"/>
          <p:cNvSpPr/>
          <p:nvPr/>
        </p:nvSpPr>
        <p:spPr>
          <a:xfrm>
            <a:off x="10692079" y="347472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900" b="1" spc="100" kern="0" dirty="0">
                <a:solidFill>
                  <a:srgbClr val="B8B8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 / 16</a:t>
            </a:r>
            <a:endParaRPr lang="zh-CN" sz="900" dirty="0"/>
          </a:p>
        </p:txBody>
      </p:sp>
      <p:sp>
        <p:nvSpPr>
          <p:cNvPr id="4" name="Text 2"/>
          <p:cNvSpPr/>
          <p:nvPr/>
        </p:nvSpPr>
        <p:spPr>
          <a:xfrm>
            <a:off x="603504" y="1344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A3A3A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SECTION / [章节序号]</a:t>
            </a:r>
            <a:endParaRPr lang="zh-CN" sz="900" dirty="0"/>
          </a:p>
        </p:txBody>
      </p:sp>
      <p:sp>
        <p:nvSpPr>
          <p:cNvPr id="5" name="Text 3"/>
          <p:cNvSpPr/>
          <p:nvPr/>
        </p:nvSpPr>
        <p:spPr>
          <a:xfrm>
            <a:off x="603504" y="187452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58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[章节名称]</a:t>
            </a:r>
            <a:endParaRPr lang="zh-CN" sz="5800" dirty="0"/>
          </a:p>
        </p:txBody>
      </p:sp>
      <p:sp>
        <p:nvSpPr>
          <p:cNvPr id="6" name="Shape 4"/>
          <p:cNvSpPr/>
          <p:nvPr/>
        </p:nvSpPr>
        <p:spPr>
          <a:xfrm>
            <a:off x="603504" y="3666744"/>
            <a:ext cx="2011680" cy="91440"/>
          </a:xfrm>
          <a:prstGeom prst="rect">
            <a:avLst/>
          </a:prstGeom>
          <a:solidFill>
            <a:srgbClr val="002FA7"/>
          </a:solidFill>
          <a:ln w="508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4114800"/>
            <a:ext cx="102412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9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[本章核心判断，建议不超过两行]</a:t>
            </a:r>
            <a:endParaRPr lang="zh-CN" sz="2900" dirty="0"/>
          </a:p>
        </p:txBody>
      </p:sp>
      <p:sp>
        <p:nvSpPr>
          <p:cNvPr id="8" name="Text 6"/>
          <p:cNvSpPr/>
          <p:nvPr/>
        </p:nvSpPr>
        <p:spPr>
          <a:xfrm>
            <a:off x="603504" y="6025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B8B8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[下一部分讨论的业务主题]</a:t>
            </a:r>
            <a:endParaRPr lang="zh-CN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0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 · 业务问题</a:t>
            </a:r>
            <a:endParaRPr lang="zh-CN" sz="900" dirty="0"/>
          </a:p>
        </p:txBody>
      </p:sp>
      <p:sp>
        <p:nvSpPr>
          <p:cNvPr id="3" name="Text 1"/>
          <p:cNvSpPr/>
          <p:nvPr/>
        </p:nvSpPr>
        <p:spPr>
          <a:xfrm>
            <a:off x="10692079" y="347472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04 / 16</a:t>
            </a:r>
            <a:endParaRPr lang="zh-CN" sz="900" dirty="0"/>
          </a:p>
        </p:txBody>
      </p:sp>
      <p:sp>
        <p:nvSpPr>
          <p:cNvPr id="4" name="Text 2"/>
          <p:cNvSpPr/>
          <p:nvPr/>
        </p:nvSpPr>
        <p:spPr>
          <a:xfrm>
            <a:off x="603504" y="86868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[客户场景 / 业务背景]</a:t>
            </a:r>
            <a:endParaRPr lang="zh-CN" sz="900" dirty="0"/>
          </a:p>
        </p:txBody>
      </p:sp>
      <p:sp>
        <p:nvSpPr>
          <p:cNvPr id="5" name="Text 3"/>
          <p:cNvSpPr/>
          <p:nvPr/>
        </p:nvSpPr>
        <p:spPr>
          <a:xfrm>
            <a:off x="603504" y="1143000"/>
            <a:ext cx="10991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5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[最值得回答的三个问题]</a:t>
            </a:r>
            <a:endParaRPr lang="zh-CN" sz="3500" dirty="0"/>
          </a:p>
        </p:txBody>
      </p:sp>
      <p:sp>
        <p:nvSpPr>
          <p:cNvPr id="6" name="Shape 4"/>
          <p:cNvSpPr/>
          <p:nvPr/>
        </p:nvSpPr>
        <p:spPr>
          <a:xfrm>
            <a:off x="603504" y="2167128"/>
            <a:ext cx="3703320" cy="3703320"/>
          </a:xfrm>
          <a:prstGeom prst="rect">
            <a:avLst/>
          </a:prstGeom>
          <a:solidFill>
            <a:srgbClr val="002FA7"/>
          </a:solidFill>
          <a:ln w="508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4688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DCE4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从业务问题出发</a:t>
            </a:r>
            <a:endParaRPr lang="zh-CN" sz="900" dirty="0"/>
          </a:p>
        </p:txBody>
      </p:sp>
      <p:sp>
        <p:nvSpPr>
          <p:cNvPr id="8" name="Text 6"/>
          <p:cNvSpPr/>
          <p:nvPr/>
        </p:nvSpPr>
        <p:spPr>
          <a:xfrm>
            <a:off x="859536" y="2843784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3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</a:t>
            </a:r>
            <a:endParaRPr lang="zh-CN" sz="9300" dirty="0"/>
          </a:p>
        </p:txBody>
      </p:sp>
      <p:sp>
        <p:nvSpPr>
          <p:cNvPr id="9" name="Text 7"/>
          <p:cNvSpPr/>
          <p:nvPr/>
        </p:nvSpPr>
        <p:spPr>
          <a:xfrm>
            <a:off x="877824" y="5129784"/>
            <a:ext cx="3081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[问题总括]</a:t>
            </a:r>
            <a:endParaRPr lang="zh-CN" sz="1900" dirty="0"/>
          </a:p>
        </p:txBody>
      </p:sp>
      <p:sp>
        <p:nvSpPr>
          <p:cNvPr id="10" name="Shape 8"/>
          <p:cNvSpPr/>
          <p:nvPr/>
        </p:nvSpPr>
        <p:spPr>
          <a:xfrm>
            <a:off x="4489704" y="2167128"/>
            <a:ext cx="7095744" cy="1170432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23317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</a:t>
            </a:r>
            <a:endParaRPr lang="zh-CN" sz="900" dirty="0"/>
          </a:p>
        </p:txBody>
      </p:sp>
      <p:sp>
        <p:nvSpPr>
          <p:cNvPr id="12" name="Text 10"/>
          <p:cNvSpPr/>
          <p:nvPr/>
        </p:nvSpPr>
        <p:spPr>
          <a:xfrm>
            <a:off x="5394960" y="2313432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[业务问题一]</a:t>
            </a:r>
            <a:endParaRPr lang="zh-CN" sz="2000" dirty="0"/>
          </a:p>
        </p:txBody>
      </p:sp>
      <p:sp>
        <p:nvSpPr>
          <p:cNvPr id="13" name="Text 11"/>
          <p:cNvSpPr/>
          <p:nvPr/>
        </p:nvSpPr>
        <p:spPr>
          <a:xfrm>
            <a:off x="5394960" y="286207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5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[一句话解释问题为何重要]</a:t>
            </a:r>
            <a:endParaRPr lang="zh-CN" sz="1250" dirty="0"/>
          </a:p>
        </p:txBody>
      </p:sp>
      <p:sp>
        <p:nvSpPr>
          <p:cNvPr id="14" name="Shape 12"/>
          <p:cNvSpPr/>
          <p:nvPr/>
        </p:nvSpPr>
        <p:spPr>
          <a:xfrm>
            <a:off x="4489704" y="3429000"/>
            <a:ext cx="7095744" cy="1170432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6592" y="35935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</a:t>
            </a:r>
            <a:endParaRPr lang="zh-CN" sz="900" dirty="0"/>
          </a:p>
        </p:txBody>
      </p:sp>
      <p:sp>
        <p:nvSpPr>
          <p:cNvPr id="16" name="Text 14"/>
          <p:cNvSpPr/>
          <p:nvPr/>
        </p:nvSpPr>
        <p:spPr>
          <a:xfrm>
            <a:off x="5394960" y="3575304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[业务问题二]</a:t>
            </a:r>
            <a:endParaRPr lang="zh-CN" sz="2000" dirty="0"/>
          </a:p>
        </p:txBody>
      </p:sp>
      <p:sp>
        <p:nvSpPr>
          <p:cNvPr id="17" name="Text 15"/>
          <p:cNvSpPr/>
          <p:nvPr/>
        </p:nvSpPr>
        <p:spPr>
          <a:xfrm>
            <a:off x="5394960" y="412394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5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[一句话解释问题为何重要]</a:t>
            </a:r>
            <a:endParaRPr lang="zh-CN" sz="1250" dirty="0"/>
          </a:p>
        </p:txBody>
      </p:sp>
      <p:sp>
        <p:nvSpPr>
          <p:cNvPr id="18" name="Shape 16"/>
          <p:cNvSpPr/>
          <p:nvPr/>
        </p:nvSpPr>
        <p:spPr>
          <a:xfrm>
            <a:off x="4489704" y="4690872"/>
            <a:ext cx="7095744" cy="1170432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485546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</a:t>
            </a:r>
            <a:endParaRPr lang="zh-CN" sz="900" dirty="0"/>
          </a:p>
        </p:txBody>
      </p:sp>
      <p:sp>
        <p:nvSpPr>
          <p:cNvPr id="20" name="Text 18"/>
          <p:cNvSpPr/>
          <p:nvPr/>
        </p:nvSpPr>
        <p:spPr>
          <a:xfrm>
            <a:off x="5394960" y="4837176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[业务问题三]</a:t>
            </a:r>
            <a:endParaRPr lang="zh-CN" sz="2000" dirty="0"/>
          </a:p>
        </p:txBody>
      </p:sp>
      <p:sp>
        <p:nvSpPr>
          <p:cNvPr id="21" name="Text 19"/>
          <p:cNvSpPr/>
          <p:nvPr/>
        </p:nvSpPr>
        <p:spPr>
          <a:xfrm>
            <a:off x="5394960" y="538581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5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[一句话解释问题为何重要]</a:t>
            </a:r>
            <a:endParaRPr lang="zh-CN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04 · 核心流程</a:t>
            </a:r>
            <a:endParaRPr lang="zh-CN" sz="900" dirty="0"/>
          </a:p>
        </p:txBody>
      </p:sp>
      <p:sp>
        <p:nvSpPr>
          <p:cNvPr id="3" name="Text 1"/>
          <p:cNvSpPr/>
          <p:nvPr/>
        </p:nvSpPr>
        <p:spPr>
          <a:xfrm>
            <a:off x="10692079" y="347472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05 / 16</a:t>
            </a:r>
            <a:endParaRPr lang="zh-CN" sz="900" dirty="0"/>
          </a:p>
        </p:txBody>
      </p:sp>
      <p:sp>
        <p:nvSpPr>
          <p:cNvPr id="4" name="Text 2"/>
          <p:cNvSpPr/>
          <p:nvPr/>
        </p:nvSpPr>
        <p:spPr>
          <a:xfrm>
            <a:off x="603504" y="86868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[流程起点 / 适用业务]</a:t>
            </a:r>
            <a:endParaRPr lang="zh-CN" sz="900" dirty="0"/>
          </a:p>
        </p:txBody>
      </p:sp>
      <p:sp>
        <p:nvSpPr>
          <p:cNvPr id="5" name="Text 3"/>
          <p:cNvSpPr/>
          <p:nvPr/>
        </p:nvSpPr>
        <p:spPr>
          <a:xfrm>
            <a:off x="603504" y="1143000"/>
            <a:ext cx="10991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5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[六步走完一条业务链]</a:t>
            </a:r>
            <a:endParaRPr lang="zh-CN" sz="3500" dirty="0"/>
          </a:p>
        </p:txBody>
      </p:sp>
      <p:sp>
        <p:nvSpPr>
          <p:cNvPr id="6" name="Shape 4"/>
          <p:cNvSpPr/>
          <p:nvPr/>
        </p:nvSpPr>
        <p:spPr>
          <a:xfrm>
            <a:off x="786384" y="3694176"/>
            <a:ext cx="10588752" cy="0"/>
          </a:xfrm>
          <a:prstGeom prst="line">
            <a:avLst/>
          </a:prstGeom>
          <a:noFill/>
          <a:ln w="15875">
            <a:solidFill>
              <a:srgbClr val="0A0A0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17904" y="3621024"/>
            <a:ext cx="155448" cy="155448"/>
          </a:xfrm>
          <a:prstGeom prst="rect">
            <a:avLst/>
          </a:prstGeom>
          <a:solidFill>
            <a:srgbClr val="0A0A0A"/>
          </a:solidFill>
          <a:ln w="508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91056" y="3191256"/>
            <a:ext cx="0" cy="402336"/>
          </a:xfrm>
          <a:prstGeom prst="line">
            <a:avLst/>
          </a:prstGeom>
          <a:noFill/>
          <a:ln w="8890">
            <a:solidFill>
              <a:srgbClr val="D4D4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" y="234086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</a:t>
            </a:r>
            <a:endParaRPr lang="zh-CN" sz="900" dirty="0"/>
          </a:p>
        </p:txBody>
      </p:sp>
      <p:sp>
        <p:nvSpPr>
          <p:cNvPr id="10" name="Text 8"/>
          <p:cNvSpPr/>
          <p:nvPr/>
        </p:nvSpPr>
        <p:spPr>
          <a:xfrm>
            <a:off x="603504" y="271576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7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[步骤1]</a:t>
            </a:r>
            <a:endParaRPr lang="zh-CN" sz="1700" dirty="0"/>
          </a:p>
        </p:txBody>
      </p:sp>
      <p:sp>
        <p:nvSpPr>
          <p:cNvPr id="11" name="Shape 9"/>
          <p:cNvSpPr/>
          <p:nvPr/>
        </p:nvSpPr>
        <p:spPr>
          <a:xfrm>
            <a:off x="3355848" y="3621024"/>
            <a:ext cx="155448" cy="155448"/>
          </a:xfrm>
          <a:prstGeom prst="rect">
            <a:avLst/>
          </a:prstGeom>
          <a:solidFill>
            <a:srgbClr val="0A0A0A"/>
          </a:solidFill>
          <a:ln w="508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3776472"/>
            <a:ext cx="0" cy="402336"/>
          </a:xfrm>
          <a:prstGeom prst="line">
            <a:avLst/>
          </a:prstGeom>
          <a:noFill/>
          <a:ln w="8890">
            <a:solidFill>
              <a:srgbClr val="D4D4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41448" y="42519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</a:t>
            </a:r>
            <a:endParaRPr lang="zh-CN" sz="900" dirty="0"/>
          </a:p>
        </p:txBody>
      </p:sp>
      <p:sp>
        <p:nvSpPr>
          <p:cNvPr id="14" name="Text 12"/>
          <p:cNvSpPr/>
          <p:nvPr/>
        </p:nvSpPr>
        <p:spPr>
          <a:xfrm>
            <a:off x="2441448" y="459943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7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[步骤2]</a:t>
            </a:r>
            <a:endParaRPr lang="zh-CN" sz="1700" dirty="0"/>
          </a:p>
        </p:txBody>
      </p:sp>
      <p:sp>
        <p:nvSpPr>
          <p:cNvPr id="15" name="Shape 13"/>
          <p:cNvSpPr/>
          <p:nvPr/>
        </p:nvSpPr>
        <p:spPr>
          <a:xfrm>
            <a:off x="5193792" y="3621024"/>
            <a:ext cx="155448" cy="155448"/>
          </a:xfrm>
          <a:prstGeom prst="rect">
            <a:avLst/>
          </a:prstGeom>
          <a:solidFill>
            <a:srgbClr val="0A0A0A"/>
          </a:solidFill>
          <a:ln w="508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66944" y="3191256"/>
            <a:ext cx="0" cy="402336"/>
          </a:xfrm>
          <a:prstGeom prst="line">
            <a:avLst/>
          </a:prstGeom>
          <a:noFill/>
          <a:ln w="8890">
            <a:solidFill>
              <a:srgbClr val="D4D4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79392" y="234086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</a:t>
            </a:r>
            <a:endParaRPr lang="zh-CN" sz="900" dirty="0"/>
          </a:p>
        </p:txBody>
      </p:sp>
      <p:sp>
        <p:nvSpPr>
          <p:cNvPr id="18" name="Text 16"/>
          <p:cNvSpPr/>
          <p:nvPr/>
        </p:nvSpPr>
        <p:spPr>
          <a:xfrm>
            <a:off x="4279392" y="271576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7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[步骤3]</a:t>
            </a:r>
            <a:endParaRPr lang="zh-CN" sz="1700" dirty="0"/>
          </a:p>
        </p:txBody>
      </p:sp>
      <p:sp>
        <p:nvSpPr>
          <p:cNvPr id="19" name="Shape 17"/>
          <p:cNvSpPr/>
          <p:nvPr/>
        </p:nvSpPr>
        <p:spPr>
          <a:xfrm>
            <a:off x="7031736" y="3621024"/>
            <a:ext cx="155448" cy="155448"/>
          </a:xfrm>
          <a:prstGeom prst="rect">
            <a:avLst/>
          </a:prstGeom>
          <a:solidFill>
            <a:srgbClr val="002FA7"/>
          </a:solidFill>
          <a:ln w="508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04888" y="3776472"/>
            <a:ext cx="0" cy="402336"/>
          </a:xfrm>
          <a:prstGeom prst="line">
            <a:avLst/>
          </a:prstGeom>
          <a:noFill/>
          <a:ln w="8890">
            <a:solidFill>
              <a:srgbClr val="D4D4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17336" y="42519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00" b="1" spc="100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04</a:t>
            </a:r>
            <a:endParaRPr lang="zh-CN" sz="900" dirty="0"/>
          </a:p>
        </p:txBody>
      </p:sp>
      <p:sp>
        <p:nvSpPr>
          <p:cNvPr id="22" name="Text 20"/>
          <p:cNvSpPr/>
          <p:nvPr/>
        </p:nvSpPr>
        <p:spPr>
          <a:xfrm>
            <a:off x="6117336" y="459943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70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[步骤4]</a:t>
            </a:r>
            <a:endParaRPr lang="zh-CN" sz="1700" dirty="0"/>
          </a:p>
        </p:txBody>
      </p:sp>
      <p:sp>
        <p:nvSpPr>
          <p:cNvPr id="23" name="Shape 21"/>
          <p:cNvSpPr/>
          <p:nvPr/>
        </p:nvSpPr>
        <p:spPr>
          <a:xfrm>
            <a:off x="8869680" y="3621024"/>
            <a:ext cx="155448" cy="155448"/>
          </a:xfrm>
          <a:prstGeom prst="rect">
            <a:avLst/>
          </a:prstGeom>
          <a:solidFill>
            <a:srgbClr val="0A0A0A"/>
          </a:solidFill>
          <a:ln w="508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42832" y="3191256"/>
            <a:ext cx="0" cy="402336"/>
          </a:xfrm>
          <a:prstGeom prst="line">
            <a:avLst/>
          </a:prstGeom>
          <a:noFill/>
          <a:ln w="8890">
            <a:solidFill>
              <a:srgbClr val="D4D4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234086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05</a:t>
            </a:r>
            <a:endParaRPr lang="zh-CN" sz="900" dirty="0"/>
          </a:p>
        </p:txBody>
      </p:sp>
      <p:sp>
        <p:nvSpPr>
          <p:cNvPr id="26" name="Text 24"/>
          <p:cNvSpPr/>
          <p:nvPr/>
        </p:nvSpPr>
        <p:spPr>
          <a:xfrm>
            <a:off x="7955280" y="271576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7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[步骤5]</a:t>
            </a:r>
            <a:endParaRPr lang="zh-CN" sz="1700" dirty="0"/>
          </a:p>
        </p:txBody>
      </p:sp>
      <p:sp>
        <p:nvSpPr>
          <p:cNvPr id="27" name="Shape 25"/>
          <p:cNvSpPr/>
          <p:nvPr/>
        </p:nvSpPr>
        <p:spPr>
          <a:xfrm>
            <a:off x="10707624" y="3621024"/>
            <a:ext cx="155448" cy="155448"/>
          </a:xfrm>
          <a:prstGeom prst="rect">
            <a:avLst/>
          </a:prstGeom>
          <a:solidFill>
            <a:srgbClr val="0A0A0A"/>
          </a:solidFill>
          <a:ln w="508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780776" y="3776472"/>
            <a:ext cx="0" cy="402336"/>
          </a:xfrm>
          <a:prstGeom prst="line">
            <a:avLst/>
          </a:prstGeom>
          <a:noFill/>
          <a:ln w="8890">
            <a:solidFill>
              <a:srgbClr val="D4D4D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93224" y="42519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06</a:t>
            </a:r>
            <a:endParaRPr lang="zh-CN" sz="900" dirty="0"/>
          </a:p>
        </p:txBody>
      </p:sp>
      <p:sp>
        <p:nvSpPr>
          <p:cNvPr id="30" name="Text 28"/>
          <p:cNvSpPr/>
          <p:nvPr/>
        </p:nvSpPr>
        <p:spPr>
          <a:xfrm>
            <a:off x="9793224" y="459943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7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[步骤6]</a:t>
            </a:r>
            <a:endParaRPr lang="zh-CN" sz="1700" dirty="0"/>
          </a:p>
        </p:txBody>
      </p:sp>
      <p:sp>
        <p:nvSpPr>
          <p:cNvPr id="31" name="Shape 29"/>
          <p:cNvSpPr/>
          <p:nvPr/>
        </p:nvSpPr>
        <p:spPr>
          <a:xfrm>
            <a:off x="603504" y="5632704"/>
            <a:ext cx="10972800" cy="0"/>
          </a:xfrm>
          <a:prstGeom prst="line">
            <a:avLst/>
          </a:prstGeom>
          <a:noFill/>
          <a:ln w="7620">
            <a:solidFill>
              <a:srgbClr val="D4D4D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" y="5879592"/>
            <a:ext cx="106984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[填写流程的关键逻辑或前后依赖]</a:t>
            </a:r>
            <a:endParaRPr lang="zh-CN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0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05 · 能力结构</a:t>
            </a:r>
            <a:endParaRPr lang="zh-CN" sz="900" dirty="0"/>
          </a:p>
        </p:txBody>
      </p:sp>
      <p:sp>
        <p:nvSpPr>
          <p:cNvPr id="3" name="Text 1"/>
          <p:cNvSpPr/>
          <p:nvPr/>
        </p:nvSpPr>
        <p:spPr>
          <a:xfrm>
            <a:off x="10692079" y="347472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06 / 16</a:t>
            </a:r>
            <a:endParaRPr lang="zh-CN" sz="900" dirty="0"/>
          </a:p>
        </p:txBody>
      </p:sp>
      <p:sp>
        <p:nvSpPr>
          <p:cNvPr id="4" name="Text 2"/>
          <p:cNvSpPr/>
          <p:nvPr/>
        </p:nvSpPr>
        <p:spPr>
          <a:xfrm>
            <a:off x="603504" y="86868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[产品结构 / 设计逻辑]</a:t>
            </a:r>
            <a:endParaRPr lang="zh-CN" sz="900" dirty="0"/>
          </a:p>
        </p:txBody>
      </p:sp>
      <p:sp>
        <p:nvSpPr>
          <p:cNvPr id="5" name="Text 3"/>
          <p:cNvSpPr/>
          <p:nvPr/>
        </p:nvSpPr>
        <p:spPr>
          <a:xfrm>
            <a:off x="603504" y="1143000"/>
            <a:ext cx="10991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5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[三层能力如何相互支撑]</a:t>
            </a:r>
            <a:endParaRPr lang="zh-CN" sz="3500" dirty="0"/>
          </a:p>
        </p:txBody>
      </p:sp>
      <p:sp>
        <p:nvSpPr>
          <p:cNvPr id="6" name="Shape 4"/>
          <p:cNvSpPr/>
          <p:nvPr/>
        </p:nvSpPr>
        <p:spPr>
          <a:xfrm>
            <a:off x="603504" y="2176272"/>
            <a:ext cx="3557016" cy="3319272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" y="2176272"/>
            <a:ext cx="3557016" cy="36576"/>
          </a:xfrm>
          <a:prstGeom prst="rect">
            <a:avLst/>
          </a:prstGeom>
          <a:solidFill>
            <a:srgbClr val="0A0A0A"/>
          </a:solidFill>
          <a:ln w="508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" y="24963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 / [层级]</a:t>
            </a:r>
            <a:endParaRPr lang="zh-CN" sz="900" dirty="0"/>
          </a:p>
        </p:txBody>
      </p:sp>
      <p:sp>
        <p:nvSpPr>
          <p:cNvPr id="9" name="Text 7"/>
          <p:cNvSpPr/>
          <p:nvPr/>
        </p:nvSpPr>
        <p:spPr>
          <a:xfrm>
            <a:off x="832104" y="320040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8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[能力层1]</a:t>
            </a:r>
            <a:endParaRPr lang="zh-CN" sz="2800" dirty="0"/>
          </a:p>
        </p:txBody>
      </p:sp>
      <p:sp>
        <p:nvSpPr>
          <p:cNvPr id="10" name="Text 8"/>
          <p:cNvSpPr/>
          <p:nvPr/>
        </p:nvSpPr>
        <p:spPr>
          <a:xfrm>
            <a:off x="832104" y="473659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5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[该层的作用与主要内容]</a:t>
            </a:r>
            <a:endParaRPr lang="zh-CN" sz="1350" dirty="0"/>
          </a:p>
        </p:txBody>
      </p:sp>
      <p:sp>
        <p:nvSpPr>
          <p:cNvPr id="11" name="Shape 9"/>
          <p:cNvSpPr/>
          <p:nvPr/>
        </p:nvSpPr>
        <p:spPr>
          <a:xfrm>
            <a:off x="4325112" y="2176272"/>
            <a:ext cx="3557016" cy="3319272"/>
          </a:xfrm>
          <a:prstGeom prst="rect">
            <a:avLst/>
          </a:prstGeom>
          <a:solidFill>
            <a:srgbClr val="002FA7"/>
          </a:solidFill>
          <a:ln w="508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24963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DCE4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 / [层级]</a:t>
            </a:r>
            <a:endParaRPr lang="zh-CN" sz="900" dirty="0"/>
          </a:p>
        </p:txBody>
      </p:sp>
      <p:sp>
        <p:nvSpPr>
          <p:cNvPr id="13" name="Text 11"/>
          <p:cNvSpPr/>
          <p:nvPr/>
        </p:nvSpPr>
        <p:spPr>
          <a:xfrm>
            <a:off x="4553712" y="320040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8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[能力层2]</a:t>
            </a:r>
            <a:endParaRPr lang="zh-CN" sz="2800" dirty="0"/>
          </a:p>
        </p:txBody>
      </p:sp>
      <p:sp>
        <p:nvSpPr>
          <p:cNvPr id="14" name="Text 12"/>
          <p:cNvSpPr/>
          <p:nvPr/>
        </p:nvSpPr>
        <p:spPr>
          <a:xfrm>
            <a:off x="4553712" y="473659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50" dirty="0">
                <a:solidFill>
                  <a:srgbClr val="DCE4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[该层的作用与主要内容]</a:t>
            </a:r>
            <a:endParaRPr lang="zh-CN" sz="1350" dirty="0"/>
          </a:p>
        </p:txBody>
      </p:sp>
      <p:sp>
        <p:nvSpPr>
          <p:cNvPr id="15" name="Shape 13"/>
          <p:cNvSpPr/>
          <p:nvPr/>
        </p:nvSpPr>
        <p:spPr>
          <a:xfrm>
            <a:off x="8046720" y="2176272"/>
            <a:ext cx="3557016" cy="3319272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2176272"/>
            <a:ext cx="3557016" cy="36576"/>
          </a:xfrm>
          <a:prstGeom prst="rect">
            <a:avLst/>
          </a:prstGeom>
          <a:solidFill>
            <a:srgbClr val="0A0A0A"/>
          </a:solidFill>
          <a:ln w="508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75320" y="24963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 / [层级]</a:t>
            </a:r>
            <a:endParaRPr lang="zh-CN" sz="900" dirty="0"/>
          </a:p>
        </p:txBody>
      </p:sp>
      <p:sp>
        <p:nvSpPr>
          <p:cNvPr id="18" name="Text 16"/>
          <p:cNvSpPr/>
          <p:nvPr/>
        </p:nvSpPr>
        <p:spPr>
          <a:xfrm>
            <a:off x="8275320" y="320040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8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[能力层3]</a:t>
            </a:r>
            <a:endParaRPr lang="zh-CN" sz="2800" dirty="0"/>
          </a:p>
        </p:txBody>
      </p:sp>
      <p:sp>
        <p:nvSpPr>
          <p:cNvPr id="19" name="Text 17"/>
          <p:cNvSpPr/>
          <p:nvPr/>
        </p:nvSpPr>
        <p:spPr>
          <a:xfrm>
            <a:off x="8275320" y="473659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5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[该层的作用与主要内容]</a:t>
            </a:r>
            <a:endParaRPr lang="zh-CN" sz="1350" dirty="0"/>
          </a:p>
        </p:txBody>
      </p:sp>
      <p:sp>
        <p:nvSpPr>
          <p:cNvPr id="20" name="Shape 18"/>
          <p:cNvSpPr/>
          <p:nvPr/>
        </p:nvSpPr>
        <p:spPr>
          <a:xfrm>
            <a:off x="603504" y="5687568"/>
            <a:ext cx="10972800" cy="0"/>
          </a:xfrm>
          <a:prstGeom prst="line">
            <a:avLst/>
          </a:prstGeom>
          <a:noFill/>
          <a:ln w="7620">
            <a:solidFill>
              <a:srgbClr val="D4D4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" y="5897880"/>
            <a:ext cx="10789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[三层能力之间的关系]</a:t>
            </a:r>
            <a:endParaRPr lang="zh-CN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B8B8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06 · 方法对照</a:t>
            </a:r>
            <a:endParaRPr lang="zh-CN" sz="900" dirty="0"/>
          </a:p>
        </p:txBody>
      </p:sp>
      <p:sp>
        <p:nvSpPr>
          <p:cNvPr id="3" name="Text 1"/>
          <p:cNvSpPr/>
          <p:nvPr/>
        </p:nvSpPr>
        <p:spPr>
          <a:xfrm>
            <a:off x="10692079" y="347472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900" b="1" spc="100" kern="0" dirty="0">
                <a:solidFill>
                  <a:srgbClr val="B8B8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07 / 16</a:t>
            </a:r>
            <a:endParaRPr lang="zh-CN" sz="900" dirty="0"/>
          </a:p>
        </p:txBody>
      </p:sp>
      <p:sp>
        <p:nvSpPr>
          <p:cNvPr id="4" name="Text 2"/>
          <p:cNvSpPr/>
          <p:nvPr/>
        </p:nvSpPr>
        <p:spPr>
          <a:xfrm>
            <a:off x="603504" y="86868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B8B8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[两个方法的共通目标]</a:t>
            </a:r>
            <a:endParaRPr lang="zh-CN" sz="900" dirty="0"/>
          </a:p>
        </p:txBody>
      </p:sp>
      <p:sp>
        <p:nvSpPr>
          <p:cNvPr id="5" name="Text 3"/>
          <p:cNvSpPr/>
          <p:nvPr/>
        </p:nvSpPr>
        <p:spPr>
          <a:xfrm>
            <a:off x="603504" y="1143000"/>
            <a:ext cx="10991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5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[方法 A 与方法 B 各负责什么]</a:t>
            </a:r>
            <a:endParaRPr lang="zh-CN" sz="3500" dirty="0"/>
          </a:p>
        </p:txBody>
      </p:sp>
      <p:sp>
        <p:nvSpPr>
          <p:cNvPr id="6" name="Shape 4"/>
          <p:cNvSpPr/>
          <p:nvPr/>
        </p:nvSpPr>
        <p:spPr>
          <a:xfrm>
            <a:off x="6099048" y="2231136"/>
            <a:ext cx="0" cy="3182112"/>
          </a:xfrm>
          <a:prstGeom prst="line">
            <a:avLst/>
          </a:prstGeom>
          <a:noFill/>
          <a:ln w="7620">
            <a:solidFill>
              <a:srgbClr val="5555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244144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A3A3A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 / [方法 A]</a:t>
            </a:r>
            <a:endParaRPr lang="zh-CN" sz="900" dirty="0"/>
          </a:p>
        </p:txBody>
      </p:sp>
      <p:sp>
        <p:nvSpPr>
          <p:cNvPr id="8" name="Text 6"/>
          <p:cNvSpPr/>
          <p:nvPr/>
        </p:nvSpPr>
        <p:spPr>
          <a:xfrm>
            <a:off x="603504" y="2834640"/>
            <a:ext cx="493776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9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[方法 A</a:t>
            </a:r>
            <a:endParaRPr lang="zh-CN" sz="2900" dirty="0"/>
          </a:p>
          <a:p>
            <a:pPr algn="l" indent="0" marL="0">
              <a:buNone/>
            </a:pPr>
            <a:r>
              <a:rPr lang="zh-CN" altLang="en-US" sz="29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核心作用]</a:t>
            </a:r>
            <a:endParaRPr lang="zh-CN" sz="2900" dirty="0"/>
          </a:p>
        </p:txBody>
      </p:sp>
      <p:sp>
        <p:nvSpPr>
          <p:cNvPr id="9" name="Text 7"/>
          <p:cNvSpPr/>
          <p:nvPr/>
        </p:nvSpPr>
        <p:spPr>
          <a:xfrm>
            <a:off x="603504" y="47091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C9C9C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[适用场景与输出]</a:t>
            </a:r>
            <a:endParaRPr lang="zh-CN" sz="1500" dirty="0"/>
          </a:p>
        </p:txBody>
      </p:sp>
      <p:sp>
        <p:nvSpPr>
          <p:cNvPr id="10" name="Text 8"/>
          <p:cNvSpPr/>
          <p:nvPr/>
        </p:nvSpPr>
        <p:spPr>
          <a:xfrm>
            <a:off x="6510528" y="244144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A3A3A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 / [方法 B]</a:t>
            </a:r>
            <a:endParaRPr lang="zh-CN" sz="900" dirty="0"/>
          </a:p>
        </p:txBody>
      </p:sp>
      <p:sp>
        <p:nvSpPr>
          <p:cNvPr id="11" name="Text 9"/>
          <p:cNvSpPr/>
          <p:nvPr/>
        </p:nvSpPr>
        <p:spPr>
          <a:xfrm>
            <a:off x="6510528" y="2834640"/>
            <a:ext cx="475488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9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[方法 B</a:t>
            </a:r>
            <a:endParaRPr lang="zh-CN" sz="2900" dirty="0"/>
          </a:p>
          <a:p>
            <a:pPr algn="l" indent="0" marL="0">
              <a:buNone/>
            </a:pPr>
            <a:r>
              <a:rPr lang="zh-CN" altLang="en-US" sz="29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核心作用]</a:t>
            </a:r>
            <a:endParaRPr lang="zh-CN" sz="2900" dirty="0"/>
          </a:p>
        </p:txBody>
      </p:sp>
      <p:sp>
        <p:nvSpPr>
          <p:cNvPr id="12" name="Text 10"/>
          <p:cNvSpPr/>
          <p:nvPr/>
        </p:nvSpPr>
        <p:spPr>
          <a:xfrm>
            <a:off x="6510528" y="47091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C9C9C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[适用场景与输出]</a:t>
            </a:r>
            <a:endParaRPr lang="zh-CN" sz="1500" dirty="0"/>
          </a:p>
        </p:txBody>
      </p:sp>
      <p:sp>
        <p:nvSpPr>
          <p:cNvPr id="13" name="Shape 11"/>
          <p:cNvSpPr/>
          <p:nvPr/>
        </p:nvSpPr>
        <p:spPr>
          <a:xfrm>
            <a:off x="603504" y="5751576"/>
            <a:ext cx="10972800" cy="0"/>
          </a:xfrm>
          <a:prstGeom prst="line">
            <a:avLst/>
          </a:prstGeom>
          <a:noFill/>
          <a:ln w="7620">
            <a:solidFill>
              <a:srgbClr val="5555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59436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[两种方法如何配合]</a:t>
            </a:r>
            <a:endParaRPr lang="zh-CN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07 · 关键数据</a:t>
            </a:r>
            <a:endParaRPr lang="zh-CN" sz="900" dirty="0"/>
          </a:p>
        </p:txBody>
      </p:sp>
      <p:sp>
        <p:nvSpPr>
          <p:cNvPr id="3" name="Text 1"/>
          <p:cNvSpPr/>
          <p:nvPr/>
        </p:nvSpPr>
        <p:spPr>
          <a:xfrm>
            <a:off x="10692079" y="347472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08 / 16</a:t>
            </a:r>
            <a:endParaRPr lang="zh-CN" sz="900" dirty="0"/>
          </a:p>
        </p:txBody>
      </p:sp>
      <p:sp>
        <p:nvSpPr>
          <p:cNvPr id="4" name="Text 2"/>
          <p:cNvSpPr/>
          <p:nvPr/>
        </p:nvSpPr>
        <p:spPr>
          <a:xfrm>
            <a:off x="603504" y="86868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[统计口径 / 时间范围 / 来源]</a:t>
            </a:r>
            <a:endParaRPr lang="zh-CN" sz="900" dirty="0"/>
          </a:p>
        </p:txBody>
      </p:sp>
      <p:sp>
        <p:nvSpPr>
          <p:cNvPr id="5" name="Text 3"/>
          <p:cNvSpPr/>
          <p:nvPr/>
        </p:nvSpPr>
        <p:spPr>
          <a:xfrm>
            <a:off x="603504" y="1143000"/>
            <a:ext cx="10991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5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[一个最关键的数据说明什么]</a:t>
            </a:r>
            <a:endParaRPr lang="zh-CN" sz="3500" dirty="0"/>
          </a:p>
        </p:txBody>
      </p:sp>
      <p:sp>
        <p:nvSpPr>
          <p:cNvPr id="6" name="Shape 4"/>
          <p:cNvSpPr/>
          <p:nvPr/>
        </p:nvSpPr>
        <p:spPr>
          <a:xfrm>
            <a:off x="603504" y="2212848"/>
            <a:ext cx="6528816" cy="0"/>
          </a:xfrm>
          <a:prstGeom prst="line">
            <a:avLst/>
          </a:prstGeom>
          <a:noFill/>
          <a:ln w="27940">
            <a:solidFill>
              <a:srgbClr val="002F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242316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主指标 / [单位]</a:t>
            </a:r>
            <a:endParaRPr lang="zh-CN" sz="900" dirty="0"/>
          </a:p>
        </p:txBody>
      </p:sp>
      <p:sp>
        <p:nvSpPr>
          <p:cNvPr id="8" name="Text 6"/>
          <p:cNvSpPr/>
          <p:nvPr/>
        </p:nvSpPr>
        <p:spPr>
          <a:xfrm>
            <a:off x="603504" y="2862072"/>
            <a:ext cx="66751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60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[XX]</a:t>
            </a:r>
            <a:endParaRPr lang="zh-CN" sz="9600" dirty="0"/>
          </a:p>
        </p:txBody>
      </p:sp>
      <p:sp>
        <p:nvSpPr>
          <p:cNvPr id="9" name="Text 7"/>
          <p:cNvSpPr/>
          <p:nvPr/>
        </p:nvSpPr>
        <p:spPr>
          <a:xfrm>
            <a:off x="603504" y="5157216"/>
            <a:ext cx="6537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[一句话解释主指标的意义]</a:t>
            </a:r>
            <a:endParaRPr lang="zh-CN" sz="2000" dirty="0"/>
          </a:p>
        </p:txBody>
      </p:sp>
      <p:sp>
        <p:nvSpPr>
          <p:cNvPr id="10" name="Shape 8"/>
          <p:cNvSpPr/>
          <p:nvPr/>
        </p:nvSpPr>
        <p:spPr>
          <a:xfrm>
            <a:off x="7479792" y="2194560"/>
            <a:ext cx="4105656" cy="1636776"/>
          </a:xfrm>
          <a:prstGeom prst="rect">
            <a:avLst/>
          </a:prstGeom>
          <a:solidFill>
            <a:srgbClr val="F0F0EE"/>
          </a:solidFill>
          <a:ln w="508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54112" y="24048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辅助指标 A</a:t>
            </a:r>
            <a:endParaRPr lang="zh-CN" sz="900" dirty="0"/>
          </a:p>
        </p:txBody>
      </p:sp>
      <p:sp>
        <p:nvSpPr>
          <p:cNvPr id="12" name="Text 10"/>
          <p:cNvSpPr/>
          <p:nvPr/>
        </p:nvSpPr>
        <p:spPr>
          <a:xfrm>
            <a:off x="7754112" y="2761488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4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[XX]</a:t>
            </a:r>
            <a:endParaRPr lang="zh-CN" sz="3400" dirty="0"/>
          </a:p>
        </p:txBody>
      </p:sp>
      <p:sp>
        <p:nvSpPr>
          <p:cNvPr id="13" name="Text 11"/>
          <p:cNvSpPr/>
          <p:nvPr/>
        </p:nvSpPr>
        <p:spPr>
          <a:xfrm>
            <a:off x="7754112" y="341985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5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[指标解释]</a:t>
            </a:r>
            <a:endParaRPr lang="zh-CN" sz="1250" dirty="0"/>
          </a:p>
        </p:txBody>
      </p:sp>
      <p:sp>
        <p:nvSpPr>
          <p:cNvPr id="14" name="Shape 12"/>
          <p:cNvSpPr/>
          <p:nvPr/>
        </p:nvSpPr>
        <p:spPr>
          <a:xfrm>
            <a:off x="7479792" y="3986784"/>
            <a:ext cx="4105656" cy="1636776"/>
          </a:xfrm>
          <a:prstGeom prst="rect">
            <a:avLst/>
          </a:prstGeom>
          <a:solidFill>
            <a:srgbClr val="F0F0EE"/>
          </a:solidFill>
          <a:ln w="508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54112" y="419709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辅助指标 B</a:t>
            </a:r>
            <a:endParaRPr lang="zh-CN" sz="900" dirty="0"/>
          </a:p>
        </p:txBody>
      </p:sp>
      <p:sp>
        <p:nvSpPr>
          <p:cNvPr id="16" name="Text 14"/>
          <p:cNvSpPr/>
          <p:nvPr/>
        </p:nvSpPr>
        <p:spPr>
          <a:xfrm>
            <a:off x="7754112" y="4553712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4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[XX]</a:t>
            </a:r>
            <a:endParaRPr lang="zh-CN" sz="3400" dirty="0"/>
          </a:p>
        </p:txBody>
      </p:sp>
      <p:sp>
        <p:nvSpPr>
          <p:cNvPr id="17" name="Text 15"/>
          <p:cNvSpPr/>
          <p:nvPr/>
        </p:nvSpPr>
        <p:spPr>
          <a:xfrm>
            <a:off x="7754112" y="52120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5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[指标解释]</a:t>
            </a:r>
            <a:endParaRPr lang="zh-CN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08 · 案例封面模板</a:t>
            </a:r>
            <a:endParaRPr lang="zh-CN" sz="900" dirty="0"/>
          </a:p>
        </p:txBody>
      </p:sp>
      <p:sp>
        <p:nvSpPr>
          <p:cNvPr id="3" name="Text 1"/>
          <p:cNvSpPr/>
          <p:nvPr/>
        </p:nvSpPr>
        <p:spPr>
          <a:xfrm>
            <a:off x="10692079" y="347472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09 / 16</a:t>
            </a:r>
            <a:endParaRPr lang="zh-CN" sz="900" dirty="0"/>
          </a:p>
        </p:txBody>
      </p:sp>
      <p:sp>
        <p:nvSpPr>
          <p:cNvPr id="4" name="Shape 2"/>
          <p:cNvSpPr/>
          <p:nvPr/>
        </p:nvSpPr>
        <p:spPr>
          <a:xfrm>
            <a:off x="603504" y="1069848"/>
            <a:ext cx="10972800" cy="4700016"/>
          </a:xfrm>
          <a:prstGeom prst="rect">
            <a:avLst/>
          </a:prstGeom>
          <a:solidFill>
            <a:srgbClr val="F0F0EE"/>
          </a:solidFill>
          <a:ln w="12700">
            <a:solidFill>
              <a:srgbClr val="D4D4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234440"/>
            <a:ext cx="10607040" cy="4370832"/>
          </a:xfrm>
          <a:prstGeom prst="line">
            <a:avLst/>
          </a:prstGeom>
          <a:noFill/>
          <a:ln w="6985">
            <a:solidFill>
              <a:srgbClr val="D4D4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5605272"/>
            <a:ext cx="10607040" cy="-4370832"/>
          </a:xfrm>
          <a:prstGeom prst="line">
            <a:avLst/>
          </a:prstGeom>
          <a:noFill/>
          <a:ln w="6985">
            <a:solidFill>
              <a:srgbClr val="D4D4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" y="1536192"/>
            <a:ext cx="5742432" cy="2020824"/>
          </a:xfrm>
          <a:prstGeom prst="rect">
            <a:avLst/>
          </a:prstGeom>
          <a:solidFill>
            <a:srgbClr val="FAFAF8"/>
          </a:solidFill>
          <a:ln w="5080">
            <a:solidFill>
              <a:srgbClr val="FAFAF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1051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CASE / [案例编号]</a:t>
            </a:r>
            <a:endParaRPr lang="zh-CN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2148840"/>
            <a:ext cx="5120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3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[案例名称]</a:t>
            </a:r>
            <a:endParaRPr lang="zh-CN" sz="3300" dirty="0"/>
          </a:p>
          <a:p>
            <a:pPr algn="l" indent="0" marL="0">
              <a:buNone/>
            </a:pPr>
            <a:r>
              <a:rPr lang="zh-CN" altLang="en-US" sz="33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[一句话成果]</a:t>
            </a:r>
            <a:endParaRPr lang="zh-CN" sz="3300" dirty="0"/>
          </a:p>
        </p:txBody>
      </p:sp>
      <p:sp>
        <p:nvSpPr>
          <p:cNvPr id="10" name="Text 8"/>
          <p:cNvSpPr/>
          <p:nvPr/>
        </p:nvSpPr>
        <p:spPr>
          <a:xfrm>
            <a:off x="7342632" y="2313432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21:9 案例主图槽位</a:t>
            </a:r>
            <a:endParaRPr lang="zh-CN" sz="1400" dirty="0"/>
          </a:p>
        </p:txBody>
      </p:sp>
      <p:sp>
        <p:nvSpPr>
          <p:cNvPr id="11" name="Text 9"/>
          <p:cNvSpPr/>
          <p:nvPr/>
        </p:nvSpPr>
        <p:spPr>
          <a:xfrm>
            <a:off x="7342632" y="2724912"/>
            <a:ext cx="3337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[替换为真实横幅图片]</a:t>
            </a:r>
            <a:endParaRPr lang="zh-CN" sz="1100" dirty="0"/>
          </a:p>
        </p:txBody>
      </p:sp>
      <p:sp>
        <p:nvSpPr>
          <p:cNvPr id="12" name="Shape 10"/>
          <p:cNvSpPr/>
          <p:nvPr/>
        </p:nvSpPr>
        <p:spPr>
          <a:xfrm>
            <a:off x="603504" y="4965192"/>
            <a:ext cx="10972800" cy="1325880"/>
          </a:xfrm>
          <a:prstGeom prst="rect">
            <a:avLst/>
          </a:prstGeom>
          <a:solidFill>
            <a:srgbClr val="FAFAF8"/>
          </a:solidFill>
          <a:ln w="5080">
            <a:solidFill>
              <a:srgbClr val="FAFAF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" y="5084064"/>
            <a:ext cx="3502152" cy="0"/>
          </a:xfrm>
          <a:prstGeom prst="line">
            <a:avLst/>
          </a:prstGeom>
          <a:noFill/>
          <a:ln w="7620">
            <a:solidFill>
              <a:srgbClr val="D4D4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531266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客户 / 场景</a:t>
            </a:r>
            <a:endParaRPr lang="zh-CN" sz="900" dirty="0"/>
          </a:p>
        </p:txBody>
      </p:sp>
      <p:sp>
        <p:nvSpPr>
          <p:cNvPr id="15" name="Text 13"/>
          <p:cNvSpPr/>
          <p:nvPr/>
        </p:nvSpPr>
        <p:spPr>
          <a:xfrm>
            <a:off x="603504" y="5669280"/>
            <a:ext cx="3383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[填写]</a:t>
            </a:r>
            <a:endParaRPr lang="zh-CN" sz="1800" dirty="0"/>
          </a:p>
        </p:txBody>
      </p:sp>
      <p:sp>
        <p:nvSpPr>
          <p:cNvPr id="16" name="Shape 14"/>
          <p:cNvSpPr/>
          <p:nvPr/>
        </p:nvSpPr>
        <p:spPr>
          <a:xfrm>
            <a:off x="4325112" y="5084064"/>
            <a:ext cx="3502152" cy="0"/>
          </a:xfrm>
          <a:prstGeom prst="line">
            <a:avLst/>
          </a:prstGeom>
          <a:noFill/>
          <a:ln w="7620">
            <a:solidFill>
              <a:srgbClr val="D4D4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25112" y="531266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核心动作</a:t>
            </a:r>
            <a:endParaRPr lang="zh-CN" sz="900" dirty="0"/>
          </a:p>
        </p:txBody>
      </p:sp>
      <p:sp>
        <p:nvSpPr>
          <p:cNvPr id="18" name="Text 16"/>
          <p:cNvSpPr/>
          <p:nvPr/>
        </p:nvSpPr>
        <p:spPr>
          <a:xfrm>
            <a:off x="4325112" y="5669280"/>
            <a:ext cx="3383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[填写]</a:t>
            </a:r>
            <a:endParaRPr lang="zh-CN" sz="1800" dirty="0"/>
          </a:p>
        </p:txBody>
      </p:sp>
      <p:sp>
        <p:nvSpPr>
          <p:cNvPr id="19" name="Shape 17"/>
          <p:cNvSpPr/>
          <p:nvPr/>
        </p:nvSpPr>
        <p:spPr>
          <a:xfrm>
            <a:off x="8046720" y="5084064"/>
            <a:ext cx="3502152" cy="0"/>
          </a:xfrm>
          <a:prstGeom prst="line">
            <a:avLst/>
          </a:prstGeom>
          <a:noFill/>
          <a:ln w="7620">
            <a:solidFill>
              <a:srgbClr val="D4D4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0" y="531266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关键结果</a:t>
            </a:r>
            <a:endParaRPr lang="zh-CN" sz="900" dirty="0"/>
          </a:p>
        </p:txBody>
      </p:sp>
      <p:sp>
        <p:nvSpPr>
          <p:cNvPr id="21" name="Text 19"/>
          <p:cNvSpPr/>
          <p:nvPr/>
        </p:nvSpPr>
        <p:spPr>
          <a:xfrm>
            <a:off x="8046720" y="5669280"/>
            <a:ext cx="3383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[填写]</a:t>
            </a:r>
            <a:endParaRPr lang="zh-CN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0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09 · 案例行动路径模板</a:t>
            </a:r>
            <a:endParaRPr lang="zh-CN" sz="900" dirty="0"/>
          </a:p>
        </p:txBody>
      </p:sp>
      <p:sp>
        <p:nvSpPr>
          <p:cNvPr id="3" name="Text 1"/>
          <p:cNvSpPr/>
          <p:nvPr/>
        </p:nvSpPr>
        <p:spPr>
          <a:xfrm>
            <a:off x="10692079" y="347472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10 / 16</a:t>
            </a:r>
            <a:endParaRPr lang="zh-CN" sz="900" dirty="0"/>
          </a:p>
        </p:txBody>
      </p:sp>
      <p:sp>
        <p:nvSpPr>
          <p:cNvPr id="4" name="Text 2"/>
          <p:cNvSpPr/>
          <p:nvPr/>
        </p:nvSpPr>
        <p:spPr>
          <a:xfrm>
            <a:off x="603504" y="86868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[案例名称] / [项目周期]</a:t>
            </a:r>
            <a:endParaRPr lang="zh-CN" sz="900" dirty="0"/>
          </a:p>
        </p:txBody>
      </p:sp>
      <p:sp>
        <p:nvSpPr>
          <p:cNvPr id="5" name="Text 3"/>
          <p:cNvSpPr/>
          <p:nvPr/>
        </p:nvSpPr>
        <p:spPr>
          <a:xfrm>
            <a:off x="603504" y="1143000"/>
            <a:ext cx="10991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5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[从问题到结果，做了哪四步]</a:t>
            </a:r>
            <a:endParaRPr lang="zh-CN" sz="3500" dirty="0"/>
          </a:p>
        </p:txBody>
      </p:sp>
      <p:sp>
        <p:nvSpPr>
          <p:cNvPr id="6" name="Shape 4"/>
          <p:cNvSpPr/>
          <p:nvPr/>
        </p:nvSpPr>
        <p:spPr>
          <a:xfrm>
            <a:off x="603504" y="2971800"/>
            <a:ext cx="4846320" cy="0"/>
          </a:xfrm>
          <a:prstGeom prst="line">
            <a:avLst/>
          </a:prstGeom>
          <a:noFill/>
          <a:ln w="7620">
            <a:solidFill>
              <a:srgbClr val="D4D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227685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</a:t>
            </a:r>
            <a:endParaRPr lang="zh-CN" sz="900" dirty="0"/>
          </a:p>
        </p:txBody>
      </p:sp>
      <p:sp>
        <p:nvSpPr>
          <p:cNvPr id="8" name="Text 6"/>
          <p:cNvSpPr/>
          <p:nvPr/>
        </p:nvSpPr>
        <p:spPr>
          <a:xfrm>
            <a:off x="1179576" y="2221992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[背景]</a:t>
            </a:r>
            <a:endParaRPr lang="zh-CN" sz="1800" dirty="0"/>
          </a:p>
        </p:txBody>
      </p:sp>
      <p:sp>
        <p:nvSpPr>
          <p:cNvPr id="9" name="Text 7"/>
          <p:cNvSpPr/>
          <p:nvPr/>
        </p:nvSpPr>
        <p:spPr>
          <a:xfrm>
            <a:off x="2450592" y="2258568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5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[原始问题与范围]</a:t>
            </a:r>
            <a:endParaRPr lang="zh-CN" sz="1250" dirty="0"/>
          </a:p>
        </p:txBody>
      </p:sp>
      <p:sp>
        <p:nvSpPr>
          <p:cNvPr id="10" name="Shape 8"/>
          <p:cNvSpPr/>
          <p:nvPr/>
        </p:nvSpPr>
        <p:spPr>
          <a:xfrm>
            <a:off x="603504" y="3867912"/>
            <a:ext cx="4846320" cy="0"/>
          </a:xfrm>
          <a:prstGeom prst="line">
            <a:avLst/>
          </a:prstGeom>
          <a:noFill/>
          <a:ln w="7620">
            <a:solidFill>
              <a:srgbClr val="D4D4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" y="31729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</a:t>
            </a:r>
            <a:endParaRPr lang="zh-CN" sz="900" dirty="0"/>
          </a:p>
        </p:txBody>
      </p:sp>
      <p:sp>
        <p:nvSpPr>
          <p:cNvPr id="12" name="Text 10"/>
          <p:cNvSpPr/>
          <p:nvPr/>
        </p:nvSpPr>
        <p:spPr>
          <a:xfrm>
            <a:off x="1179576" y="3118104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[动作]</a:t>
            </a:r>
            <a:endParaRPr lang="zh-CN" sz="1800" dirty="0"/>
          </a:p>
        </p:txBody>
      </p:sp>
      <p:sp>
        <p:nvSpPr>
          <p:cNvPr id="13" name="Text 11"/>
          <p:cNvSpPr/>
          <p:nvPr/>
        </p:nvSpPr>
        <p:spPr>
          <a:xfrm>
            <a:off x="2450592" y="3154680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5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[关键实施动作]</a:t>
            </a:r>
            <a:endParaRPr lang="zh-CN" sz="1250" dirty="0"/>
          </a:p>
        </p:txBody>
      </p:sp>
      <p:sp>
        <p:nvSpPr>
          <p:cNvPr id="14" name="Shape 12"/>
          <p:cNvSpPr/>
          <p:nvPr/>
        </p:nvSpPr>
        <p:spPr>
          <a:xfrm>
            <a:off x="603504" y="4764024"/>
            <a:ext cx="4846320" cy="0"/>
          </a:xfrm>
          <a:prstGeom prst="line">
            <a:avLst/>
          </a:prstGeom>
          <a:noFill/>
          <a:ln w="7620">
            <a:solidFill>
              <a:srgbClr val="D4D4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4069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</a:t>
            </a:r>
            <a:endParaRPr lang="zh-CN" sz="900" dirty="0"/>
          </a:p>
        </p:txBody>
      </p:sp>
      <p:sp>
        <p:nvSpPr>
          <p:cNvPr id="16" name="Text 14"/>
          <p:cNvSpPr/>
          <p:nvPr/>
        </p:nvSpPr>
        <p:spPr>
          <a:xfrm>
            <a:off x="1179576" y="4014216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[交付]</a:t>
            </a:r>
            <a:endParaRPr lang="zh-CN" sz="1800" dirty="0"/>
          </a:p>
        </p:txBody>
      </p:sp>
      <p:sp>
        <p:nvSpPr>
          <p:cNvPr id="17" name="Text 15"/>
          <p:cNvSpPr/>
          <p:nvPr/>
        </p:nvSpPr>
        <p:spPr>
          <a:xfrm>
            <a:off x="2450592" y="4050792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5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[具体交付物]</a:t>
            </a:r>
            <a:endParaRPr lang="zh-CN" sz="1250" dirty="0"/>
          </a:p>
        </p:txBody>
      </p:sp>
      <p:sp>
        <p:nvSpPr>
          <p:cNvPr id="18" name="Shape 16"/>
          <p:cNvSpPr/>
          <p:nvPr/>
        </p:nvSpPr>
        <p:spPr>
          <a:xfrm>
            <a:off x="603504" y="5660136"/>
            <a:ext cx="4846320" cy="0"/>
          </a:xfrm>
          <a:prstGeom prst="line">
            <a:avLst/>
          </a:prstGeom>
          <a:noFill/>
          <a:ln w="7620">
            <a:solidFill>
              <a:srgbClr val="D4D4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" y="49651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04</a:t>
            </a:r>
            <a:endParaRPr lang="zh-CN" sz="900" dirty="0"/>
          </a:p>
        </p:txBody>
      </p:sp>
      <p:sp>
        <p:nvSpPr>
          <p:cNvPr id="20" name="Text 18"/>
          <p:cNvSpPr/>
          <p:nvPr/>
        </p:nvSpPr>
        <p:spPr>
          <a:xfrm>
            <a:off x="1179576" y="4910328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[结果]</a:t>
            </a:r>
            <a:endParaRPr lang="zh-CN" sz="1800" dirty="0"/>
          </a:p>
        </p:txBody>
      </p:sp>
      <p:sp>
        <p:nvSpPr>
          <p:cNvPr id="21" name="Text 19"/>
          <p:cNvSpPr/>
          <p:nvPr/>
        </p:nvSpPr>
        <p:spPr>
          <a:xfrm>
            <a:off x="2450592" y="4946904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5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[可核验的变化]</a:t>
            </a:r>
            <a:endParaRPr lang="zh-CN" sz="1250" dirty="0"/>
          </a:p>
        </p:txBody>
      </p:sp>
      <p:sp>
        <p:nvSpPr>
          <p:cNvPr id="22" name="Shape 20"/>
          <p:cNvSpPr/>
          <p:nvPr/>
        </p:nvSpPr>
        <p:spPr>
          <a:xfrm>
            <a:off x="5769864" y="2185416"/>
            <a:ext cx="5815584" cy="3666744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71616" y="2505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CASE FLOW</a:t>
            </a:r>
            <a:endParaRPr lang="zh-CN" sz="900" dirty="0"/>
          </a:p>
        </p:txBody>
      </p:sp>
      <p:sp>
        <p:nvSpPr>
          <p:cNvPr id="24" name="Shape 22"/>
          <p:cNvSpPr/>
          <p:nvPr/>
        </p:nvSpPr>
        <p:spPr>
          <a:xfrm>
            <a:off x="6071616" y="3246120"/>
            <a:ext cx="1133856" cy="36576"/>
          </a:xfrm>
          <a:prstGeom prst="rect">
            <a:avLst/>
          </a:prstGeom>
          <a:solidFill>
            <a:srgbClr val="0A0A0A"/>
          </a:solidFill>
          <a:ln w="508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71616" y="35204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[阶段1]</a:t>
            </a:r>
            <a:endParaRPr lang="zh-CN" sz="1400" dirty="0"/>
          </a:p>
        </p:txBody>
      </p:sp>
      <p:sp>
        <p:nvSpPr>
          <p:cNvPr id="26" name="Shape 24"/>
          <p:cNvSpPr/>
          <p:nvPr/>
        </p:nvSpPr>
        <p:spPr>
          <a:xfrm>
            <a:off x="7351776" y="3246120"/>
            <a:ext cx="1133856" cy="36576"/>
          </a:xfrm>
          <a:prstGeom prst="rect">
            <a:avLst/>
          </a:prstGeom>
          <a:solidFill>
            <a:srgbClr val="0A0A0A"/>
          </a:solidFill>
          <a:ln w="508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51776" y="35204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[阶段2]</a:t>
            </a:r>
            <a:endParaRPr lang="zh-CN" sz="1400" dirty="0"/>
          </a:p>
        </p:txBody>
      </p:sp>
      <p:sp>
        <p:nvSpPr>
          <p:cNvPr id="28" name="Shape 26"/>
          <p:cNvSpPr/>
          <p:nvPr/>
        </p:nvSpPr>
        <p:spPr>
          <a:xfrm>
            <a:off x="8631936" y="3246120"/>
            <a:ext cx="1133856" cy="36576"/>
          </a:xfrm>
          <a:prstGeom prst="rect">
            <a:avLst/>
          </a:prstGeom>
          <a:solidFill>
            <a:srgbClr val="002FA7"/>
          </a:solidFill>
          <a:ln w="508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31936" y="35204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[阶段3]</a:t>
            </a:r>
            <a:endParaRPr lang="zh-CN" sz="1400" dirty="0"/>
          </a:p>
        </p:txBody>
      </p:sp>
      <p:sp>
        <p:nvSpPr>
          <p:cNvPr id="30" name="Shape 28"/>
          <p:cNvSpPr/>
          <p:nvPr/>
        </p:nvSpPr>
        <p:spPr>
          <a:xfrm>
            <a:off x="9912096" y="3246120"/>
            <a:ext cx="1133856" cy="36576"/>
          </a:xfrm>
          <a:prstGeom prst="rect">
            <a:avLst/>
          </a:prstGeom>
          <a:solidFill>
            <a:srgbClr val="0A0A0A"/>
          </a:solidFill>
          <a:ln w="508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12096" y="35204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[阶段4]</a:t>
            </a:r>
            <a:endParaRPr lang="zh-CN" sz="1400" dirty="0"/>
          </a:p>
        </p:txBody>
      </p:sp>
      <p:sp>
        <p:nvSpPr>
          <p:cNvPr id="32" name="Text 30"/>
          <p:cNvSpPr/>
          <p:nvPr/>
        </p:nvSpPr>
        <p:spPr>
          <a:xfrm>
            <a:off x="6071616" y="5074920"/>
            <a:ext cx="5074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[这一案例最值得复用的方法]</a:t>
            </a:r>
            <a:endParaRPr lang="zh-CN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10 · 案例证据模板</a:t>
            </a:r>
            <a:endParaRPr lang="zh-CN" sz="900" dirty="0"/>
          </a:p>
        </p:txBody>
      </p:sp>
      <p:sp>
        <p:nvSpPr>
          <p:cNvPr id="3" name="Text 1"/>
          <p:cNvSpPr/>
          <p:nvPr/>
        </p:nvSpPr>
        <p:spPr>
          <a:xfrm>
            <a:off x="10692079" y="347472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11 / 16</a:t>
            </a:r>
            <a:endParaRPr lang="zh-CN" sz="900" dirty="0"/>
          </a:p>
        </p:txBody>
      </p:sp>
      <p:sp>
        <p:nvSpPr>
          <p:cNvPr id="4" name="Text 2"/>
          <p:cNvSpPr/>
          <p:nvPr/>
        </p:nvSpPr>
        <p:spPr>
          <a:xfrm>
            <a:off x="603504" y="86868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[选择最能证明案例结论的两张图]</a:t>
            </a:r>
            <a:endParaRPr lang="zh-CN" sz="900" dirty="0"/>
          </a:p>
        </p:txBody>
      </p:sp>
      <p:sp>
        <p:nvSpPr>
          <p:cNvPr id="5" name="Text 3"/>
          <p:cNvSpPr/>
          <p:nvPr/>
        </p:nvSpPr>
        <p:spPr>
          <a:xfrm>
            <a:off x="603504" y="1143000"/>
            <a:ext cx="10991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5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[让证据自己说话]</a:t>
            </a:r>
            <a:endParaRPr lang="zh-CN" sz="3500" dirty="0"/>
          </a:p>
        </p:txBody>
      </p:sp>
      <p:sp>
        <p:nvSpPr>
          <p:cNvPr id="6" name="Shape 4"/>
          <p:cNvSpPr/>
          <p:nvPr/>
        </p:nvSpPr>
        <p:spPr>
          <a:xfrm>
            <a:off x="603504" y="2167128"/>
            <a:ext cx="5266944" cy="3291840"/>
          </a:xfrm>
          <a:prstGeom prst="rect">
            <a:avLst/>
          </a:prstGeom>
          <a:solidFill>
            <a:srgbClr val="F0F0EE"/>
          </a:solidFill>
          <a:ln w="12700">
            <a:solidFill>
              <a:srgbClr val="D4D4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2331720"/>
            <a:ext cx="4901184" cy="2962656"/>
          </a:xfrm>
          <a:prstGeom prst="line">
            <a:avLst/>
          </a:prstGeom>
          <a:noFill/>
          <a:ln w="6985">
            <a:solidFill>
              <a:srgbClr val="D4D4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5294376"/>
            <a:ext cx="4901184" cy="-2962656"/>
          </a:xfrm>
          <a:prstGeom prst="line">
            <a:avLst/>
          </a:prstGeom>
          <a:noFill/>
          <a:ln w="6985">
            <a:solidFill>
              <a:srgbClr val="D4D4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46215" y="3352190"/>
            <a:ext cx="3581522" cy="954634"/>
          </a:xfrm>
          <a:prstGeom prst="rect">
            <a:avLst/>
          </a:prstGeom>
          <a:solidFill>
            <a:srgbClr val="F0F0EE"/>
          </a:solidFill>
          <a:ln w="508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98884" y="3418027"/>
            <a:ext cx="347618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3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16:10 截图槽位 A</a:t>
            </a:r>
            <a:endParaRPr lang="zh-CN" sz="1300" dirty="0"/>
          </a:p>
        </p:txBody>
      </p:sp>
      <p:sp>
        <p:nvSpPr>
          <p:cNvPr id="11" name="Text 9"/>
          <p:cNvSpPr/>
          <p:nvPr/>
        </p:nvSpPr>
        <p:spPr>
          <a:xfrm>
            <a:off x="1498884" y="3878885"/>
            <a:ext cx="34761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0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[替换为原始页面或现场截图]</a:t>
            </a:r>
            <a:endParaRPr lang="zh-CN" sz="1000" dirty="0"/>
          </a:p>
        </p:txBody>
      </p:sp>
      <p:sp>
        <p:nvSpPr>
          <p:cNvPr id="12" name="Shape 10"/>
          <p:cNvSpPr/>
          <p:nvPr/>
        </p:nvSpPr>
        <p:spPr>
          <a:xfrm>
            <a:off x="6318504" y="2167128"/>
            <a:ext cx="5266944" cy="3291840"/>
          </a:xfrm>
          <a:prstGeom prst="rect">
            <a:avLst/>
          </a:prstGeom>
          <a:solidFill>
            <a:srgbClr val="F0F0EE"/>
          </a:solidFill>
          <a:ln w="12700">
            <a:solidFill>
              <a:srgbClr val="D4D4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01384" y="2331720"/>
            <a:ext cx="4901184" cy="2962656"/>
          </a:xfrm>
          <a:prstGeom prst="line">
            <a:avLst/>
          </a:prstGeom>
          <a:noFill/>
          <a:ln w="6985">
            <a:solidFill>
              <a:srgbClr val="D4D4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01384" y="5294376"/>
            <a:ext cx="4901184" cy="-2962656"/>
          </a:xfrm>
          <a:prstGeom prst="line">
            <a:avLst/>
          </a:prstGeom>
          <a:noFill/>
          <a:ln w="6985">
            <a:solidFill>
              <a:srgbClr val="D4D4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61215" y="3352190"/>
            <a:ext cx="3581522" cy="954634"/>
          </a:xfrm>
          <a:prstGeom prst="rect">
            <a:avLst/>
          </a:prstGeom>
          <a:solidFill>
            <a:srgbClr val="F0F0EE"/>
          </a:solidFill>
          <a:ln w="508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13884" y="3418027"/>
            <a:ext cx="347618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3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16:10 截图槽位 B</a:t>
            </a:r>
            <a:endParaRPr lang="zh-CN" sz="1300" dirty="0"/>
          </a:p>
        </p:txBody>
      </p:sp>
      <p:sp>
        <p:nvSpPr>
          <p:cNvPr id="17" name="Text 15"/>
          <p:cNvSpPr/>
          <p:nvPr/>
        </p:nvSpPr>
        <p:spPr>
          <a:xfrm>
            <a:off x="7213884" y="3878885"/>
            <a:ext cx="34761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0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[替换为原始页面或现场截图]</a:t>
            </a:r>
            <a:endParaRPr lang="zh-CN" sz="1000" dirty="0"/>
          </a:p>
        </p:txBody>
      </p:sp>
      <p:sp>
        <p:nvSpPr>
          <p:cNvPr id="18" name="Shape 16"/>
          <p:cNvSpPr/>
          <p:nvPr/>
        </p:nvSpPr>
        <p:spPr>
          <a:xfrm>
            <a:off x="603504" y="5614416"/>
            <a:ext cx="5266944" cy="0"/>
          </a:xfrm>
          <a:prstGeom prst="line">
            <a:avLst/>
          </a:prstGeom>
          <a:noFill/>
          <a:ln w="15240">
            <a:solidFill>
              <a:srgbClr val="0A0A0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18504" y="5614416"/>
            <a:ext cx="5266944" cy="0"/>
          </a:xfrm>
          <a:prstGeom prst="line">
            <a:avLst/>
          </a:prstGeom>
          <a:noFill/>
          <a:ln w="15240">
            <a:solidFill>
              <a:srgbClr val="002F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" y="5733288"/>
            <a:ext cx="5266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[证据标题 A]</a:t>
            </a:r>
            <a:endParaRPr lang="zh-CN" sz="1800" dirty="0"/>
          </a:p>
        </p:txBody>
      </p:sp>
      <p:sp>
        <p:nvSpPr>
          <p:cNvPr id="21" name="Text 19"/>
          <p:cNvSpPr/>
          <p:nvPr/>
        </p:nvSpPr>
        <p:spPr>
          <a:xfrm>
            <a:off x="6318504" y="5733288"/>
            <a:ext cx="5266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[证据标题 B]</a:t>
            </a:r>
            <a:endParaRPr lang="zh-CN" sz="1800" dirty="0"/>
          </a:p>
        </p:txBody>
      </p:sp>
      <p:sp>
        <p:nvSpPr>
          <p:cNvPr id="22" name="Text 20"/>
          <p:cNvSpPr/>
          <p:nvPr/>
        </p:nvSpPr>
        <p:spPr>
          <a:xfrm>
            <a:off x="603504" y="6172200"/>
            <a:ext cx="5266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[截图证明了什么]</a:t>
            </a:r>
            <a:endParaRPr lang="zh-CN" sz="900" dirty="0"/>
          </a:p>
        </p:txBody>
      </p:sp>
      <p:sp>
        <p:nvSpPr>
          <p:cNvPr id="23" name="Text 21"/>
          <p:cNvSpPr/>
          <p:nvPr/>
        </p:nvSpPr>
        <p:spPr>
          <a:xfrm>
            <a:off x="6318504" y="6172200"/>
            <a:ext cx="5266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[截图证明了什么]</a:t>
            </a:r>
            <a:endParaRPr lang="zh-CN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B8B8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11 · 案例成效模板</a:t>
            </a:r>
            <a:endParaRPr lang="zh-CN" sz="900" dirty="0"/>
          </a:p>
        </p:txBody>
      </p:sp>
      <p:sp>
        <p:nvSpPr>
          <p:cNvPr id="3" name="Text 1"/>
          <p:cNvSpPr/>
          <p:nvPr/>
        </p:nvSpPr>
        <p:spPr>
          <a:xfrm>
            <a:off x="10692079" y="347472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900" b="1" spc="100" kern="0" dirty="0">
                <a:solidFill>
                  <a:srgbClr val="B8B8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12 / 16</a:t>
            </a:r>
            <a:endParaRPr lang="zh-CN" sz="900" dirty="0"/>
          </a:p>
        </p:txBody>
      </p:sp>
      <p:sp>
        <p:nvSpPr>
          <p:cNvPr id="4" name="Text 2"/>
          <p:cNvSpPr/>
          <p:nvPr/>
        </p:nvSpPr>
        <p:spPr>
          <a:xfrm>
            <a:off x="603504" y="86868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B8B8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[统计口径 / 时间 / 数据来源]</a:t>
            </a:r>
            <a:endParaRPr lang="zh-CN" sz="900" dirty="0"/>
          </a:p>
        </p:txBody>
      </p:sp>
      <p:sp>
        <p:nvSpPr>
          <p:cNvPr id="5" name="Text 3"/>
          <p:cNvSpPr/>
          <p:nvPr/>
        </p:nvSpPr>
        <p:spPr>
          <a:xfrm>
            <a:off x="603504" y="1143000"/>
            <a:ext cx="10991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5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[用可信数据说明案例成效]</a:t>
            </a:r>
            <a:endParaRPr lang="zh-CN" sz="3500" dirty="0"/>
          </a:p>
        </p:txBody>
      </p:sp>
      <p:sp>
        <p:nvSpPr>
          <p:cNvPr id="6" name="Shape 4"/>
          <p:cNvSpPr/>
          <p:nvPr/>
        </p:nvSpPr>
        <p:spPr>
          <a:xfrm>
            <a:off x="603504" y="2258568"/>
            <a:ext cx="3465576" cy="0"/>
          </a:xfrm>
          <a:prstGeom prst="line">
            <a:avLst/>
          </a:prstGeom>
          <a:noFill/>
          <a:ln w="16510">
            <a:solidFill>
              <a:srgbClr val="002F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2496312"/>
            <a:ext cx="3364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A3A3A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指标 A</a:t>
            </a:r>
            <a:endParaRPr lang="zh-CN" sz="900" dirty="0"/>
          </a:p>
        </p:txBody>
      </p:sp>
      <p:sp>
        <p:nvSpPr>
          <p:cNvPr id="8" name="Text 6"/>
          <p:cNvSpPr/>
          <p:nvPr/>
        </p:nvSpPr>
        <p:spPr>
          <a:xfrm>
            <a:off x="603504" y="310896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64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[XX]</a:t>
            </a:r>
            <a:endParaRPr lang="zh-CN" sz="6400" dirty="0"/>
          </a:p>
        </p:txBody>
      </p:sp>
      <p:sp>
        <p:nvSpPr>
          <p:cNvPr id="9" name="Text 7"/>
          <p:cNvSpPr/>
          <p:nvPr/>
        </p:nvSpPr>
        <p:spPr>
          <a:xfrm>
            <a:off x="603504" y="4572000"/>
            <a:ext cx="3401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C9C9C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[指标定义 / 单位]</a:t>
            </a:r>
            <a:endParaRPr lang="zh-CN" sz="1500" dirty="0"/>
          </a:p>
        </p:txBody>
      </p:sp>
      <p:sp>
        <p:nvSpPr>
          <p:cNvPr id="10" name="Shape 8"/>
          <p:cNvSpPr/>
          <p:nvPr/>
        </p:nvSpPr>
        <p:spPr>
          <a:xfrm>
            <a:off x="4334256" y="2258568"/>
            <a:ext cx="3465576" cy="0"/>
          </a:xfrm>
          <a:prstGeom prst="line">
            <a:avLst/>
          </a:prstGeom>
          <a:noFill/>
          <a:ln w="16510">
            <a:solidFill>
              <a:srgbClr val="002F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34256" y="2496312"/>
            <a:ext cx="3364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A3A3A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指标 B</a:t>
            </a:r>
            <a:endParaRPr lang="zh-CN" sz="900" dirty="0"/>
          </a:p>
        </p:txBody>
      </p:sp>
      <p:sp>
        <p:nvSpPr>
          <p:cNvPr id="12" name="Text 10"/>
          <p:cNvSpPr/>
          <p:nvPr/>
        </p:nvSpPr>
        <p:spPr>
          <a:xfrm>
            <a:off x="4334256" y="310896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64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[XX]</a:t>
            </a:r>
            <a:endParaRPr lang="zh-CN" sz="6400" dirty="0"/>
          </a:p>
        </p:txBody>
      </p:sp>
      <p:sp>
        <p:nvSpPr>
          <p:cNvPr id="13" name="Text 11"/>
          <p:cNvSpPr/>
          <p:nvPr/>
        </p:nvSpPr>
        <p:spPr>
          <a:xfrm>
            <a:off x="4334256" y="4572000"/>
            <a:ext cx="3401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C9C9C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[指标定义 / 单位]</a:t>
            </a:r>
            <a:endParaRPr lang="zh-CN" sz="1500" dirty="0"/>
          </a:p>
        </p:txBody>
      </p:sp>
      <p:sp>
        <p:nvSpPr>
          <p:cNvPr id="14" name="Shape 12"/>
          <p:cNvSpPr/>
          <p:nvPr/>
        </p:nvSpPr>
        <p:spPr>
          <a:xfrm>
            <a:off x="8065008" y="2258568"/>
            <a:ext cx="3465576" cy="0"/>
          </a:xfrm>
          <a:prstGeom prst="line">
            <a:avLst/>
          </a:prstGeom>
          <a:noFill/>
          <a:ln w="16510">
            <a:solidFill>
              <a:srgbClr val="002F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65008" y="2496312"/>
            <a:ext cx="3364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A3A3A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指标 C</a:t>
            </a:r>
            <a:endParaRPr lang="zh-CN" sz="900" dirty="0"/>
          </a:p>
        </p:txBody>
      </p:sp>
      <p:sp>
        <p:nvSpPr>
          <p:cNvPr id="16" name="Text 14"/>
          <p:cNvSpPr/>
          <p:nvPr/>
        </p:nvSpPr>
        <p:spPr>
          <a:xfrm>
            <a:off x="8065008" y="310896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64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[XX]</a:t>
            </a:r>
            <a:endParaRPr lang="zh-CN" sz="6400" dirty="0"/>
          </a:p>
        </p:txBody>
      </p:sp>
      <p:sp>
        <p:nvSpPr>
          <p:cNvPr id="17" name="Text 15"/>
          <p:cNvSpPr/>
          <p:nvPr/>
        </p:nvSpPr>
        <p:spPr>
          <a:xfrm>
            <a:off x="8065008" y="4572000"/>
            <a:ext cx="3401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C9C9C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[指标定义 / 单位]</a:t>
            </a:r>
            <a:endParaRPr lang="zh-CN" sz="1500" dirty="0"/>
          </a:p>
        </p:txBody>
      </p:sp>
      <p:sp>
        <p:nvSpPr>
          <p:cNvPr id="18" name="Shape 16"/>
          <p:cNvSpPr/>
          <p:nvPr/>
        </p:nvSpPr>
        <p:spPr>
          <a:xfrm>
            <a:off x="603504" y="5650992"/>
            <a:ext cx="10972800" cy="0"/>
          </a:xfrm>
          <a:prstGeom prst="line">
            <a:avLst/>
          </a:prstGeom>
          <a:noFill/>
          <a:ln w="7620">
            <a:solidFill>
              <a:srgbClr val="5555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" y="589788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B8B8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[如无可核验数字，可改为三项定性成果]</a:t>
            </a:r>
            <a:endParaRPr lang="zh-CN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12 · 未来规划总览模板</a:t>
            </a:r>
            <a:endParaRPr lang="zh-CN" sz="900" dirty="0"/>
          </a:p>
        </p:txBody>
      </p:sp>
      <p:sp>
        <p:nvSpPr>
          <p:cNvPr id="3" name="Text 1"/>
          <p:cNvSpPr/>
          <p:nvPr/>
        </p:nvSpPr>
        <p:spPr>
          <a:xfrm>
            <a:off x="10692079" y="347472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13 / 16</a:t>
            </a:r>
            <a:endParaRPr lang="zh-CN" sz="900" dirty="0"/>
          </a:p>
        </p:txBody>
      </p:sp>
      <p:sp>
        <p:nvSpPr>
          <p:cNvPr id="4" name="Text 2"/>
          <p:cNvSpPr/>
          <p:nvPr/>
        </p:nvSpPr>
        <p:spPr>
          <a:xfrm>
            <a:off x="603504" y="86868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[规划起点 / 适用范围 / 版本]</a:t>
            </a:r>
            <a:endParaRPr lang="zh-CN" sz="900" dirty="0"/>
          </a:p>
        </p:txBody>
      </p:sp>
      <p:sp>
        <p:nvSpPr>
          <p:cNvPr id="5" name="Text 3"/>
          <p:cNvSpPr/>
          <p:nvPr/>
        </p:nvSpPr>
        <p:spPr>
          <a:xfrm>
            <a:off x="603504" y="1143000"/>
            <a:ext cx="10991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5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[未来三个阶段要达成什么]</a:t>
            </a:r>
            <a:endParaRPr lang="zh-CN" sz="3500" dirty="0"/>
          </a:p>
        </p:txBody>
      </p:sp>
      <p:sp>
        <p:nvSpPr>
          <p:cNvPr id="6" name="Shape 4"/>
          <p:cNvSpPr/>
          <p:nvPr/>
        </p:nvSpPr>
        <p:spPr>
          <a:xfrm>
            <a:off x="603504" y="2194560"/>
            <a:ext cx="3557016" cy="3785616"/>
          </a:xfrm>
          <a:prstGeom prst="rect">
            <a:avLst/>
          </a:prstGeom>
          <a:solidFill>
            <a:srgbClr val="F0F0EE"/>
          </a:solidFill>
          <a:ln w="508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" y="2194560"/>
            <a:ext cx="3557016" cy="45720"/>
          </a:xfrm>
          <a:prstGeom prst="rect">
            <a:avLst/>
          </a:prstGeom>
          <a:solidFill>
            <a:srgbClr val="0A0A0A"/>
          </a:solidFill>
          <a:ln w="508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48716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NEAR / 近期</a:t>
            </a:r>
            <a:endParaRPr lang="zh-CN" sz="900" dirty="0"/>
          </a:p>
        </p:txBody>
      </p:sp>
      <p:sp>
        <p:nvSpPr>
          <p:cNvPr id="9" name="Text 7"/>
          <p:cNvSpPr/>
          <p:nvPr/>
        </p:nvSpPr>
        <p:spPr>
          <a:xfrm>
            <a:off x="859536" y="2880360"/>
            <a:ext cx="30723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5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[阶段目标1]</a:t>
            </a:r>
            <a:endParaRPr lang="zh-CN" sz="2500" dirty="0"/>
          </a:p>
        </p:txBody>
      </p:sp>
      <p:sp>
        <p:nvSpPr>
          <p:cNvPr id="10" name="Shape 8"/>
          <p:cNvSpPr/>
          <p:nvPr/>
        </p:nvSpPr>
        <p:spPr>
          <a:xfrm>
            <a:off x="859536" y="3739896"/>
            <a:ext cx="3035808" cy="0"/>
          </a:xfrm>
          <a:prstGeom prst="line">
            <a:avLst/>
          </a:prstGeom>
          <a:noFill/>
          <a:ln w="7620">
            <a:solidFill>
              <a:srgbClr val="D4D4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3986784"/>
            <a:ext cx="29992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[关键能力]</a:t>
            </a:r>
            <a:endParaRPr lang="zh-CN" sz="1500" dirty="0"/>
          </a:p>
          <a:p>
            <a:pPr algn="l" indent="0" marL="0">
              <a:buNone/>
            </a:pPr>
            <a:endParaRPr lang="zh-CN" sz="1500" dirty="0"/>
          </a:p>
          <a:p>
            <a:pPr algn="l" indent="0" marL="0">
              <a:buNone/>
            </a:pPr>
            <a:r>
              <a:rPr lang="zh-CN" altLang="en-US" sz="15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[主要交付]</a:t>
            </a:r>
            <a:endParaRPr lang="zh-CN" sz="1500" dirty="0"/>
          </a:p>
          <a:p>
            <a:pPr algn="l" indent="0" marL="0">
              <a:buNone/>
            </a:pPr>
            <a:endParaRPr lang="zh-CN" sz="1500" dirty="0"/>
          </a:p>
          <a:p>
            <a:pPr algn="l" indent="0" marL="0">
              <a:buNone/>
            </a:pPr>
            <a:r>
              <a:rPr lang="zh-CN" altLang="en-US" sz="15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[前置依赖]</a:t>
            </a:r>
            <a:endParaRPr lang="zh-CN" sz="1500" dirty="0"/>
          </a:p>
        </p:txBody>
      </p:sp>
      <p:sp>
        <p:nvSpPr>
          <p:cNvPr id="12" name="Shape 10"/>
          <p:cNvSpPr/>
          <p:nvPr/>
        </p:nvSpPr>
        <p:spPr>
          <a:xfrm>
            <a:off x="4325112" y="2194560"/>
            <a:ext cx="3557016" cy="3785616"/>
          </a:xfrm>
          <a:prstGeom prst="rect">
            <a:avLst/>
          </a:prstGeom>
          <a:solidFill>
            <a:srgbClr val="002FA7"/>
          </a:solidFill>
          <a:ln w="508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81144" y="248716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DCE4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NEXT / 中期</a:t>
            </a:r>
            <a:endParaRPr lang="zh-CN" sz="900" dirty="0"/>
          </a:p>
        </p:txBody>
      </p:sp>
      <p:sp>
        <p:nvSpPr>
          <p:cNvPr id="14" name="Text 12"/>
          <p:cNvSpPr/>
          <p:nvPr/>
        </p:nvSpPr>
        <p:spPr>
          <a:xfrm>
            <a:off x="4581144" y="2880360"/>
            <a:ext cx="30723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5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[阶段目标2]</a:t>
            </a:r>
            <a:endParaRPr lang="zh-CN" sz="2500" dirty="0"/>
          </a:p>
        </p:txBody>
      </p:sp>
      <p:sp>
        <p:nvSpPr>
          <p:cNvPr id="15" name="Shape 13"/>
          <p:cNvSpPr/>
          <p:nvPr/>
        </p:nvSpPr>
        <p:spPr>
          <a:xfrm>
            <a:off x="4581144" y="3739896"/>
            <a:ext cx="3035808" cy="0"/>
          </a:xfrm>
          <a:prstGeom prst="line">
            <a:avLst/>
          </a:prstGeom>
          <a:noFill/>
          <a:ln w="7620">
            <a:solidFill>
              <a:srgbClr val="DCE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81144" y="3986784"/>
            <a:ext cx="29992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[关键能力]</a:t>
            </a:r>
            <a:endParaRPr lang="zh-CN" sz="1500" dirty="0"/>
          </a:p>
          <a:p>
            <a:pPr algn="l" indent="0" marL="0">
              <a:buNone/>
            </a:pPr>
            <a:endParaRPr lang="zh-CN" sz="1500" dirty="0"/>
          </a:p>
          <a:p>
            <a:pPr algn="l" indent="0" marL="0">
              <a:buNone/>
            </a:pPr>
            <a:r>
              <a:rPr lang="zh-CN" altLang="en-US" sz="15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[主要交付]</a:t>
            </a:r>
            <a:endParaRPr lang="zh-CN" sz="1500" dirty="0"/>
          </a:p>
          <a:p>
            <a:pPr algn="l" indent="0" marL="0">
              <a:buNone/>
            </a:pPr>
            <a:endParaRPr lang="zh-CN" sz="1500" dirty="0"/>
          </a:p>
          <a:p>
            <a:pPr algn="l" indent="0" marL="0">
              <a:buNone/>
            </a:pPr>
            <a:r>
              <a:rPr lang="zh-CN" altLang="en-US" sz="15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[前置依赖]</a:t>
            </a:r>
            <a:endParaRPr lang="zh-CN" sz="1500" dirty="0"/>
          </a:p>
        </p:txBody>
      </p:sp>
      <p:sp>
        <p:nvSpPr>
          <p:cNvPr id="17" name="Shape 15"/>
          <p:cNvSpPr/>
          <p:nvPr/>
        </p:nvSpPr>
        <p:spPr>
          <a:xfrm>
            <a:off x="8046720" y="2194560"/>
            <a:ext cx="3557016" cy="3785616"/>
          </a:xfrm>
          <a:prstGeom prst="rect">
            <a:avLst/>
          </a:prstGeom>
          <a:solidFill>
            <a:srgbClr val="F0F0EE"/>
          </a:solidFill>
          <a:ln w="508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2194560"/>
            <a:ext cx="3557016" cy="45720"/>
          </a:xfrm>
          <a:prstGeom prst="rect">
            <a:avLst/>
          </a:prstGeom>
          <a:solidFill>
            <a:srgbClr val="0A0A0A"/>
          </a:solidFill>
          <a:ln w="508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02752" y="248716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LATER / 远期</a:t>
            </a:r>
            <a:endParaRPr lang="zh-CN" sz="900" dirty="0"/>
          </a:p>
        </p:txBody>
      </p:sp>
      <p:sp>
        <p:nvSpPr>
          <p:cNvPr id="20" name="Text 18"/>
          <p:cNvSpPr/>
          <p:nvPr/>
        </p:nvSpPr>
        <p:spPr>
          <a:xfrm>
            <a:off x="8302752" y="2880360"/>
            <a:ext cx="30723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5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[阶段目标3]</a:t>
            </a:r>
            <a:endParaRPr lang="zh-CN" sz="2500" dirty="0"/>
          </a:p>
        </p:txBody>
      </p:sp>
      <p:sp>
        <p:nvSpPr>
          <p:cNvPr id="21" name="Shape 19"/>
          <p:cNvSpPr/>
          <p:nvPr/>
        </p:nvSpPr>
        <p:spPr>
          <a:xfrm>
            <a:off x="8302752" y="3739896"/>
            <a:ext cx="3035808" cy="0"/>
          </a:xfrm>
          <a:prstGeom prst="line">
            <a:avLst/>
          </a:prstGeom>
          <a:noFill/>
          <a:ln w="7620">
            <a:solidFill>
              <a:srgbClr val="D4D4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02752" y="3986784"/>
            <a:ext cx="29992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[关键能力]</a:t>
            </a:r>
            <a:endParaRPr lang="zh-CN" sz="1500" dirty="0"/>
          </a:p>
          <a:p>
            <a:pPr algn="l" indent="0" marL="0">
              <a:buNone/>
            </a:pPr>
            <a:endParaRPr lang="zh-CN" sz="1500" dirty="0"/>
          </a:p>
          <a:p>
            <a:pPr algn="l" indent="0" marL="0">
              <a:buNone/>
            </a:pPr>
            <a:r>
              <a:rPr lang="zh-CN" altLang="en-US" sz="15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[主要交付]</a:t>
            </a:r>
            <a:endParaRPr lang="zh-CN" sz="1500" dirty="0"/>
          </a:p>
          <a:p>
            <a:pPr algn="l" indent="0" marL="0">
              <a:buNone/>
            </a:pPr>
            <a:endParaRPr lang="zh-CN" sz="1500" dirty="0"/>
          </a:p>
          <a:p>
            <a:pPr algn="l" indent="0" marL="0">
              <a:buNone/>
            </a:pPr>
            <a:r>
              <a:rPr lang="zh-CN" altLang="en-US" sz="15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[前置依赖]</a:t>
            </a:r>
            <a:endParaRPr lang="zh-CN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0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13 · 未来能力矩阵模板</a:t>
            </a:r>
            <a:endParaRPr lang="zh-CN" sz="900" dirty="0"/>
          </a:p>
        </p:txBody>
      </p:sp>
      <p:sp>
        <p:nvSpPr>
          <p:cNvPr id="3" name="Text 1"/>
          <p:cNvSpPr/>
          <p:nvPr/>
        </p:nvSpPr>
        <p:spPr>
          <a:xfrm>
            <a:off x="10692079" y="347472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14 / 16</a:t>
            </a:r>
            <a:endParaRPr lang="zh-CN" sz="900" dirty="0"/>
          </a:p>
        </p:txBody>
      </p:sp>
      <p:sp>
        <p:nvSpPr>
          <p:cNvPr id="4" name="Text 2"/>
          <p:cNvSpPr/>
          <p:nvPr/>
        </p:nvSpPr>
        <p:spPr>
          <a:xfrm>
            <a:off x="603504" y="86868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[将规划拆成可讨论的能力主题]</a:t>
            </a:r>
            <a:endParaRPr lang="zh-CN" sz="900" dirty="0"/>
          </a:p>
        </p:txBody>
      </p:sp>
      <p:sp>
        <p:nvSpPr>
          <p:cNvPr id="5" name="Text 3"/>
          <p:cNvSpPr/>
          <p:nvPr/>
        </p:nvSpPr>
        <p:spPr>
          <a:xfrm>
            <a:off x="603504" y="1143000"/>
            <a:ext cx="10991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5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[六项能力如何组成下一阶段]</a:t>
            </a:r>
            <a:endParaRPr lang="zh-CN" sz="3500" dirty="0"/>
          </a:p>
        </p:txBody>
      </p:sp>
      <p:sp>
        <p:nvSpPr>
          <p:cNvPr id="6" name="Shape 4"/>
          <p:cNvSpPr/>
          <p:nvPr/>
        </p:nvSpPr>
        <p:spPr>
          <a:xfrm>
            <a:off x="603504" y="2130552"/>
            <a:ext cx="3557016" cy="1719072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" y="2130552"/>
            <a:ext cx="3557016" cy="36576"/>
          </a:xfrm>
          <a:prstGeom prst="rect">
            <a:avLst/>
          </a:prstGeom>
          <a:solidFill>
            <a:srgbClr val="0A0A0A"/>
          </a:solidFill>
          <a:ln w="508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3134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 / [主题]</a:t>
            </a:r>
            <a:endParaRPr lang="zh-CN" sz="900" dirty="0"/>
          </a:p>
        </p:txBody>
      </p:sp>
      <p:sp>
        <p:nvSpPr>
          <p:cNvPr id="9" name="Text 7"/>
          <p:cNvSpPr/>
          <p:nvPr/>
        </p:nvSpPr>
        <p:spPr>
          <a:xfrm>
            <a:off x="804672" y="2715768"/>
            <a:ext cx="3063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[规划能力1]</a:t>
            </a:r>
            <a:endParaRPr lang="zh-CN" sz="2000" dirty="0"/>
          </a:p>
        </p:txBody>
      </p:sp>
      <p:sp>
        <p:nvSpPr>
          <p:cNvPr id="10" name="Text 8"/>
          <p:cNvSpPr/>
          <p:nvPr/>
        </p:nvSpPr>
        <p:spPr>
          <a:xfrm>
            <a:off x="804672" y="3291840"/>
            <a:ext cx="3063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5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[用户价值]</a:t>
            </a:r>
            <a:endParaRPr lang="zh-CN" sz="1250" dirty="0"/>
          </a:p>
        </p:txBody>
      </p:sp>
      <p:sp>
        <p:nvSpPr>
          <p:cNvPr id="11" name="Shape 9"/>
          <p:cNvSpPr/>
          <p:nvPr/>
        </p:nvSpPr>
        <p:spPr>
          <a:xfrm>
            <a:off x="4325112" y="2130552"/>
            <a:ext cx="3557016" cy="1719072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2130552"/>
            <a:ext cx="3557016" cy="36576"/>
          </a:xfrm>
          <a:prstGeom prst="rect">
            <a:avLst/>
          </a:prstGeom>
          <a:solidFill>
            <a:srgbClr val="0A0A0A"/>
          </a:solidFill>
          <a:ln w="508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23134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 / [主题]</a:t>
            </a:r>
            <a:endParaRPr lang="zh-CN" sz="900" dirty="0"/>
          </a:p>
        </p:txBody>
      </p:sp>
      <p:sp>
        <p:nvSpPr>
          <p:cNvPr id="14" name="Text 12"/>
          <p:cNvSpPr/>
          <p:nvPr/>
        </p:nvSpPr>
        <p:spPr>
          <a:xfrm>
            <a:off x="4526280" y="2715768"/>
            <a:ext cx="3063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[规划能力2]</a:t>
            </a:r>
            <a:endParaRPr lang="zh-CN" sz="2000" dirty="0"/>
          </a:p>
        </p:txBody>
      </p:sp>
      <p:sp>
        <p:nvSpPr>
          <p:cNvPr id="15" name="Text 13"/>
          <p:cNvSpPr/>
          <p:nvPr/>
        </p:nvSpPr>
        <p:spPr>
          <a:xfrm>
            <a:off x="4526280" y="3291840"/>
            <a:ext cx="3063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5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[用户价值]</a:t>
            </a:r>
            <a:endParaRPr lang="zh-CN" sz="1250" dirty="0"/>
          </a:p>
        </p:txBody>
      </p:sp>
      <p:sp>
        <p:nvSpPr>
          <p:cNvPr id="16" name="Shape 14"/>
          <p:cNvSpPr/>
          <p:nvPr/>
        </p:nvSpPr>
        <p:spPr>
          <a:xfrm>
            <a:off x="8046720" y="2130552"/>
            <a:ext cx="3557016" cy="1719072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2130552"/>
            <a:ext cx="3557016" cy="36576"/>
          </a:xfrm>
          <a:prstGeom prst="rect">
            <a:avLst/>
          </a:prstGeom>
          <a:solidFill>
            <a:srgbClr val="0A0A0A"/>
          </a:solidFill>
          <a:ln w="508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47888" y="23134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 / [主题]</a:t>
            </a:r>
            <a:endParaRPr lang="zh-CN" sz="900" dirty="0"/>
          </a:p>
        </p:txBody>
      </p:sp>
      <p:sp>
        <p:nvSpPr>
          <p:cNvPr id="19" name="Text 17"/>
          <p:cNvSpPr/>
          <p:nvPr/>
        </p:nvSpPr>
        <p:spPr>
          <a:xfrm>
            <a:off x="8247888" y="2715768"/>
            <a:ext cx="3063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[规划能力3]</a:t>
            </a:r>
            <a:endParaRPr lang="zh-CN" sz="2000" dirty="0"/>
          </a:p>
        </p:txBody>
      </p:sp>
      <p:sp>
        <p:nvSpPr>
          <p:cNvPr id="20" name="Text 18"/>
          <p:cNvSpPr/>
          <p:nvPr/>
        </p:nvSpPr>
        <p:spPr>
          <a:xfrm>
            <a:off x="8247888" y="3291840"/>
            <a:ext cx="3063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5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[用户价值]</a:t>
            </a:r>
            <a:endParaRPr lang="zh-CN" sz="1250" dirty="0"/>
          </a:p>
        </p:txBody>
      </p:sp>
      <p:sp>
        <p:nvSpPr>
          <p:cNvPr id="21" name="Shape 19"/>
          <p:cNvSpPr/>
          <p:nvPr/>
        </p:nvSpPr>
        <p:spPr>
          <a:xfrm>
            <a:off x="603504" y="4014216"/>
            <a:ext cx="3557016" cy="1719072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" y="4014216"/>
            <a:ext cx="3557016" cy="36576"/>
          </a:xfrm>
          <a:prstGeom prst="rect">
            <a:avLst/>
          </a:prstGeom>
          <a:solidFill>
            <a:srgbClr val="0A0A0A"/>
          </a:solidFill>
          <a:ln w="508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419709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04 / [主题]</a:t>
            </a:r>
            <a:endParaRPr lang="zh-CN" sz="900" dirty="0"/>
          </a:p>
        </p:txBody>
      </p:sp>
      <p:sp>
        <p:nvSpPr>
          <p:cNvPr id="24" name="Text 22"/>
          <p:cNvSpPr/>
          <p:nvPr/>
        </p:nvSpPr>
        <p:spPr>
          <a:xfrm>
            <a:off x="804672" y="4599432"/>
            <a:ext cx="3063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[规划能力4]</a:t>
            </a:r>
            <a:endParaRPr lang="zh-CN" sz="2000" dirty="0"/>
          </a:p>
        </p:txBody>
      </p:sp>
      <p:sp>
        <p:nvSpPr>
          <p:cNvPr id="25" name="Text 23"/>
          <p:cNvSpPr/>
          <p:nvPr/>
        </p:nvSpPr>
        <p:spPr>
          <a:xfrm>
            <a:off x="804672" y="5175504"/>
            <a:ext cx="3063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5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[用户价值]</a:t>
            </a:r>
            <a:endParaRPr lang="zh-CN" sz="1250" dirty="0"/>
          </a:p>
        </p:txBody>
      </p:sp>
      <p:sp>
        <p:nvSpPr>
          <p:cNvPr id="26" name="Shape 24"/>
          <p:cNvSpPr/>
          <p:nvPr/>
        </p:nvSpPr>
        <p:spPr>
          <a:xfrm>
            <a:off x="4325112" y="4014216"/>
            <a:ext cx="3557016" cy="1719072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25112" y="4014216"/>
            <a:ext cx="3557016" cy="36576"/>
          </a:xfrm>
          <a:prstGeom prst="rect">
            <a:avLst/>
          </a:prstGeom>
          <a:solidFill>
            <a:srgbClr val="0A0A0A"/>
          </a:solidFill>
          <a:ln w="508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419709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05 / [主题]</a:t>
            </a:r>
            <a:endParaRPr lang="zh-CN" sz="900" dirty="0"/>
          </a:p>
        </p:txBody>
      </p:sp>
      <p:sp>
        <p:nvSpPr>
          <p:cNvPr id="29" name="Text 27"/>
          <p:cNvSpPr/>
          <p:nvPr/>
        </p:nvSpPr>
        <p:spPr>
          <a:xfrm>
            <a:off x="4526280" y="4599432"/>
            <a:ext cx="3063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[规划能力5]</a:t>
            </a:r>
            <a:endParaRPr lang="zh-CN" sz="2000" dirty="0"/>
          </a:p>
        </p:txBody>
      </p:sp>
      <p:sp>
        <p:nvSpPr>
          <p:cNvPr id="30" name="Text 28"/>
          <p:cNvSpPr/>
          <p:nvPr/>
        </p:nvSpPr>
        <p:spPr>
          <a:xfrm>
            <a:off x="4526280" y="5175504"/>
            <a:ext cx="3063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5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[用户价值]</a:t>
            </a:r>
            <a:endParaRPr lang="zh-CN" sz="1250" dirty="0"/>
          </a:p>
        </p:txBody>
      </p:sp>
      <p:sp>
        <p:nvSpPr>
          <p:cNvPr id="31" name="Shape 29"/>
          <p:cNvSpPr/>
          <p:nvPr/>
        </p:nvSpPr>
        <p:spPr>
          <a:xfrm>
            <a:off x="8046720" y="4014216"/>
            <a:ext cx="3557016" cy="1719072"/>
          </a:xfrm>
          <a:prstGeom prst="rect">
            <a:avLst/>
          </a:prstGeom>
          <a:solidFill>
            <a:srgbClr val="002FA7"/>
          </a:solidFill>
          <a:ln w="508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47888" y="419709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DCE4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06 / [主题]</a:t>
            </a:r>
            <a:endParaRPr lang="zh-CN" sz="900" dirty="0"/>
          </a:p>
        </p:txBody>
      </p:sp>
      <p:sp>
        <p:nvSpPr>
          <p:cNvPr id="33" name="Text 31"/>
          <p:cNvSpPr/>
          <p:nvPr/>
        </p:nvSpPr>
        <p:spPr>
          <a:xfrm>
            <a:off x="8247888" y="4599432"/>
            <a:ext cx="3063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[规划能力6]</a:t>
            </a:r>
            <a:endParaRPr lang="zh-CN" sz="2000" dirty="0"/>
          </a:p>
        </p:txBody>
      </p:sp>
      <p:sp>
        <p:nvSpPr>
          <p:cNvPr id="34" name="Text 32"/>
          <p:cNvSpPr/>
          <p:nvPr/>
        </p:nvSpPr>
        <p:spPr>
          <a:xfrm>
            <a:off x="8247888" y="5175504"/>
            <a:ext cx="3063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50" dirty="0">
                <a:solidFill>
                  <a:srgbClr val="DCE4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[用户价值]</a:t>
            </a:r>
            <a:endParaRPr lang="zh-CN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14 · 重点规划详页模板</a:t>
            </a:r>
            <a:endParaRPr lang="zh-CN" sz="900" dirty="0"/>
          </a:p>
        </p:txBody>
      </p:sp>
      <p:sp>
        <p:nvSpPr>
          <p:cNvPr id="3" name="Text 1"/>
          <p:cNvSpPr/>
          <p:nvPr/>
        </p:nvSpPr>
        <p:spPr>
          <a:xfrm>
            <a:off x="10692079" y="347472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15 / 16</a:t>
            </a:r>
            <a:endParaRPr lang="zh-CN" sz="900" dirty="0"/>
          </a:p>
        </p:txBody>
      </p:sp>
      <p:sp>
        <p:nvSpPr>
          <p:cNvPr id="4" name="Text 2"/>
          <p:cNvSpPr/>
          <p:nvPr/>
        </p:nvSpPr>
        <p:spPr>
          <a:xfrm>
            <a:off x="603504" y="86868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[规划能力名称] / [阶段]</a:t>
            </a:r>
            <a:endParaRPr lang="zh-CN" sz="900" dirty="0"/>
          </a:p>
        </p:txBody>
      </p:sp>
      <p:sp>
        <p:nvSpPr>
          <p:cNvPr id="5" name="Text 3"/>
          <p:cNvSpPr/>
          <p:nvPr/>
        </p:nvSpPr>
        <p:spPr>
          <a:xfrm>
            <a:off x="603504" y="1143000"/>
            <a:ext cx="10991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5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[一项重点规划的价值主张]</a:t>
            </a:r>
            <a:endParaRPr lang="zh-CN" sz="3500" dirty="0"/>
          </a:p>
        </p:txBody>
      </p:sp>
      <p:sp>
        <p:nvSpPr>
          <p:cNvPr id="6" name="Shape 4"/>
          <p:cNvSpPr/>
          <p:nvPr/>
        </p:nvSpPr>
        <p:spPr>
          <a:xfrm>
            <a:off x="603504" y="2176272"/>
            <a:ext cx="5897880" cy="2084832"/>
          </a:xfrm>
          <a:prstGeom prst="rect">
            <a:avLst/>
          </a:prstGeom>
          <a:solidFill>
            <a:srgbClr val="F0F0EE"/>
          </a:solidFill>
          <a:ln w="508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245973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目标</a:t>
            </a:r>
            <a:endParaRPr lang="zh-CN" sz="900" dirty="0"/>
          </a:p>
        </p:txBody>
      </p:sp>
      <p:sp>
        <p:nvSpPr>
          <p:cNvPr id="8" name="Text 6"/>
          <p:cNvSpPr/>
          <p:nvPr/>
        </p:nvSpPr>
        <p:spPr>
          <a:xfrm>
            <a:off x="832104" y="2852928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7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[希望解决的问题]</a:t>
            </a:r>
            <a:endParaRPr lang="zh-CN" sz="2700" dirty="0"/>
          </a:p>
        </p:txBody>
      </p:sp>
      <p:sp>
        <p:nvSpPr>
          <p:cNvPr id="9" name="Text 7"/>
          <p:cNvSpPr/>
          <p:nvPr/>
        </p:nvSpPr>
        <p:spPr>
          <a:xfrm>
            <a:off x="832104" y="367588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0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[完成后谁会受益，如何受益]</a:t>
            </a:r>
            <a:endParaRPr lang="zh-CN" sz="1300" dirty="0"/>
          </a:p>
        </p:txBody>
      </p:sp>
      <p:sp>
        <p:nvSpPr>
          <p:cNvPr id="10" name="Shape 8"/>
          <p:cNvSpPr/>
          <p:nvPr/>
        </p:nvSpPr>
        <p:spPr>
          <a:xfrm>
            <a:off x="603504" y="4681728"/>
            <a:ext cx="2761488" cy="0"/>
          </a:xfrm>
          <a:prstGeom prst="line">
            <a:avLst/>
          </a:prstGeom>
          <a:noFill/>
          <a:ln w="16510">
            <a:solidFill>
              <a:srgbClr val="002FA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39896" y="4681728"/>
            <a:ext cx="2761488" cy="0"/>
          </a:xfrm>
          <a:prstGeom prst="line">
            <a:avLst/>
          </a:prstGeom>
          <a:noFill/>
          <a:ln w="16510">
            <a:solidFill>
              <a:srgbClr val="0A0A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" y="49103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能力</a:t>
            </a:r>
            <a:endParaRPr lang="zh-CN" sz="900" dirty="0"/>
          </a:p>
        </p:txBody>
      </p:sp>
      <p:sp>
        <p:nvSpPr>
          <p:cNvPr id="13" name="Text 11"/>
          <p:cNvSpPr/>
          <p:nvPr/>
        </p:nvSpPr>
        <p:spPr>
          <a:xfrm>
            <a:off x="3739896" y="49103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依赖</a:t>
            </a:r>
            <a:endParaRPr lang="zh-CN" sz="900" dirty="0"/>
          </a:p>
        </p:txBody>
      </p:sp>
      <p:sp>
        <p:nvSpPr>
          <p:cNvPr id="14" name="Text 12"/>
          <p:cNvSpPr/>
          <p:nvPr/>
        </p:nvSpPr>
        <p:spPr>
          <a:xfrm>
            <a:off x="603504" y="5330952"/>
            <a:ext cx="2578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[核心交付]</a:t>
            </a:r>
            <a:endParaRPr lang="zh-CN" sz="1900" dirty="0"/>
          </a:p>
        </p:txBody>
      </p:sp>
      <p:sp>
        <p:nvSpPr>
          <p:cNvPr id="15" name="Text 13"/>
          <p:cNvSpPr/>
          <p:nvPr/>
        </p:nvSpPr>
        <p:spPr>
          <a:xfrm>
            <a:off x="3739896" y="5330952"/>
            <a:ext cx="2578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[前置条件]</a:t>
            </a:r>
            <a:endParaRPr lang="zh-CN" sz="1900" dirty="0"/>
          </a:p>
        </p:txBody>
      </p:sp>
      <p:sp>
        <p:nvSpPr>
          <p:cNvPr id="16" name="Shape 14"/>
          <p:cNvSpPr/>
          <p:nvPr/>
        </p:nvSpPr>
        <p:spPr>
          <a:xfrm>
            <a:off x="6784848" y="2176272"/>
            <a:ext cx="0" cy="3822192"/>
          </a:xfrm>
          <a:prstGeom prst="line">
            <a:avLst/>
          </a:prstGeom>
          <a:noFill/>
          <a:ln w="7620">
            <a:solidFill>
              <a:srgbClr val="D4D4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77456" y="230428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MILESTONE / 里程碑</a:t>
            </a:r>
            <a:endParaRPr lang="zh-CN" sz="900" dirty="0"/>
          </a:p>
        </p:txBody>
      </p:sp>
      <p:sp>
        <p:nvSpPr>
          <p:cNvPr id="18" name="Shape 16"/>
          <p:cNvSpPr/>
          <p:nvPr/>
        </p:nvSpPr>
        <p:spPr>
          <a:xfrm>
            <a:off x="7077456" y="3401568"/>
            <a:ext cx="4498848" cy="0"/>
          </a:xfrm>
          <a:prstGeom prst="line">
            <a:avLst/>
          </a:prstGeom>
          <a:noFill/>
          <a:ln w="7620">
            <a:solidFill>
              <a:srgbClr val="D4D4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77456" y="2862072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</a:t>
            </a:r>
            <a:endParaRPr lang="zh-CN" sz="900" dirty="0"/>
          </a:p>
        </p:txBody>
      </p:sp>
      <p:sp>
        <p:nvSpPr>
          <p:cNvPr id="20" name="Text 18"/>
          <p:cNvSpPr/>
          <p:nvPr/>
        </p:nvSpPr>
        <p:spPr>
          <a:xfrm>
            <a:off x="7598664" y="2816352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[节点1]</a:t>
            </a:r>
            <a:endParaRPr lang="zh-CN" sz="1700" dirty="0"/>
          </a:p>
        </p:txBody>
      </p:sp>
      <p:sp>
        <p:nvSpPr>
          <p:cNvPr id="21" name="Text 19"/>
          <p:cNvSpPr/>
          <p:nvPr/>
        </p:nvSpPr>
        <p:spPr>
          <a:xfrm>
            <a:off x="9153144" y="2825496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[验收结果]</a:t>
            </a:r>
            <a:endParaRPr lang="zh-CN" sz="1200" dirty="0"/>
          </a:p>
        </p:txBody>
      </p:sp>
      <p:sp>
        <p:nvSpPr>
          <p:cNvPr id="22" name="Shape 20"/>
          <p:cNvSpPr/>
          <p:nvPr/>
        </p:nvSpPr>
        <p:spPr>
          <a:xfrm>
            <a:off x="7077456" y="4187952"/>
            <a:ext cx="4498848" cy="0"/>
          </a:xfrm>
          <a:prstGeom prst="line">
            <a:avLst/>
          </a:prstGeom>
          <a:noFill/>
          <a:ln w="7620">
            <a:solidFill>
              <a:srgbClr val="D4D4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77456" y="3648456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</a:t>
            </a:r>
            <a:endParaRPr lang="zh-CN" sz="900" dirty="0"/>
          </a:p>
        </p:txBody>
      </p:sp>
      <p:sp>
        <p:nvSpPr>
          <p:cNvPr id="24" name="Text 22"/>
          <p:cNvSpPr/>
          <p:nvPr/>
        </p:nvSpPr>
        <p:spPr>
          <a:xfrm>
            <a:off x="7598664" y="3602736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[节点2]</a:t>
            </a:r>
            <a:endParaRPr lang="zh-CN" sz="1700" dirty="0"/>
          </a:p>
        </p:txBody>
      </p:sp>
      <p:sp>
        <p:nvSpPr>
          <p:cNvPr id="25" name="Text 23"/>
          <p:cNvSpPr/>
          <p:nvPr/>
        </p:nvSpPr>
        <p:spPr>
          <a:xfrm>
            <a:off x="9153144" y="3611880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[验收结果]</a:t>
            </a:r>
            <a:endParaRPr lang="zh-CN" sz="1200" dirty="0"/>
          </a:p>
        </p:txBody>
      </p:sp>
      <p:sp>
        <p:nvSpPr>
          <p:cNvPr id="26" name="Shape 24"/>
          <p:cNvSpPr/>
          <p:nvPr/>
        </p:nvSpPr>
        <p:spPr>
          <a:xfrm>
            <a:off x="7077456" y="4974336"/>
            <a:ext cx="4498848" cy="0"/>
          </a:xfrm>
          <a:prstGeom prst="line">
            <a:avLst/>
          </a:prstGeom>
          <a:noFill/>
          <a:ln w="7620">
            <a:solidFill>
              <a:srgbClr val="D4D4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77456" y="443484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</a:t>
            </a:r>
            <a:endParaRPr lang="zh-CN" sz="900" dirty="0"/>
          </a:p>
        </p:txBody>
      </p:sp>
      <p:sp>
        <p:nvSpPr>
          <p:cNvPr id="28" name="Text 26"/>
          <p:cNvSpPr/>
          <p:nvPr/>
        </p:nvSpPr>
        <p:spPr>
          <a:xfrm>
            <a:off x="7598664" y="438912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[节点3]</a:t>
            </a:r>
            <a:endParaRPr lang="zh-CN" sz="1700" dirty="0"/>
          </a:p>
        </p:txBody>
      </p:sp>
      <p:sp>
        <p:nvSpPr>
          <p:cNvPr id="29" name="Text 27"/>
          <p:cNvSpPr/>
          <p:nvPr/>
        </p:nvSpPr>
        <p:spPr>
          <a:xfrm>
            <a:off x="9153144" y="4398264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[验收结果]</a:t>
            </a:r>
            <a:endParaRPr lang="zh-CN" sz="1200" dirty="0"/>
          </a:p>
        </p:txBody>
      </p:sp>
      <p:sp>
        <p:nvSpPr>
          <p:cNvPr id="30" name="Shape 28"/>
          <p:cNvSpPr/>
          <p:nvPr/>
        </p:nvSpPr>
        <p:spPr>
          <a:xfrm>
            <a:off x="7077456" y="5760720"/>
            <a:ext cx="4498848" cy="0"/>
          </a:xfrm>
          <a:prstGeom prst="line">
            <a:avLst/>
          </a:prstGeom>
          <a:noFill/>
          <a:ln w="7620">
            <a:solidFill>
              <a:srgbClr val="D4D4D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77456" y="5221224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04</a:t>
            </a:r>
            <a:endParaRPr lang="zh-CN" sz="900" dirty="0"/>
          </a:p>
        </p:txBody>
      </p:sp>
      <p:sp>
        <p:nvSpPr>
          <p:cNvPr id="32" name="Text 30"/>
          <p:cNvSpPr/>
          <p:nvPr/>
        </p:nvSpPr>
        <p:spPr>
          <a:xfrm>
            <a:off x="7598664" y="5175504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[节点4]</a:t>
            </a:r>
            <a:endParaRPr lang="zh-CN" sz="1700" dirty="0"/>
          </a:p>
        </p:txBody>
      </p:sp>
      <p:sp>
        <p:nvSpPr>
          <p:cNvPr id="33" name="Text 31"/>
          <p:cNvSpPr/>
          <p:nvPr/>
        </p:nvSpPr>
        <p:spPr>
          <a:xfrm>
            <a:off x="9153144" y="5184648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[验收结果]</a:t>
            </a:r>
            <a:endParaRPr lang="zh-CN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002FA7"/>
          </a:solidFill>
          <a:ln w="508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2032">
            <a:solidFill>
              <a:srgbClr val="5478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18104" y="0"/>
            <a:ext cx="0" cy="6858000"/>
          </a:xfrm>
          <a:prstGeom prst="line">
            <a:avLst/>
          </a:prstGeom>
          <a:noFill/>
          <a:ln w="2032">
            <a:solidFill>
              <a:srgbClr val="5478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2032">
            <a:solidFill>
              <a:srgbClr val="5478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85032" y="0"/>
            <a:ext cx="0" cy="6858000"/>
          </a:xfrm>
          <a:prstGeom prst="line">
            <a:avLst/>
          </a:prstGeom>
          <a:noFill/>
          <a:ln w="2032">
            <a:solidFill>
              <a:srgbClr val="5478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2032">
            <a:solidFill>
              <a:srgbClr val="5478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51960" y="0"/>
            <a:ext cx="0" cy="6858000"/>
          </a:xfrm>
          <a:prstGeom prst="line">
            <a:avLst/>
          </a:prstGeom>
          <a:noFill/>
          <a:ln w="2032">
            <a:solidFill>
              <a:srgbClr val="5478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2032">
            <a:solidFill>
              <a:srgbClr val="5478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18888" y="0"/>
            <a:ext cx="0" cy="6858000"/>
          </a:xfrm>
          <a:prstGeom prst="line">
            <a:avLst/>
          </a:prstGeom>
          <a:noFill/>
          <a:ln w="2032">
            <a:solidFill>
              <a:srgbClr val="5478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2032">
            <a:solidFill>
              <a:srgbClr val="5478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85816" y="0"/>
            <a:ext cx="0" cy="6858000"/>
          </a:xfrm>
          <a:prstGeom prst="line">
            <a:avLst/>
          </a:prstGeom>
          <a:noFill/>
          <a:ln w="2032">
            <a:solidFill>
              <a:srgbClr val="5478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2032">
            <a:solidFill>
              <a:srgbClr val="5478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40233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DCE4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15 · 收束与讨论模板</a:t>
            </a:r>
            <a:endParaRPr lang="zh-CN" sz="900" dirty="0"/>
          </a:p>
        </p:txBody>
      </p:sp>
      <p:sp>
        <p:nvSpPr>
          <p:cNvPr id="15" name="Text 13"/>
          <p:cNvSpPr/>
          <p:nvPr/>
        </p:nvSpPr>
        <p:spPr>
          <a:xfrm>
            <a:off x="10671048" y="40233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16 / 16</a:t>
            </a:r>
            <a:endParaRPr lang="zh-CN" sz="900" dirty="0"/>
          </a:p>
        </p:txBody>
      </p:sp>
      <p:sp>
        <p:nvSpPr>
          <p:cNvPr id="16" name="Text 14"/>
          <p:cNvSpPr/>
          <p:nvPr/>
        </p:nvSpPr>
        <p:spPr>
          <a:xfrm>
            <a:off x="603504" y="1938528"/>
            <a:ext cx="4910328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50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[最终</a:t>
            </a:r>
            <a:endParaRPr lang="zh-CN" sz="5000" dirty="0"/>
          </a:p>
          <a:p>
            <a:pPr algn="l" indent="0" marL="0">
              <a:buNone/>
            </a:pPr>
            <a:r>
              <a:rPr lang="zh-CN" altLang="en-US" sz="50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核心结论]</a:t>
            </a:r>
            <a:endParaRPr lang="zh-CN" sz="5000" dirty="0"/>
          </a:p>
        </p:txBody>
      </p:sp>
      <p:sp>
        <p:nvSpPr>
          <p:cNvPr id="17" name="Text 15"/>
          <p:cNvSpPr/>
          <p:nvPr/>
        </p:nvSpPr>
        <p:spPr>
          <a:xfrm>
            <a:off x="603504" y="6126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DCE4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景旺电子 × 时代光华</a:t>
            </a:r>
            <a:endParaRPr lang="zh-CN" sz="900" dirty="0"/>
          </a:p>
        </p:txBody>
      </p:sp>
      <p:sp>
        <p:nvSpPr>
          <p:cNvPr id="18" name="Text 16"/>
          <p:cNvSpPr/>
          <p:nvPr/>
        </p:nvSpPr>
        <p:spPr>
          <a:xfrm>
            <a:off x="6473952" y="7040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下一步讨论</a:t>
            </a:r>
            <a:endParaRPr lang="zh-CN" sz="900" dirty="0"/>
          </a:p>
        </p:txBody>
      </p:sp>
      <p:sp>
        <p:nvSpPr>
          <p:cNvPr id="19" name="Text 17"/>
          <p:cNvSpPr/>
          <p:nvPr/>
        </p:nvSpPr>
        <p:spPr>
          <a:xfrm>
            <a:off x="10652760" y="704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 ITEMS</a:t>
            </a:r>
            <a:endParaRPr lang="zh-CN" sz="900" dirty="0"/>
          </a:p>
        </p:txBody>
      </p:sp>
      <p:sp>
        <p:nvSpPr>
          <p:cNvPr id="20" name="Text 18"/>
          <p:cNvSpPr/>
          <p:nvPr/>
        </p:nvSpPr>
        <p:spPr>
          <a:xfrm>
            <a:off x="6473952" y="19659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</a:t>
            </a:r>
            <a:endParaRPr lang="zh-CN" sz="900" dirty="0"/>
          </a:p>
        </p:txBody>
      </p:sp>
      <p:sp>
        <p:nvSpPr>
          <p:cNvPr id="21" name="Text 19"/>
          <p:cNvSpPr/>
          <p:nvPr/>
        </p:nvSpPr>
        <p:spPr>
          <a:xfrm>
            <a:off x="7150608" y="1920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[议题1]</a:t>
            </a:r>
            <a:endParaRPr lang="zh-CN" sz="1900" dirty="0"/>
          </a:p>
        </p:txBody>
      </p:sp>
      <p:sp>
        <p:nvSpPr>
          <p:cNvPr id="22" name="Text 20"/>
          <p:cNvSpPr/>
          <p:nvPr/>
        </p:nvSpPr>
        <p:spPr>
          <a:xfrm>
            <a:off x="8887968" y="1929384"/>
            <a:ext cx="2587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0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[需要确认的范围]</a:t>
            </a:r>
            <a:endParaRPr lang="zh-CN" sz="1300" dirty="0"/>
          </a:p>
        </p:txBody>
      </p:sp>
      <p:sp>
        <p:nvSpPr>
          <p:cNvPr id="23" name="Shape 21"/>
          <p:cNvSpPr/>
          <p:nvPr/>
        </p:nvSpPr>
        <p:spPr>
          <a:xfrm>
            <a:off x="6473952" y="2697480"/>
            <a:ext cx="5111496" cy="0"/>
          </a:xfrm>
          <a:prstGeom prst="line">
            <a:avLst/>
          </a:prstGeom>
          <a:noFill/>
          <a:ln w="6350">
            <a:solidFill>
              <a:srgbClr val="D4D4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73952" y="32004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</a:t>
            </a:r>
            <a:endParaRPr lang="zh-CN" sz="900" dirty="0"/>
          </a:p>
        </p:txBody>
      </p:sp>
      <p:sp>
        <p:nvSpPr>
          <p:cNvPr id="25" name="Text 23"/>
          <p:cNvSpPr/>
          <p:nvPr/>
        </p:nvSpPr>
        <p:spPr>
          <a:xfrm>
            <a:off x="7150608" y="3154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[议题2]</a:t>
            </a:r>
            <a:endParaRPr lang="zh-CN" sz="1900" dirty="0"/>
          </a:p>
        </p:txBody>
      </p:sp>
      <p:sp>
        <p:nvSpPr>
          <p:cNvPr id="26" name="Text 24"/>
          <p:cNvSpPr/>
          <p:nvPr/>
        </p:nvSpPr>
        <p:spPr>
          <a:xfrm>
            <a:off x="8887968" y="3163824"/>
            <a:ext cx="2587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0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[需要确认的责任]</a:t>
            </a:r>
            <a:endParaRPr lang="zh-CN" sz="1300" dirty="0"/>
          </a:p>
        </p:txBody>
      </p:sp>
      <p:sp>
        <p:nvSpPr>
          <p:cNvPr id="27" name="Shape 25"/>
          <p:cNvSpPr/>
          <p:nvPr/>
        </p:nvSpPr>
        <p:spPr>
          <a:xfrm>
            <a:off x="6473952" y="3931920"/>
            <a:ext cx="5111496" cy="0"/>
          </a:xfrm>
          <a:prstGeom prst="line">
            <a:avLst/>
          </a:prstGeom>
          <a:noFill/>
          <a:ln w="6350">
            <a:solidFill>
              <a:srgbClr val="D4D4D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73952" y="44348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00" b="1" spc="100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</a:t>
            </a:r>
            <a:endParaRPr lang="zh-CN" sz="900" dirty="0"/>
          </a:p>
        </p:txBody>
      </p:sp>
      <p:sp>
        <p:nvSpPr>
          <p:cNvPr id="29" name="Text 27"/>
          <p:cNvSpPr/>
          <p:nvPr/>
        </p:nvSpPr>
        <p:spPr>
          <a:xfrm>
            <a:off x="7150608" y="43891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[议题3]</a:t>
            </a:r>
            <a:endParaRPr lang="zh-CN" sz="1900" dirty="0"/>
          </a:p>
        </p:txBody>
      </p:sp>
      <p:sp>
        <p:nvSpPr>
          <p:cNvPr id="30" name="Text 28"/>
          <p:cNvSpPr/>
          <p:nvPr/>
        </p:nvSpPr>
        <p:spPr>
          <a:xfrm>
            <a:off x="8887968" y="4398264"/>
            <a:ext cx="2587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0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[需要确认的时间]</a:t>
            </a:r>
            <a:endParaRPr lang="zh-CN" sz="1300" dirty="0"/>
          </a:p>
        </p:txBody>
      </p:sp>
      <p:sp>
        <p:nvSpPr>
          <p:cNvPr id="31" name="Shape 29"/>
          <p:cNvSpPr/>
          <p:nvPr/>
        </p:nvSpPr>
        <p:spPr>
          <a:xfrm>
            <a:off x="6473952" y="5166360"/>
            <a:ext cx="5111496" cy="0"/>
          </a:xfrm>
          <a:prstGeom prst="line">
            <a:avLst/>
          </a:prstGeom>
          <a:noFill/>
          <a:ln w="15240">
            <a:solidFill>
              <a:srgbClr val="002F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02752" y="6108192"/>
            <a:ext cx="3236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900" b="1" spc="100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 [会议结束语或演示转场]</a:t>
            </a:r>
            <a:endParaRPr lang="zh-CN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iragino Sans GB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iragino Sans GB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时代光华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景旺电子人才发展演示模板</dc:title>
  <dc:subject>景旺电子人才发展演示模板</dc:subject>
  <dc:creator>时代光华</dc:creator>
  <cp:lastModifiedBy>时代光华</cp:lastModifiedBy>
  <cp:revision>1</cp:revision>
  <dcterms:created xsi:type="dcterms:W3CDTF">2026-09-28T03:21:17Z</dcterms:created>
  <dcterms:modified xsi:type="dcterms:W3CDTF">2026-09-28T03:21:17Z</dcterms:modified>
</cp:coreProperties>
</file>